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84" r:id="rId2"/>
    <p:sldId id="269" r:id="rId3"/>
    <p:sldId id="270" r:id="rId4"/>
    <p:sldId id="271" r:id="rId5"/>
    <p:sldId id="272" r:id="rId6"/>
    <p:sldId id="285" r:id="rId7"/>
    <p:sldId id="274" r:id="rId8"/>
    <p:sldId id="275" r:id="rId9"/>
    <p:sldId id="276" r:id="rId10"/>
    <p:sldId id="286" r:id="rId11"/>
    <p:sldId id="278" r:id="rId12"/>
    <p:sldId id="279" r:id="rId13"/>
    <p:sldId id="287" r:id="rId14"/>
    <p:sldId id="281" r:id="rId15"/>
    <p:sldId id="288" r:id="rId16"/>
    <p:sldId id="282" r:id="rId17"/>
    <p:sldId id="28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34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76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9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10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8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00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34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81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044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64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57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4BF6EB-DA2D-48E9-B81E-03FBD5E57C7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E3528-C181-492B-A11D-78491DA76230}"/>
              </a:ext>
            </a:extLst>
          </p:cNvPr>
          <p:cNvSpPr txBox="1"/>
          <p:nvPr/>
        </p:nvSpPr>
        <p:spPr>
          <a:xfrm>
            <a:off x="762000" y="8890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39C12"/>
                </a:solidFill>
              </a:rPr>
              <a:t>MODULE 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23946-BB0C-4562-A416-59429161FC67}"/>
              </a:ext>
            </a:extLst>
          </p:cNvPr>
          <p:cNvSpPr txBox="1"/>
          <p:nvPr/>
        </p:nvSpPr>
        <p:spPr>
          <a:xfrm>
            <a:off x="762000" y="12700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000" b="1">
                <a:solidFill>
                  <a:srgbClr val="1F2D3D"/>
                </a:solidFill>
              </a:rPr>
              <a:t>File Handling in C#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53ABE-63EA-4143-948B-E51CBF62160C}"/>
              </a:ext>
            </a:extLst>
          </p:cNvPr>
          <p:cNvSpPr txBox="1"/>
          <p:nvPr/>
        </p:nvSpPr>
        <p:spPr>
          <a:xfrm>
            <a:off x="762000" y="20955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5A6573"/>
                </a:solidFill>
              </a:rPr>
              <a:t>Read, write, and stream data with System.IO</a:t>
            </a:r>
            <a:endParaRPr lang="en-IN" i="1">
              <a:solidFill>
                <a:srgbClr val="5A6573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FC9FD5-4036-4C94-A263-77CA91E00AC0}"/>
              </a:ext>
            </a:extLst>
          </p:cNvPr>
          <p:cNvSpPr/>
          <p:nvPr/>
        </p:nvSpPr>
        <p:spPr>
          <a:xfrm>
            <a:off x="762000" y="3048000"/>
            <a:ext cx="2286000" cy="16510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2A9B9C-6543-448C-A5E7-29BF8A67A6DE}"/>
              </a:ext>
            </a:extLst>
          </p:cNvPr>
          <p:cNvSpPr txBox="1"/>
          <p:nvPr/>
        </p:nvSpPr>
        <p:spPr>
          <a:xfrm>
            <a:off x="914400" y="3302000"/>
            <a:ext cx="198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Files &amp; Directories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A4964-4DFF-4574-9E9D-27E06F5FEA41}"/>
              </a:ext>
            </a:extLst>
          </p:cNvPr>
          <p:cNvSpPr txBox="1"/>
          <p:nvPr/>
        </p:nvSpPr>
        <p:spPr>
          <a:xfrm>
            <a:off x="914400" y="3746500"/>
            <a:ext cx="1981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>
                <a:solidFill>
                  <a:srgbClr val="1F2D3D"/>
                </a:solidFill>
              </a:rPr>
              <a:t>Create, copy, move, delete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491EE0-AA35-4F41-84BB-ED461FDF4F09}"/>
              </a:ext>
            </a:extLst>
          </p:cNvPr>
          <p:cNvSpPr/>
          <p:nvPr/>
        </p:nvSpPr>
        <p:spPr>
          <a:xfrm>
            <a:off x="3429000" y="3048000"/>
            <a:ext cx="2286000" cy="16510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FACED-A67F-45B6-8849-32CB6630866E}"/>
              </a:ext>
            </a:extLst>
          </p:cNvPr>
          <p:cNvSpPr txBox="1"/>
          <p:nvPr/>
        </p:nvSpPr>
        <p:spPr>
          <a:xfrm>
            <a:off x="3581400" y="3302000"/>
            <a:ext cx="198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Streams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C9C6D-76F2-4B3D-9925-AF8EA503A481}"/>
              </a:ext>
            </a:extLst>
          </p:cNvPr>
          <p:cNvSpPr txBox="1"/>
          <p:nvPr/>
        </p:nvSpPr>
        <p:spPr>
          <a:xfrm>
            <a:off x="3581400" y="3746500"/>
            <a:ext cx="1981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>
                <a:solidFill>
                  <a:srgbClr val="1F2D3D"/>
                </a:solidFill>
              </a:rPr>
              <a:t>FileStream, StreamReader/Writer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5E61AF-B011-4579-BC51-16421DDBA4C8}"/>
              </a:ext>
            </a:extLst>
          </p:cNvPr>
          <p:cNvSpPr/>
          <p:nvPr/>
        </p:nvSpPr>
        <p:spPr>
          <a:xfrm>
            <a:off x="6096000" y="3048000"/>
            <a:ext cx="2286000" cy="1651000"/>
          </a:xfrm>
          <a:prstGeom prst="roundRect">
            <a:avLst/>
          </a:prstGeom>
          <a:solidFill>
            <a:srgbClr val="F4F8FB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F6DC1-E260-492C-AB0B-54D4CEFD5BC8}"/>
              </a:ext>
            </a:extLst>
          </p:cNvPr>
          <p:cNvSpPr txBox="1"/>
          <p:nvPr/>
        </p:nvSpPr>
        <p:spPr>
          <a:xfrm>
            <a:off x="6248400" y="3302000"/>
            <a:ext cx="1981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Async I/O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26A0FE-9FA1-4983-83FD-C20E33F4F687}"/>
              </a:ext>
            </a:extLst>
          </p:cNvPr>
          <p:cNvSpPr txBox="1"/>
          <p:nvPr/>
        </p:nvSpPr>
        <p:spPr>
          <a:xfrm>
            <a:off x="6248400" y="3746500"/>
            <a:ext cx="1981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>
                <a:solidFill>
                  <a:srgbClr val="1F2D3D"/>
                </a:solidFill>
              </a:rPr>
              <a:t>ReadAsync / WriteAsync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713F9C-8841-4D9D-8D8F-CB752B1A4A2F}"/>
              </a:ext>
            </a:extLst>
          </p:cNvPr>
          <p:cNvSpPr txBox="1"/>
          <p:nvPr/>
        </p:nvSpPr>
        <p:spPr>
          <a:xfrm>
            <a:off x="762000" y="6096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i="1">
                <a:solidFill>
                  <a:srgbClr val="5A6573"/>
                </a:solidFill>
              </a:rPr>
              <a:t>3 concept slides + 1 hands-on lab</a:t>
            </a:r>
            <a:endParaRPr lang="en-IN" sz="1200" i="1">
              <a:solidFill>
                <a:srgbClr val="5A6573"/>
              </a:solidFill>
            </a:endParaRPr>
          </a:p>
        </p:txBody>
      </p:sp>
      <p:pic>
        <p:nvPicPr>
          <p:cNvPr id="18" name="Graphic 1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0" y="1016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03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F7C6FF-8ADE-4AD2-910D-7BB376ADC2A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57C53-E4D6-4C00-BD9E-51B77D783EF8}"/>
              </a:ext>
            </a:extLst>
          </p:cNvPr>
          <p:cNvSpPr txBox="1"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14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AEB70-AC73-4796-B792-DDA46096B7ED}"/>
              </a:ext>
            </a:extLst>
          </p:cNvPr>
          <p:cNvSpPr txBox="1"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1F2D3D"/>
                </a:solidFill>
              </a:rPr>
              <a:t>System.IO Namespace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A1E37-481E-494E-BC38-FC495CF22464}"/>
              </a:ext>
            </a:extLst>
          </p:cNvPr>
          <p:cNvSpPr txBox="1"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6573"/>
                </a:solidFill>
              </a:rPr>
              <a:t>The core toolkit for files, directories, and data streams</a:t>
            </a:r>
            <a:endParaRPr lang="en-IN" sz="1400" i="1">
              <a:solidFill>
                <a:srgbClr val="5A6573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F844B5-CD02-4663-BF77-30D3AF12A1D2}"/>
              </a:ext>
            </a:extLst>
          </p:cNvPr>
          <p:cNvSpPr/>
          <p:nvPr/>
        </p:nvSpPr>
        <p:spPr>
          <a:xfrm>
            <a:off x="3556000" y="1778000"/>
            <a:ext cx="2032000" cy="6350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b="1">
                <a:solidFill>
                  <a:srgbClr val="FFFFFF"/>
                </a:solidFill>
              </a:rPr>
              <a:t>System.IO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BE23D5C-51A4-48B7-9302-D223ED613FF2}"/>
              </a:ext>
            </a:extLst>
          </p:cNvPr>
          <p:cNvCxnSpPr/>
          <p:nvPr/>
        </p:nvCxnSpPr>
        <p:spPr>
          <a:xfrm>
            <a:off x="1270000" y="2413000"/>
            <a:ext cx="3302000" cy="635000"/>
          </a:xfrm>
          <a:prstGeom prst="straightConnector1">
            <a:avLst/>
          </a:prstGeom>
          <a:ln w="19050" cap="flat" cmpd="sng" algn="ctr">
            <a:solidFill>
              <a:srgbClr val="B0B7B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E3014E-AC06-4DF4-9261-09AD697880A9}"/>
              </a:ext>
            </a:extLst>
          </p:cNvPr>
          <p:cNvSpPr/>
          <p:nvPr/>
        </p:nvSpPr>
        <p:spPr>
          <a:xfrm>
            <a:off x="381000" y="3175000"/>
            <a:ext cx="1778000" cy="139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17F86-CB68-41CF-9959-405012F67FE5}"/>
              </a:ext>
            </a:extLst>
          </p:cNvPr>
          <p:cNvSpPr txBox="1"/>
          <p:nvPr/>
        </p:nvSpPr>
        <p:spPr>
          <a:xfrm>
            <a:off x="508000" y="33274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27AE60"/>
                </a:solidFill>
              </a:rPr>
              <a:t>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0423B-5371-4B11-845D-950D4B548BE9}"/>
              </a:ext>
            </a:extLst>
          </p:cNvPr>
          <p:cNvSpPr txBox="1"/>
          <p:nvPr/>
        </p:nvSpPr>
        <p:spPr>
          <a:xfrm>
            <a:off x="482600" y="3708400"/>
            <a:ext cx="1574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Static helpers:
ReadAllText, WriteAllText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BF30B8-CE52-47BD-89BE-6286E9F9A3B3}"/>
              </a:ext>
            </a:extLst>
          </p:cNvPr>
          <p:cNvCxnSpPr/>
          <p:nvPr/>
        </p:nvCxnSpPr>
        <p:spPr>
          <a:xfrm>
            <a:off x="3429000" y="2413000"/>
            <a:ext cx="1143000" cy="635000"/>
          </a:xfrm>
          <a:prstGeom prst="straightConnector1">
            <a:avLst/>
          </a:prstGeom>
          <a:ln w="19050" cap="flat" cmpd="sng" algn="ctr">
            <a:solidFill>
              <a:srgbClr val="B0B7B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F85CD3C-CD3B-4367-9AD7-AEB376AC0B1D}"/>
              </a:ext>
            </a:extLst>
          </p:cNvPr>
          <p:cNvSpPr/>
          <p:nvPr/>
        </p:nvSpPr>
        <p:spPr>
          <a:xfrm>
            <a:off x="2540000" y="3175000"/>
            <a:ext cx="1778000" cy="139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980B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4A48C0-FE07-498A-8799-890B4F907241}"/>
              </a:ext>
            </a:extLst>
          </p:cNvPr>
          <p:cNvSpPr txBox="1"/>
          <p:nvPr/>
        </p:nvSpPr>
        <p:spPr>
          <a:xfrm>
            <a:off x="2667000" y="33274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2980B9"/>
                </a:solidFill>
              </a:rPr>
              <a:t>Directory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65A074-2724-4C79-8312-9CD031C97468}"/>
              </a:ext>
            </a:extLst>
          </p:cNvPr>
          <p:cNvSpPr txBox="1"/>
          <p:nvPr/>
        </p:nvSpPr>
        <p:spPr>
          <a:xfrm>
            <a:off x="2641600" y="3708400"/>
            <a:ext cx="1574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Create, list, delete
folders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B994B0-4619-4BA6-868A-F9AAB9CBB1B6}"/>
              </a:ext>
            </a:extLst>
          </p:cNvPr>
          <p:cNvCxnSpPr/>
          <p:nvPr/>
        </p:nvCxnSpPr>
        <p:spPr>
          <a:xfrm>
            <a:off x="4572000" y="2413000"/>
            <a:ext cx="1016000" cy="635000"/>
          </a:xfrm>
          <a:prstGeom prst="straightConnector1">
            <a:avLst/>
          </a:prstGeom>
          <a:ln w="19050" cap="flat" cmpd="sng" algn="ctr">
            <a:solidFill>
              <a:srgbClr val="B0B7B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BA1C00-4FEB-4D9E-92A4-3AA39B946935}"/>
              </a:ext>
            </a:extLst>
          </p:cNvPr>
          <p:cNvSpPr/>
          <p:nvPr/>
        </p:nvSpPr>
        <p:spPr>
          <a:xfrm>
            <a:off x="4699000" y="3175000"/>
            <a:ext cx="1778000" cy="139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8E44A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C2802D-0CC0-4626-B0DB-8F1A962C8F90}"/>
              </a:ext>
            </a:extLst>
          </p:cNvPr>
          <p:cNvSpPr txBox="1"/>
          <p:nvPr/>
        </p:nvSpPr>
        <p:spPr>
          <a:xfrm>
            <a:off x="4826000" y="33274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8E44AD"/>
                </a:solidFill>
              </a:rPr>
              <a:t>Path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5FE73E-2557-4E83-B8A9-A7DEB6A9B405}"/>
              </a:ext>
            </a:extLst>
          </p:cNvPr>
          <p:cNvSpPr txBox="1"/>
          <p:nvPr/>
        </p:nvSpPr>
        <p:spPr>
          <a:xfrm>
            <a:off x="4800600" y="3708400"/>
            <a:ext cx="1574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Combine paths,
get extensions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86B00E2-37D0-4B6D-A2BC-1CE1C505B533}"/>
              </a:ext>
            </a:extLst>
          </p:cNvPr>
          <p:cNvCxnSpPr/>
          <p:nvPr/>
        </p:nvCxnSpPr>
        <p:spPr>
          <a:xfrm>
            <a:off x="4572000" y="2413000"/>
            <a:ext cx="3175000" cy="635000"/>
          </a:xfrm>
          <a:prstGeom prst="straightConnector1">
            <a:avLst/>
          </a:prstGeom>
          <a:ln w="19050" cap="flat" cmpd="sng" algn="ctr">
            <a:solidFill>
              <a:srgbClr val="B0B7BF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5C0A221-206A-4C5F-BE01-2D1CF704DB21}"/>
              </a:ext>
            </a:extLst>
          </p:cNvPr>
          <p:cNvSpPr/>
          <p:nvPr/>
        </p:nvSpPr>
        <p:spPr>
          <a:xfrm>
            <a:off x="6858000" y="3175000"/>
            <a:ext cx="1778000" cy="1397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2725AF-19AB-48A6-AB35-296A3917A31A}"/>
              </a:ext>
            </a:extLst>
          </p:cNvPr>
          <p:cNvSpPr txBox="1"/>
          <p:nvPr/>
        </p:nvSpPr>
        <p:spPr>
          <a:xfrm>
            <a:off x="6985000" y="33274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F39C12"/>
                </a:solidFill>
              </a:rPr>
              <a:t>Stream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9874B9-ADB6-4D63-BCC6-4440893C4134}"/>
              </a:ext>
            </a:extLst>
          </p:cNvPr>
          <p:cNvSpPr txBox="1"/>
          <p:nvPr/>
        </p:nvSpPr>
        <p:spPr>
          <a:xfrm>
            <a:off x="6959600" y="3708400"/>
            <a:ext cx="1574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FileStream,
MemoryStream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F1393B-B501-442B-9538-1FB91788ECF8}"/>
              </a:ext>
            </a:extLst>
          </p:cNvPr>
          <p:cNvSpPr/>
          <p:nvPr/>
        </p:nvSpPr>
        <p:spPr>
          <a:xfrm>
            <a:off x="762000" y="5080000"/>
            <a:ext cx="7620000" cy="1270000"/>
          </a:xfrm>
          <a:prstGeom prst="round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00B93E-356A-433C-8315-468B2A7325E2}"/>
              </a:ext>
            </a:extLst>
          </p:cNvPr>
          <p:cNvSpPr txBox="1"/>
          <p:nvPr/>
        </p:nvSpPr>
        <p:spPr>
          <a:xfrm>
            <a:off x="952500" y="5232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F39C12"/>
                </a:solidFill>
              </a:rPr>
              <a:t>💡  Quick tip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BE6A77-FAC4-4E63-9F01-1922D11EA5D3}"/>
              </a:ext>
            </a:extLst>
          </p:cNvPr>
          <p:cNvSpPr txBox="1"/>
          <p:nvPr/>
        </p:nvSpPr>
        <p:spPr>
          <a:xfrm>
            <a:off x="952500" y="5486400"/>
            <a:ext cx="7239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Always use Path.Combine() instead of string concatenation — it handles slashes and platform differences automatically.
Wrap any I/O call in try/catch — files can be locked, missing, or unreadable.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402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FD2E6A-9A34-404F-888D-CB29D042FF54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E3FC3F-FD86-4CD1-80F9-CFBB3E76D29F}"/>
              </a:ext>
            </a:extLst>
          </p:cNvPr>
          <p:cNvSpPr txBox="1"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14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3D47E-BA57-4FAB-8FB8-D66807CA6A18}"/>
              </a:ext>
            </a:extLst>
          </p:cNvPr>
          <p:cNvSpPr txBox="1"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1F2D3D"/>
                </a:solidFill>
              </a:rPr>
              <a:t>Working with Files &amp; Directories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34922-A51B-4DA6-98A6-4B292E5CD95D}"/>
              </a:ext>
            </a:extLst>
          </p:cNvPr>
          <p:cNvSpPr txBox="1"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6573"/>
                </a:solidFill>
              </a:rPr>
              <a:t>Four classes cover 90% of everyday file operations</a:t>
            </a:r>
            <a:endParaRPr lang="en-IN" sz="1400" i="1">
              <a:solidFill>
                <a:srgbClr val="5A6573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08BDB2-D3FC-4FF5-BF75-2711C634D2DC}"/>
              </a:ext>
            </a:extLst>
          </p:cNvPr>
          <p:cNvSpPr/>
          <p:nvPr/>
        </p:nvSpPr>
        <p:spPr>
          <a:xfrm>
            <a:off x="762000" y="1778000"/>
            <a:ext cx="3556000" cy="2032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2D9E93-A7B3-4887-B5E2-A5BF5BCDDE39}"/>
              </a:ext>
            </a:extLst>
          </p:cNvPr>
          <p:cNvSpPr/>
          <p:nvPr/>
        </p:nvSpPr>
        <p:spPr>
          <a:xfrm>
            <a:off x="762000" y="1778000"/>
            <a:ext cx="3556000" cy="101600"/>
          </a:xfrm>
          <a:prstGeom prst="rect">
            <a:avLst/>
          </a:prstGeom>
          <a:solidFill>
            <a:srgbClr val="27AE6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86BBA5-89B9-4DE5-881A-B047C1E20F61}"/>
              </a:ext>
            </a:extLst>
          </p:cNvPr>
          <p:cNvSpPr txBox="1"/>
          <p:nvPr/>
        </p:nvSpPr>
        <p:spPr>
          <a:xfrm>
            <a:off x="965200" y="20066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27AE60"/>
                </a:solidFill>
              </a:rPr>
              <a:t>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90521-9351-41FB-97AA-F2FE69AE060C}"/>
              </a:ext>
            </a:extLst>
          </p:cNvPr>
          <p:cNvSpPr txBox="1"/>
          <p:nvPr/>
        </p:nvSpPr>
        <p:spPr>
          <a:xfrm>
            <a:off x="965200" y="24765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Static class. One-line
read/write of small files.
ReadAllText, WriteAllText,
Copy, Move, Delete, Exists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5F0CCE6-0AB8-44A8-A856-EA4BB76E31D6}"/>
              </a:ext>
            </a:extLst>
          </p:cNvPr>
          <p:cNvSpPr/>
          <p:nvPr/>
        </p:nvSpPr>
        <p:spPr>
          <a:xfrm>
            <a:off x="4572000" y="1778000"/>
            <a:ext cx="3556000" cy="2032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2980B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C69A07-2975-4A46-BA57-BAF274678689}"/>
              </a:ext>
            </a:extLst>
          </p:cNvPr>
          <p:cNvSpPr/>
          <p:nvPr/>
        </p:nvSpPr>
        <p:spPr>
          <a:xfrm>
            <a:off x="4572000" y="1778000"/>
            <a:ext cx="3556000" cy="101600"/>
          </a:xfrm>
          <a:prstGeom prst="rect">
            <a:avLst/>
          </a:prstGeom>
          <a:solidFill>
            <a:srgbClr val="2980B9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C09B6-2290-4465-886A-BCAD37551233}"/>
              </a:ext>
            </a:extLst>
          </p:cNvPr>
          <p:cNvSpPr txBox="1"/>
          <p:nvPr/>
        </p:nvSpPr>
        <p:spPr>
          <a:xfrm>
            <a:off x="4775200" y="20066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2980B9"/>
                </a:solidFill>
              </a:rPr>
              <a:t>FileInfo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6147F0-9962-41D7-A21C-C75C5EA55C92}"/>
              </a:ext>
            </a:extLst>
          </p:cNvPr>
          <p:cNvSpPr txBox="1"/>
          <p:nvPr/>
        </p:nvSpPr>
        <p:spPr>
          <a:xfrm>
            <a:off x="4775200" y="24765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Instance class for one file.
Properties: Length, Created,
LastWriteTime. Reuse across
multiple operations.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724070-EABB-4441-81E7-8367BF87DBEA}"/>
              </a:ext>
            </a:extLst>
          </p:cNvPr>
          <p:cNvSpPr/>
          <p:nvPr/>
        </p:nvSpPr>
        <p:spPr>
          <a:xfrm>
            <a:off x="762000" y="4064000"/>
            <a:ext cx="3556000" cy="2032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8E44A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51DC34-E04C-496C-A9A5-E600F371FB09}"/>
              </a:ext>
            </a:extLst>
          </p:cNvPr>
          <p:cNvSpPr/>
          <p:nvPr/>
        </p:nvSpPr>
        <p:spPr>
          <a:xfrm>
            <a:off x="762000" y="4064000"/>
            <a:ext cx="3556000" cy="101600"/>
          </a:xfrm>
          <a:prstGeom prst="rect">
            <a:avLst/>
          </a:prstGeom>
          <a:solidFill>
            <a:srgbClr val="8E44A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80C72C-9A10-4087-A82E-99A910CF4FCC}"/>
              </a:ext>
            </a:extLst>
          </p:cNvPr>
          <p:cNvSpPr txBox="1"/>
          <p:nvPr/>
        </p:nvSpPr>
        <p:spPr>
          <a:xfrm>
            <a:off x="965200" y="42926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8E44AD"/>
                </a:solidFill>
              </a:rPr>
              <a:t>Directory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2C49E2-BB6A-426A-9232-E8F9BBA2B78A}"/>
              </a:ext>
            </a:extLst>
          </p:cNvPr>
          <p:cNvSpPr txBox="1"/>
          <p:nvPr/>
        </p:nvSpPr>
        <p:spPr>
          <a:xfrm>
            <a:off x="965200" y="47625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Static class for folders.
CreateDirectory, GetFiles,
GetDirectories, Delete.
Exists check before use.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6AD0A5E-9ACB-4006-99F6-E64BFFFFFC7C}"/>
              </a:ext>
            </a:extLst>
          </p:cNvPr>
          <p:cNvSpPr/>
          <p:nvPr/>
        </p:nvSpPr>
        <p:spPr>
          <a:xfrm>
            <a:off x="4572000" y="4064000"/>
            <a:ext cx="3556000" cy="2032000"/>
          </a:xfrm>
          <a:prstGeom prst="roundRect">
            <a:avLst/>
          </a:prstGeom>
          <a:solidFill>
            <a:srgbClr val="FFFFFF"/>
          </a:solidFill>
          <a:ln w="2540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503F08-39C0-45B8-A884-D61A720DAA30}"/>
              </a:ext>
            </a:extLst>
          </p:cNvPr>
          <p:cNvSpPr/>
          <p:nvPr/>
        </p:nvSpPr>
        <p:spPr>
          <a:xfrm>
            <a:off x="4572000" y="4064000"/>
            <a:ext cx="3556000" cy="101600"/>
          </a:xfrm>
          <a:prstGeom prst="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88CEC3-704D-4E32-B264-F0C39130B84C}"/>
              </a:ext>
            </a:extLst>
          </p:cNvPr>
          <p:cNvSpPr txBox="1"/>
          <p:nvPr/>
        </p:nvSpPr>
        <p:spPr>
          <a:xfrm>
            <a:off x="4775200" y="42926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 b="1">
                <a:solidFill>
                  <a:srgbClr val="F39C12"/>
                </a:solidFill>
              </a:rPr>
              <a:t>DirectoryInfo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9E4CBE-7762-4E3F-8A48-5C803E027F14}"/>
              </a:ext>
            </a:extLst>
          </p:cNvPr>
          <p:cNvSpPr txBox="1"/>
          <p:nvPr/>
        </p:nvSpPr>
        <p:spPr>
          <a:xfrm>
            <a:off x="4775200" y="4762500"/>
            <a:ext cx="3175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Instance version of Directory.
GetFiles() returns FileInfo[].
Faster for repeated access to
the same folder.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849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4A0162-E83A-486B-B83D-E4792D1DE5C0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21F09-B673-4663-940D-41728B629FEA}"/>
              </a:ext>
            </a:extLst>
          </p:cNvPr>
          <p:cNvSpPr txBox="1"/>
          <p:nvPr/>
        </p:nvSpPr>
        <p:spPr>
          <a:xfrm>
            <a:off x="7620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14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9EFEB-AE5D-467F-BF2F-D5BEA0072129}"/>
              </a:ext>
            </a:extLst>
          </p:cNvPr>
          <p:cNvSpPr txBox="1"/>
          <p:nvPr/>
        </p:nvSpPr>
        <p:spPr>
          <a:xfrm>
            <a:off x="762000" y="6985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F2D3D"/>
                </a:solidFill>
              </a:rPr>
              <a:t>Streams: Data In, Data Out</a:t>
            </a:r>
            <a:endParaRPr lang="en-IN" sz="2800" b="1">
              <a:solidFill>
                <a:srgbClr val="1F2D3D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6612F-D019-4235-90C8-2538D1603A75}"/>
              </a:ext>
            </a:extLst>
          </p:cNvPr>
          <p:cNvSpPr txBox="1"/>
          <p:nvPr/>
        </p:nvSpPr>
        <p:spPr>
          <a:xfrm>
            <a:off x="762000" y="12065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6573"/>
                </a:solidFill>
              </a:rPr>
              <a:t>A stream is a sequence of bytes flowing between your code and a source</a:t>
            </a:r>
            <a:endParaRPr lang="en-IN" sz="1400" i="1">
              <a:solidFill>
                <a:srgbClr val="5A6573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9FD72D-77E3-470F-B4F8-51FF6DABC9EC}"/>
              </a:ext>
            </a:extLst>
          </p:cNvPr>
          <p:cNvSpPr/>
          <p:nvPr/>
        </p:nvSpPr>
        <p:spPr>
          <a:xfrm>
            <a:off x="635000" y="1905000"/>
            <a:ext cx="1651000" cy="1397000"/>
          </a:xfrm>
          <a:prstGeom prst="roundRect">
            <a:avLst/>
          </a:prstGeom>
          <a:solidFill>
            <a:srgbClr val="2980B9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6EB05-5B73-4F71-A41E-F9D968E0DC08}"/>
              </a:ext>
            </a:extLst>
          </p:cNvPr>
          <p:cNvSpPr txBox="1"/>
          <p:nvPr/>
        </p:nvSpPr>
        <p:spPr>
          <a:xfrm>
            <a:off x="698500" y="20955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64E538-94D5-414E-9586-4A76C1854D58}"/>
              </a:ext>
            </a:extLst>
          </p:cNvPr>
          <p:cNvSpPr txBox="1"/>
          <p:nvPr/>
        </p:nvSpPr>
        <p:spPr>
          <a:xfrm>
            <a:off x="698500" y="2540000"/>
            <a:ext cx="152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FFFFFF"/>
                </a:solidFill>
              </a:rPr>
              <a:t>File, network,
memory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360B31E-331D-4DBC-9330-E30C5970A1CF}"/>
              </a:ext>
            </a:extLst>
          </p:cNvPr>
          <p:cNvSpPr/>
          <p:nvPr/>
        </p:nvSpPr>
        <p:spPr>
          <a:xfrm>
            <a:off x="2349500" y="2476500"/>
            <a:ext cx="381000" cy="254000"/>
          </a:xfrm>
          <a:prstGeom prst="rightArrow">
            <a:avLst/>
          </a:prstGeom>
          <a:solidFill>
            <a:srgbClr val="B0B7B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FB73B1-DA69-4B7B-A81F-5CEC60407E06}"/>
              </a:ext>
            </a:extLst>
          </p:cNvPr>
          <p:cNvSpPr/>
          <p:nvPr/>
        </p:nvSpPr>
        <p:spPr>
          <a:xfrm>
            <a:off x="2794000" y="1905000"/>
            <a:ext cx="1651000" cy="13970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CB55B-0640-4E7C-909E-05EEFE8769CD}"/>
              </a:ext>
            </a:extLst>
          </p:cNvPr>
          <p:cNvSpPr txBox="1"/>
          <p:nvPr/>
        </p:nvSpPr>
        <p:spPr>
          <a:xfrm>
            <a:off x="2857500" y="20955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D864E7-CEED-40FB-8AC7-140FA3995FED}"/>
              </a:ext>
            </a:extLst>
          </p:cNvPr>
          <p:cNvSpPr txBox="1"/>
          <p:nvPr/>
        </p:nvSpPr>
        <p:spPr>
          <a:xfrm>
            <a:off x="2857500" y="2540000"/>
            <a:ext cx="152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FFFFFF"/>
                </a:solidFill>
              </a:rPr>
              <a:t>Raw bytes
FileStream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488EB4D-5564-4ED9-9A94-7BEAEB118A15}"/>
              </a:ext>
            </a:extLst>
          </p:cNvPr>
          <p:cNvSpPr/>
          <p:nvPr/>
        </p:nvSpPr>
        <p:spPr>
          <a:xfrm>
            <a:off x="4508500" y="2476500"/>
            <a:ext cx="381000" cy="254000"/>
          </a:xfrm>
          <a:prstGeom prst="rightArrow">
            <a:avLst/>
          </a:prstGeom>
          <a:solidFill>
            <a:srgbClr val="B0B7B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D6DB39-6BD2-4CD3-854D-105B8498057D}"/>
              </a:ext>
            </a:extLst>
          </p:cNvPr>
          <p:cNvSpPr/>
          <p:nvPr/>
        </p:nvSpPr>
        <p:spPr>
          <a:xfrm>
            <a:off x="4953000" y="1905000"/>
            <a:ext cx="1651000" cy="1397000"/>
          </a:xfrm>
          <a:prstGeom prst="roundRect">
            <a:avLst/>
          </a:prstGeom>
          <a:solidFill>
            <a:srgbClr val="8E44A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BA4F7-AB77-46B6-9008-2D9E7EE51B07}"/>
              </a:ext>
            </a:extLst>
          </p:cNvPr>
          <p:cNvSpPr txBox="1"/>
          <p:nvPr/>
        </p:nvSpPr>
        <p:spPr>
          <a:xfrm>
            <a:off x="5016500" y="20955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Reader / Writer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843D5A-0B4F-4A43-83BE-C5E08251B5D3}"/>
              </a:ext>
            </a:extLst>
          </p:cNvPr>
          <p:cNvSpPr txBox="1"/>
          <p:nvPr/>
        </p:nvSpPr>
        <p:spPr>
          <a:xfrm>
            <a:off x="5016500" y="2540000"/>
            <a:ext cx="152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FFFFFF"/>
                </a:solidFill>
              </a:rPr>
              <a:t>Decodes bytes
into text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94B1BB0-3456-42F6-9C95-C8AF75C52DF5}"/>
              </a:ext>
            </a:extLst>
          </p:cNvPr>
          <p:cNvSpPr/>
          <p:nvPr/>
        </p:nvSpPr>
        <p:spPr>
          <a:xfrm>
            <a:off x="6667500" y="2476500"/>
            <a:ext cx="381000" cy="254000"/>
          </a:xfrm>
          <a:prstGeom prst="rightArrow">
            <a:avLst/>
          </a:prstGeom>
          <a:solidFill>
            <a:srgbClr val="B0B7B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0F2447D-5A76-425E-8339-04E16F5568DB}"/>
              </a:ext>
            </a:extLst>
          </p:cNvPr>
          <p:cNvSpPr/>
          <p:nvPr/>
        </p:nvSpPr>
        <p:spPr>
          <a:xfrm>
            <a:off x="7112000" y="1905000"/>
            <a:ext cx="1651000" cy="1397000"/>
          </a:xfrm>
          <a:prstGeom prst="roundRect">
            <a:avLst/>
          </a:prstGeom>
          <a:solidFill>
            <a:srgbClr val="27AE6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6342D9-95CD-4064-A0B8-1B4060CD8B7F}"/>
              </a:ext>
            </a:extLst>
          </p:cNvPr>
          <p:cNvSpPr txBox="1"/>
          <p:nvPr/>
        </p:nvSpPr>
        <p:spPr>
          <a:xfrm>
            <a:off x="7175500" y="2095500"/>
            <a:ext cx="152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Your code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B67DDF-9A5C-4972-BA1B-70D4B563D896}"/>
              </a:ext>
            </a:extLst>
          </p:cNvPr>
          <p:cNvSpPr txBox="1"/>
          <p:nvPr/>
        </p:nvSpPr>
        <p:spPr>
          <a:xfrm>
            <a:off x="7175500" y="2540000"/>
            <a:ext cx="1524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FFFFFF"/>
                </a:solidFill>
              </a:rPr>
              <a:t>string, lines,
objects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D87FFA-B5B8-4347-93E4-CD7977EE889C}"/>
              </a:ext>
            </a:extLst>
          </p:cNvPr>
          <p:cNvSpPr txBox="1"/>
          <p:nvPr/>
        </p:nvSpPr>
        <p:spPr>
          <a:xfrm>
            <a:off x="762000" y="3683000"/>
            <a:ext cx="762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Common stream types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5F4D60E-97D7-4603-BE63-0FB6398973C2}"/>
              </a:ext>
            </a:extLst>
          </p:cNvPr>
          <p:cNvSpPr/>
          <p:nvPr/>
        </p:nvSpPr>
        <p:spPr>
          <a:xfrm>
            <a:off x="762000" y="4064000"/>
            <a:ext cx="1841500" cy="762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10428F-9316-4929-983B-51DAA2E7A952}"/>
              </a:ext>
            </a:extLst>
          </p:cNvPr>
          <p:cNvSpPr txBox="1"/>
          <p:nvPr/>
        </p:nvSpPr>
        <p:spPr>
          <a:xfrm>
            <a:off x="838200" y="4140200"/>
            <a:ext cx="1689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1CADE4"/>
                </a:solidFill>
              </a:rPr>
              <a:t>FileStream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129D96-ED16-4F4A-B7C3-EABB51CE36D4}"/>
              </a:ext>
            </a:extLst>
          </p:cNvPr>
          <p:cNvSpPr txBox="1"/>
          <p:nvPr/>
        </p:nvSpPr>
        <p:spPr>
          <a:xfrm>
            <a:off x="838200" y="4445000"/>
            <a:ext cx="1689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Read/write file bytes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F8E2ED-679B-440B-B9E4-F554DCCA90DC}"/>
              </a:ext>
            </a:extLst>
          </p:cNvPr>
          <p:cNvSpPr/>
          <p:nvPr/>
        </p:nvSpPr>
        <p:spPr>
          <a:xfrm>
            <a:off x="2794000" y="4064000"/>
            <a:ext cx="1841500" cy="762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FE2C63-D133-4BFA-BF9C-7C009E125EE3}"/>
              </a:ext>
            </a:extLst>
          </p:cNvPr>
          <p:cNvSpPr txBox="1"/>
          <p:nvPr/>
        </p:nvSpPr>
        <p:spPr>
          <a:xfrm>
            <a:off x="2870200" y="4140200"/>
            <a:ext cx="1689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1CADE4"/>
                </a:solidFill>
              </a:rPr>
              <a:t>MemoryStream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9C988F-ED24-404F-BA5A-5D822E566F09}"/>
              </a:ext>
            </a:extLst>
          </p:cNvPr>
          <p:cNvSpPr txBox="1"/>
          <p:nvPr/>
        </p:nvSpPr>
        <p:spPr>
          <a:xfrm>
            <a:off x="2870200" y="4445000"/>
            <a:ext cx="1689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In-memory buffer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322717-EF43-4379-903E-275305220576}"/>
              </a:ext>
            </a:extLst>
          </p:cNvPr>
          <p:cNvSpPr/>
          <p:nvPr/>
        </p:nvSpPr>
        <p:spPr>
          <a:xfrm>
            <a:off x="4826000" y="4064000"/>
            <a:ext cx="1841500" cy="762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440965-5550-44FD-9393-D32460F52A4C}"/>
              </a:ext>
            </a:extLst>
          </p:cNvPr>
          <p:cNvSpPr txBox="1"/>
          <p:nvPr/>
        </p:nvSpPr>
        <p:spPr>
          <a:xfrm>
            <a:off x="4902200" y="4140200"/>
            <a:ext cx="1689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1CADE4"/>
                </a:solidFill>
              </a:rPr>
              <a:t>StreamReader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7087D6-E65E-4E9D-86B2-A06586289049}"/>
              </a:ext>
            </a:extLst>
          </p:cNvPr>
          <p:cNvSpPr txBox="1"/>
          <p:nvPr/>
        </p:nvSpPr>
        <p:spPr>
          <a:xfrm>
            <a:off x="4902200" y="4445000"/>
            <a:ext cx="1689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Text decoding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73884C0-B664-4F6C-A301-BBB08A13CAF2}"/>
              </a:ext>
            </a:extLst>
          </p:cNvPr>
          <p:cNvSpPr/>
          <p:nvPr/>
        </p:nvSpPr>
        <p:spPr>
          <a:xfrm>
            <a:off x="6858000" y="4064000"/>
            <a:ext cx="1841500" cy="762000"/>
          </a:xfrm>
          <a:prstGeom prst="roundRect">
            <a:avLst/>
          </a:prstGeom>
          <a:solidFill>
            <a:srgbClr val="F4F8FB"/>
          </a:solidFill>
          <a:ln w="1270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A13D39-74F3-4EA6-A305-34DA64D8DAB5}"/>
              </a:ext>
            </a:extLst>
          </p:cNvPr>
          <p:cNvSpPr txBox="1"/>
          <p:nvPr/>
        </p:nvSpPr>
        <p:spPr>
          <a:xfrm>
            <a:off x="6934200" y="4140200"/>
            <a:ext cx="1689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1CADE4"/>
                </a:solidFill>
              </a:rPr>
              <a:t>StreamWriter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DCF9A9-6D2E-4563-BBC1-D260A4532EDC}"/>
              </a:ext>
            </a:extLst>
          </p:cNvPr>
          <p:cNvSpPr txBox="1"/>
          <p:nvPr/>
        </p:nvSpPr>
        <p:spPr>
          <a:xfrm>
            <a:off x="6934200" y="4445000"/>
            <a:ext cx="1689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</a:rPr>
              <a:t>Text encoding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36DF14-D64F-4A79-970B-148C650B9505}"/>
              </a:ext>
            </a:extLst>
          </p:cNvPr>
          <p:cNvSpPr/>
          <p:nvPr/>
        </p:nvSpPr>
        <p:spPr>
          <a:xfrm>
            <a:off x="762000" y="5207000"/>
            <a:ext cx="7620000" cy="1143000"/>
          </a:xfrm>
          <a:prstGeom prst="round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4B6DDF-8797-4554-BBFE-AEF5A83E53FC}"/>
              </a:ext>
            </a:extLst>
          </p:cNvPr>
          <p:cNvSpPr txBox="1"/>
          <p:nvPr/>
        </p:nvSpPr>
        <p:spPr>
          <a:xfrm>
            <a:off x="952500" y="5334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 b="1">
                <a:solidFill>
                  <a:srgbClr val="F39C12"/>
                </a:solidFill>
              </a:rPr>
              <a:t>💡  Best practice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9E9A65-7005-4569-BDDE-3FEEA9C87CF2}"/>
              </a:ext>
            </a:extLst>
          </p:cNvPr>
          <p:cNvSpPr txBox="1"/>
          <p:nvPr/>
        </p:nvSpPr>
        <p:spPr>
          <a:xfrm>
            <a:off x="952500" y="5613400"/>
            <a:ext cx="7239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Streams hold OS handles — always close them. Use a using block so Dispose() runs automatically, even when exceptions are thrown.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95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ED0757-E0E7-4243-BB21-59B61D8B928A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1DAA15-446B-4C25-89AF-2CC95DAB7AA0}"/>
              </a:ext>
            </a:extLst>
          </p:cNvPr>
          <p:cNvSpPr/>
          <p:nvPr/>
        </p:nvSpPr>
        <p:spPr>
          <a:xfrm>
            <a:off x="762000" y="381000"/>
            <a:ext cx="1143000" cy="3302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LAB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AB0846-052C-4DB4-82EE-EBE82C62A962}"/>
              </a:ext>
            </a:extLst>
          </p:cNvPr>
          <p:cNvSpPr txBox="1"/>
          <p:nvPr/>
        </p:nvSpPr>
        <p:spPr>
          <a:xfrm>
            <a:off x="762000" y="8255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F2D3D"/>
                </a:solidFill>
              </a:rPr>
              <a:t>Read &amp; Write a Text File</a:t>
            </a:r>
            <a:endParaRPr lang="en-IN" sz="2800" b="1">
              <a:solidFill>
                <a:srgbClr val="1F2D3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459C5F-5C15-4CE2-907A-4D894245F962}"/>
              </a:ext>
            </a:extLst>
          </p:cNvPr>
          <p:cNvSpPr/>
          <p:nvPr/>
        </p:nvSpPr>
        <p:spPr>
          <a:xfrm>
            <a:off x="762000" y="1397000"/>
            <a:ext cx="7620000" cy="457200"/>
          </a:xfrm>
          <a:prstGeom prst="roundRect">
            <a:avLst/>
          </a:prstGeom>
          <a:solidFill>
            <a:srgbClr val="FFF4E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2F1FF0-625F-4DE0-AACC-BFA67ADA086A}"/>
              </a:ext>
            </a:extLst>
          </p:cNvPr>
          <p:cNvSpPr txBox="1"/>
          <p:nvPr/>
        </p:nvSpPr>
        <p:spPr>
          <a:xfrm>
            <a:off x="952500" y="1485900"/>
            <a:ext cx="723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B8740B"/>
                </a:solidFill>
              </a:rPr>
              <a:t>🎯  Goal: practice basic file I/O with System.IO</a:t>
            </a:r>
            <a:endParaRPr lang="en-IN" sz="1400" b="1">
              <a:solidFill>
                <a:srgbClr val="B8740B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DD4E865-3CB1-4AB7-847D-F052E4F337E1}"/>
              </a:ext>
            </a:extLst>
          </p:cNvPr>
          <p:cNvSpPr/>
          <p:nvPr/>
        </p:nvSpPr>
        <p:spPr>
          <a:xfrm>
            <a:off x="825500" y="20955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EBFBE9-B12A-430C-99CE-7689D620AC02}"/>
              </a:ext>
            </a:extLst>
          </p:cNvPr>
          <p:cNvSpPr txBox="1"/>
          <p:nvPr/>
        </p:nvSpPr>
        <p:spPr>
          <a:xfrm>
            <a:off x="1397000" y="2159000"/>
            <a:ext cx="698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Create a console app; add: using System.IO;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9A65E9B-3922-4D00-999A-8F3FBBEFBA63}"/>
              </a:ext>
            </a:extLst>
          </p:cNvPr>
          <p:cNvSpPr/>
          <p:nvPr/>
        </p:nvSpPr>
        <p:spPr>
          <a:xfrm>
            <a:off x="825500" y="26543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3F139A-834E-49FB-8820-A352ADF42F8B}"/>
              </a:ext>
            </a:extLst>
          </p:cNvPr>
          <p:cNvSpPr txBox="1"/>
          <p:nvPr/>
        </p:nvSpPr>
        <p:spPr>
          <a:xfrm>
            <a:off x="1397000" y="2717800"/>
            <a:ext cx="698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Write 5 lines to notes.txt with File.WriteAllLines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C4C2B0-77BF-4005-BD4A-2A94349A019F}"/>
              </a:ext>
            </a:extLst>
          </p:cNvPr>
          <p:cNvSpPr/>
          <p:nvPr/>
        </p:nvSpPr>
        <p:spPr>
          <a:xfrm>
            <a:off x="825500" y="32131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7943A-17E7-475D-8A8A-0CC3D220A6C9}"/>
              </a:ext>
            </a:extLst>
          </p:cNvPr>
          <p:cNvSpPr txBox="1"/>
          <p:nvPr/>
        </p:nvSpPr>
        <p:spPr>
          <a:xfrm>
            <a:off x="1397000" y="3276600"/>
            <a:ext cx="698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Read them back with File.ReadAllLines and print each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CCA8BB-AAE3-4F5A-B883-3840892335D5}"/>
              </a:ext>
            </a:extLst>
          </p:cNvPr>
          <p:cNvSpPr/>
          <p:nvPr/>
        </p:nvSpPr>
        <p:spPr>
          <a:xfrm>
            <a:off x="825500" y="37719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C77D0C-10C1-4C60-808B-FD7CC022F161}"/>
              </a:ext>
            </a:extLst>
          </p:cNvPr>
          <p:cNvSpPr txBox="1"/>
          <p:nvPr/>
        </p:nvSpPr>
        <p:spPr>
          <a:xfrm>
            <a:off x="1397000" y="3835400"/>
            <a:ext cx="698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Append a 6th line using File.AppendAllText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B739C1A-1341-4D7A-88DB-CBDD6542B0B1}"/>
              </a:ext>
            </a:extLst>
          </p:cNvPr>
          <p:cNvSpPr/>
          <p:nvPr/>
        </p:nvSpPr>
        <p:spPr>
          <a:xfrm>
            <a:off x="825500" y="43307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DAA0ED-2F95-4154-AD85-D6C6C96008E0}"/>
              </a:ext>
            </a:extLst>
          </p:cNvPr>
          <p:cNvSpPr txBox="1"/>
          <p:nvPr/>
        </p:nvSpPr>
        <p:spPr>
          <a:xfrm>
            <a:off x="1397000" y="4394200"/>
            <a:ext cx="698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Wrap reads in try/catch for FileNotFoundException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A1732E6-AD8C-493A-A2FF-94929AEE9694}"/>
              </a:ext>
            </a:extLst>
          </p:cNvPr>
          <p:cNvSpPr/>
          <p:nvPr/>
        </p:nvSpPr>
        <p:spPr>
          <a:xfrm>
            <a:off x="762000" y="5143500"/>
            <a:ext cx="7620000" cy="508000"/>
          </a:xfrm>
          <a:prstGeom prst="roundRect">
            <a:avLst/>
          </a:prstGeom>
          <a:solidFill>
            <a:srgbClr val="E8F8F0"/>
          </a:solidFill>
          <a:ln w="1905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9DF5BB-F93D-4B85-9AC6-DB2B1D17B822}"/>
              </a:ext>
            </a:extLst>
          </p:cNvPr>
          <p:cNvSpPr txBox="1"/>
          <p:nvPr/>
        </p:nvSpPr>
        <p:spPr>
          <a:xfrm>
            <a:off x="952500" y="52578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27AE60"/>
                </a:solidFill>
              </a:rPr>
              <a:t>⭐  Bonus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C2B6FE-B837-45F2-A2B7-59AA43BEE39E}"/>
              </a:ext>
            </a:extLst>
          </p:cNvPr>
          <p:cNvSpPr txBox="1"/>
          <p:nvPr/>
        </p:nvSpPr>
        <p:spPr>
          <a:xfrm>
            <a:off x="1841500" y="5257800"/>
            <a:ext cx="647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Rewrite step 2 with StreamWriter wrapped in a using block.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33E1E-B7B3-4F12-828F-E8AB025A9C7E}"/>
              </a:ext>
            </a:extLst>
          </p:cNvPr>
          <p:cNvSpPr txBox="1"/>
          <p:nvPr/>
        </p:nvSpPr>
        <p:spPr>
          <a:xfrm>
            <a:off x="762000" y="5969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i="1">
                <a:solidFill>
                  <a:srgbClr val="5A6573"/>
                </a:solidFill>
              </a:rPr>
              <a:t>⏱  ~15 minutes</a:t>
            </a:r>
          </a:p>
        </p:txBody>
      </p:sp>
    </p:spTree>
    <p:extLst>
      <p:ext uri="{BB962C8B-B14F-4D97-AF65-F5344CB8AC3E}">
        <p14:creationId xmlns:p14="http://schemas.microsoft.com/office/powerpoint/2010/main" val="87268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6080F9-BBD0-4A4D-AF27-A8DFF5342C9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BAD0C-8D75-48DA-BEDA-1A6E8CC28C09}"/>
              </a:ext>
            </a:extLst>
          </p:cNvPr>
          <p:cNvSpPr txBox="1"/>
          <p:nvPr/>
        </p:nvSpPr>
        <p:spPr>
          <a:xfrm>
            <a:off x="762000" y="762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39C12"/>
                </a:solidFill>
                <a:latin typeface="Calibri"/>
                <a:cs typeface="Calibri"/>
              </a:rPr>
              <a:t>MODULE 15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052B28-1B05-43FC-B2B8-BFB5DD156C0F}"/>
              </a:ext>
            </a:extLst>
          </p:cNvPr>
          <p:cNvSpPr txBox="1"/>
          <p:nvPr/>
        </p:nvSpPr>
        <p:spPr>
          <a:xfrm>
            <a:off x="762000" y="1206500"/>
            <a:ext cx="685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 b="1">
                <a:solidFill>
                  <a:srgbClr val="1F2D3D"/>
                </a:solidFill>
              </a:rPr>
              <a:t>Memory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F3071-1066-467D-B5A7-89F19CC7ADC7}"/>
              </a:ext>
            </a:extLst>
          </p:cNvPr>
          <p:cNvSpPr txBox="1"/>
          <p:nvPr/>
        </p:nvSpPr>
        <p:spPr>
          <a:xfrm>
            <a:off x="762000" y="2159000"/>
            <a:ext cx="6858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5A6B7B"/>
                </a:solidFill>
              </a:rPr>
              <a:t>How the .NET runtime allocates, tracks, and reclaims memory</a:t>
            </a:r>
            <a:endParaRPr lang="en-IN" i="1">
              <a:solidFill>
                <a:srgbClr val="5A6B7B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DDB657-74B9-4F66-972B-889C5CA84BEA}"/>
              </a:ext>
            </a:extLst>
          </p:cNvPr>
          <p:cNvSpPr/>
          <p:nvPr/>
        </p:nvSpPr>
        <p:spPr>
          <a:xfrm>
            <a:off x="762000" y="3048000"/>
            <a:ext cx="2286000" cy="5588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Garbage Collection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BFCBFC-7F60-4161-B0CF-4B57325156EE}"/>
              </a:ext>
            </a:extLst>
          </p:cNvPr>
          <p:cNvSpPr/>
          <p:nvPr/>
        </p:nvSpPr>
        <p:spPr>
          <a:xfrm>
            <a:off x="3238500" y="3048000"/>
            <a:ext cx="2286000" cy="558800"/>
          </a:xfrm>
          <a:prstGeom prst="round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IDisposable &amp; using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F05333-CC60-4561-80FE-618757993408}"/>
              </a:ext>
            </a:extLst>
          </p:cNvPr>
          <p:cNvSpPr/>
          <p:nvPr/>
        </p:nvSpPr>
        <p:spPr>
          <a:xfrm>
            <a:off x="5715000" y="3048000"/>
            <a:ext cx="2286000" cy="5588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Stack vs Heap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D2E9F-B191-462D-8A00-26DD9DF6F3E1}"/>
              </a:ext>
            </a:extLst>
          </p:cNvPr>
          <p:cNvSpPr txBox="1"/>
          <p:nvPr/>
        </p:nvSpPr>
        <p:spPr>
          <a:xfrm>
            <a:off x="762000" y="4064000"/>
            <a:ext cx="685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F2D3D"/>
                </a:solidFill>
              </a:rPr>
              <a:t>In this module you'll learn to…</a:t>
            </a:r>
            <a:endParaRPr lang="en-IN" sz="1600" b="1">
              <a:solidFill>
                <a:srgbClr val="1F2D3D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49CF3-929B-4F0D-B930-CA347EBA674C}"/>
              </a:ext>
            </a:extLst>
          </p:cNvPr>
          <p:cNvSpPr txBox="1"/>
          <p:nvPr/>
        </p:nvSpPr>
        <p:spPr>
          <a:xfrm>
            <a:off x="762000" y="4445000"/>
            <a:ext cx="76200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1F2D3D"/>
                </a:solidFill>
              </a:rPr>
              <a:t>• Trace the lifecycle of an object from new to collection
• Recognise when the GC will (and won't) free memory
• Release unmanaged resources safely with IDisposable</a:t>
            </a:r>
            <a:endParaRPr lang="en-IN" sz="1500">
              <a:solidFill>
                <a:srgbClr val="1F2D3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FDDDC1-9376-413E-A2B7-42DE4CE4E1C2}"/>
              </a:ext>
            </a:extLst>
          </p:cNvPr>
          <p:cNvSpPr txBox="1"/>
          <p:nvPr/>
        </p:nvSpPr>
        <p:spPr>
          <a:xfrm>
            <a:off x="762000" y="635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9AA7B5"/>
                </a:solidFill>
              </a:rPr>
              <a:t>C# Modules 14–17  •  Module 15</a:t>
            </a:r>
          </a:p>
        </p:txBody>
      </p:sp>
      <p:pic>
        <p:nvPicPr>
          <p:cNvPr id="14" name="Graphic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0" y="762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2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BD3FD2-EC91-4083-8F47-F3ABD2EBED8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A479D-DE3E-4CB7-8D86-08536A50598B}"/>
              </a:ext>
            </a:extLst>
          </p:cNvPr>
          <p:cNvSpPr txBox="1"/>
          <p:nvPr/>
        </p:nvSpPr>
        <p:spPr>
          <a:xfrm>
            <a:off x="762000" y="50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15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F16DA-A696-4F08-8040-95692A56A77A}"/>
              </a:ext>
            </a:extLst>
          </p:cNvPr>
          <p:cNvSpPr txBox="1"/>
          <p:nvPr/>
        </p:nvSpPr>
        <p:spPr>
          <a:xfrm>
            <a:off x="762000" y="8128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1F2D3D"/>
                </a:solidFill>
              </a:rPr>
              <a:t>Garbage Collection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4AFB1-3AE7-4022-9ED6-3B7E29EBD918}"/>
              </a:ext>
            </a:extLst>
          </p:cNvPr>
          <p:cNvSpPr txBox="1"/>
          <p:nvPr/>
        </p:nvSpPr>
        <p:spPr>
          <a:xfrm>
            <a:off x="762000" y="14605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A6B7B"/>
                </a:solidFill>
              </a:rPr>
              <a:t>The CLR reclaims unreachable objects across three generations</a:t>
            </a:r>
            <a:endParaRPr lang="en-IN" sz="1500" i="1">
              <a:solidFill>
                <a:srgbClr val="5A6B7B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5E6019-AB27-4C9D-8001-D0110393D63E}"/>
              </a:ext>
            </a:extLst>
          </p:cNvPr>
          <p:cNvSpPr/>
          <p:nvPr/>
        </p:nvSpPr>
        <p:spPr>
          <a:xfrm>
            <a:off x="762000" y="2032000"/>
            <a:ext cx="1651000" cy="1397000"/>
          </a:xfrm>
          <a:prstGeom prst="round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Gen 0
Short-lived
new objects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B9E9A43-D5B9-4975-BCAD-FBA358C52DC4}"/>
              </a:ext>
            </a:extLst>
          </p:cNvPr>
          <p:cNvSpPr/>
          <p:nvPr/>
        </p:nvSpPr>
        <p:spPr>
          <a:xfrm>
            <a:off x="2438400" y="2540000"/>
            <a:ext cx="330200" cy="381000"/>
          </a:xfrm>
          <a:prstGeom prst="rightArrow">
            <a:avLst/>
          </a:prstGeom>
          <a:solidFill>
            <a:srgbClr val="9AA7B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E09AEA-1FA5-4161-86E2-E7702C3B709A}"/>
              </a:ext>
            </a:extLst>
          </p:cNvPr>
          <p:cNvSpPr/>
          <p:nvPr/>
        </p:nvSpPr>
        <p:spPr>
          <a:xfrm>
            <a:off x="2794000" y="2032000"/>
            <a:ext cx="1651000" cy="1397000"/>
          </a:xfrm>
          <a:prstGeom prst="round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Gen 1
Survived
one collection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61B13DD-1950-4BB7-8042-1D125F9984E8}"/>
              </a:ext>
            </a:extLst>
          </p:cNvPr>
          <p:cNvSpPr/>
          <p:nvPr/>
        </p:nvSpPr>
        <p:spPr>
          <a:xfrm>
            <a:off x="4470400" y="2540000"/>
            <a:ext cx="330200" cy="381000"/>
          </a:xfrm>
          <a:prstGeom prst="rightArrow">
            <a:avLst/>
          </a:prstGeom>
          <a:solidFill>
            <a:srgbClr val="9AA7B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BB7B85-7A18-42DC-8F35-C133A9F13AA9}"/>
              </a:ext>
            </a:extLst>
          </p:cNvPr>
          <p:cNvSpPr/>
          <p:nvPr/>
        </p:nvSpPr>
        <p:spPr>
          <a:xfrm>
            <a:off x="4826000" y="2032000"/>
            <a:ext cx="1651000" cy="1397000"/>
          </a:xfrm>
          <a:prstGeom prst="roundRect">
            <a:avLst/>
          </a:prstGeom>
          <a:solidFill>
            <a:srgbClr val="27CED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Gen 2
Long-lived
objects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CE978BB-3D41-4B7A-9941-5BF68EB74F3D}"/>
              </a:ext>
            </a:extLst>
          </p:cNvPr>
          <p:cNvSpPr/>
          <p:nvPr/>
        </p:nvSpPr>
        <p:spPr>
          <a:xfrm>
            <a:off x="6502400" y="2540000"/>
            <a:ext cx="330200" cy="381000"/>
          </a:xfrm>
          <a:prstGeom prst="rightArrow">
            <a:avLst/>
          </a:prstGeom>
          <a:solidFill>
            <a:srgbClr val="9AA7B5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5AE7F2-97A4-49E1-8DCA-E69A95ABBE1B}"/>
              </a:ext>
            </a:extLst>
          </p:cNvPr>
          <p:cNvSpPr/>
          <p:nvPr/>
        </p:nvSpPr>
        <p:spPr>
          <a:xfrm>
            <a:off x="6858000" y="2032000"/>
            <a:ext cx="1651000" cy="13970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LOH
Large Object
Heap (≥85KB)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E52CD-DCAB-446B-A179-066E858B1EFB}"/>
              </a:ext>
            </a:extLst>
          </p:cNvPr>
          <p:cNvSpPr txBox="1"/>
          <p:nvPr/>
        </p:nvSpPr>
        <p:spPr>
          <a:xfrm>
            <a:off x="762000" y="38735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1CADE4"/>
                </a:solidFill>
              </a:rPr>
              <a:t>Mark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522258-8271-43F1-9AE0-DA894B75119E}"/>
              </a:ext>
            </a:extLst>
          </p:cNvPr>
          <p:cNvSpPr txBox="1"/>
          <p:nvPr/>
        </p:nvSpPr>
        <p:spPr>
          <a:xfrm>
            <a:off x="762000" y="41910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GC walks roots to find reachable objects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B2662-82CC-439F-96B7-1F013C938E75}"/>
              </a:ext>
            </a:extLst>
          </p:cNvPr>
          <p:cNvSpPr txBox="1"/>
          <p:nvPr/>
        </p:nvSpPr>
        <p:spPr>
          <a:xfrm>
            <a:off x="3302000" y="38735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1CADE4"/>
                </a:solidFill>
              </a:rPr>
              <a:t>Sweep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6E1A26-961A-409F-975D-5AEB0F6DEEF8}"/>
              </a:ext>
            </a:extLst>
          </p:cNvPr>
          <p:cNvSpPr txBox="1"/>
          <p:nvPr/>
        </p:nvSpPr>
        <p:spPr>
          <a:xfrm>
            <a:off x="3302000" y="41910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Unreachable memory is freed and reused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1FF2E0-5AE4-4B7F-BBCB-CB6709AB8011}"/>
              </a:ext>
            </a:extLst>
          </p:cNvPr>
          <p:cNvSpPr txBox="1"/>
          <p:nvPr/>
        </p:nvSpPr>
        <p:spPr>
          <a:xfrm>
            <a:off x="5842000" y="3873500"/>
            <a:ext cx="241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500" b="1">
                <a:solidFill>
                  <a:srgbClr val="1CADE4"/>
                </a:solidFill>
              </a:rPr>
              <a:t>Compact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EDF51B-7088-4EDC-B708-787098A99215}"/>
              </a:ext>
            </a:extLst>
          </p:cNvPr>
          <p:cNvSpPr txBox="1"/>
          <p:nvPr/>
        </p:nvSpPr>
        <p:spPr>
          <a:xfrm>
            <a:off x="5842000" y="4191000"/>
            <a:ext cx="2413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Surviving objects move to reduce fragmentation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3F7A08-E732-4C90-866D-5474BB3F2852}"/>
              </a:ext>
            </a:extLst>
          </p:cNvPr>
          <p:cNvSpPr/>
          <p:nvPr/>
        </p:nvSpPr>
        <p:spPr>
          <a:xfrm>
            <a:off x="762000" y="5207000"/>
            <a:ext cx="7620000" cy="952500"/>
          </a:xfrm>
          <a:prstGeom prst="round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8AED25-C8A8-45AC-8BB3-C66241FC1B1A}"/>
              </a:ext>
            </a:extLst>
          </p:cNvPr>
          <p:cNvSpPr txBox="1"/>
          <p:nvPr/>
        </p:nvSpPr>
        <p:spPr>
          <a:xfrm>
            <a:off x="914400" y="53594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/>
              <a:t>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9E3379-E45C-41FE-8135-99480D28126D}"/>
              </a:ext>
            </a:extLst>
          </p:cNvPr>
          <p:cNvSpPr txBox="1"/>
          <p:nvPr/>
        </p:nvSpPr>
        <p:spPr>
          <a:xfrm>
            <a:off x="1397000" y="53086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Most objects die young. Gen 0 collections are fast and frequent —
design hot paths to avoid allocating in tight loops.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D5F924-1BFD-421D-8B0C-9D1ECD980AEA}"/>
              </a:ext>
            </a:extLst>
          </p:cNvPr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9AA7B5"/>
                </a:solidFill>
              </a:rPr>
              <a:t>Module 15  •  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363878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40DA27-CC75-4140-A5C1-F0D71D27503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2F3F6C-6F36-4842-ADEE-7225567D13B4}"/>
              </a:ext>
            </a:extLst>
          </p:cNvPr>
          <p:cNvSpPr txBox="1"/>
          <p:nvPr/>
        </p:nvSpPr>
        <p:spPr>
          <a:xfrm>
            <a:off x="762000" y="50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15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FB7D6-89B5-4DF2-AFE1-97D55B71CDC0}"/>
              </a:ext>
            </a:extLst>
          </p:cNvPr>
          <p:cNvSpPr txBox="1"/>
          <p:nvPr/>
        </p:nvSpPr>
        <p:spPr>
          <a:xfrm>
            <a:off x="762000" y="8128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1F2D3D"/>
                </a:solidFill>
              </a:rPr>
              <a:t>IDisposable &amp; using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7C143-2E19-45C7-8B16-DF6101F25FF3}"/>
              </a:ext>
            </a:extLst>
          </p:cNvPr>
          <p:cNvSpPr txBox="1"/>
          <p:nvPr/>
        </p:nvSpPr>
        <p:spPr>
          <a:xfrm>
            <a:off x="762000" y="14605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A6B7B"/>
                </a:solidFill>
              </a:rPr>
              <a:t>Release unmanaged resources deterministically — don't wait on the GC</a:t>
            </a:r>
            <a:endParaRPr lang="en-IN" sz="1500" i="1">
              <a:solidFill>
                <a:srgbClr val="5A6B7B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6B1AFE-53A0-4DBC-B20F-8D0A831C746F}"/>
              </a:ext>
            </a:extLst>
          </p:cNvPr>
          <p:cNvSpPr/>
          <p:nvPr/>
        </p:nvSpPr>
        <p:spPr>
          <a:xfrm>
            <a:off x="762000" y="2032000"/>
            <a:ext cx="3683000" cy="2794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0E0E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75AF12-CE41-4202-8572-7BD0DBDCE97C}"/>
              </a:ext>
            </a:extLst>
          </p:cNvPr>
          <p:cNvSpPr txBox="1"/>
          <p:nvPr/>
        </p:nvSpPr>
        <p:spPr>
          <a:xfrm>
            <a:off x="952500" y="21844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C0392B"/>
                </a:solidFill>
              </a:rPr>
              <a:t>✗ Without using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755E25-F53C-4218-89CA-304C5F00CB62}"/>
              </a:ext>
            </a:extLst>
          </p:cNvPr>
          <p:cNvSpPr txBox="1"/>
          <p:nvPr/>
        </p:nvSpPr>
        <p:spPr>
          <a:xfrm>
            <a:off x="952500" y="26035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  <a:latin typeface="Consolas"/>
              </a:rPr>
              <a:t>var sr = new StreamReader("f.txt");
string line = sr.ReadLine();
// forgot sr.Dispose();
// file handle leaks until GC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01D03-445C-4201-B94A-0EC82A38DCF0}"/>
              </a:ext>
            </a:extLst>
          </p:cNvPr>
          <p:cNvSpPr txBox="1"/>
          <p:nvPr/>
        </p:nvSpPr>
        <p:spPr>
          <a:xfrm>
            <a:off x="952500" y="438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7F8C8D"/>
                </a:solidFill>
              </a:rPr>
              <a:t>Resource held until finalizer runs (unpredictable)</a:t>
            </a:r>
            <a:endParaRPr lang="en-IN" sz="1100" i="1">
              <a:solidFill>
                <a:srgbClr val="7F8C8D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B3B5E7-C72B-426F-87FA-3BC69B643CCF}"/>
              </a:ext>
            </a:extLst>
          </p:cNvPr>
          <p:cNvSpPr/>
          <p:nvPr/>
        </p:nvSpPr>
        <p:spPr>
          <a:xfrm>
            <a:off x="4699000" y="2032000"/>
            <a:ext cx="3683000" cy="2794000"/>
          </a:xfrm>
          <a:prstGeom prst="roundRect">
            <a:avLst/>
          </a:prstGeom>
          <a:solidFill>
            <a:srgbClr val="E8F8F0"/>
          </a:solidFill>
          <a:ln w="19050" cap="flat" cmpd="sng" algn="ctr">
            <a:solidFill>
              <a:srgbClr val="42BA9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0A3E2-3FBB-4D19-A900-D455060ECA32}"/>
              </a:ext>
            </a:extLst>
          </p:cNvPr>
          <p:cNvSpPr txBox="1"/>
          <p:nvPr/>
        </p:nvSpPr>
        <p:spPr>
          <a:xfrm>
            <a:off x="4889500" y="21844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27AE60"/>
                </a:solidFill>
              </a:rPr>
              <a:t>✓ With using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97DCA4-83B9-444C-B8F9-653C7BBF927C}"/>
              </a:ext>
            </a:extLst>
          </p:cNvPr>
          <p:cNvSpPr txBox="1"/>
          <p:nvPr/>
        </p:nvSpPr>
        <p:spPr>
          <a:xfrm>
            <a:off x="4889500" y="2603500"/>
            <a:ext cx="330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1F2D3D"/>
                </a:solidFill>
                <a:latin typeface="Consolas"/>
              </a:rPr>
              <a:t>using (var sr = new StreamReader("f.txt"))
{
    string line = sr.ReadLine();
}  // Dispose() called automatically</a:t>
            </a:r>
            <a:endParaRPr lang="en-IN" sz="1200">
              <a:solidFill>
                <a:srgbClr val="1F2D3D"/>
              </a:solidFill>
              <a:latin typeface="Consola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C50E8C-4516-4AFD-8F09-E1D0E3648480}"/>
              </a:ext>
            </a:extLst>
          </p:cNvPr>
          <p:cNvSpPr txBox="1"/>
          <p:nvPr/>
        </p:nvSpPr>
        <p:spPr>
          <a:xfrm>
            <a:off x="4889500" y="4381500"/>
            <a:ext cx="330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100" i="1">
                <a:solidFill>
                  <a:srgbClr val="27AE60"/>
                </a:solidFill>
              </a:rPr>
              <a:t>Resource freed the moment the block exits — even on exceptions</a:t>
            </a:r>
            <a:endParaRPr lang="en-IN" sz="1100" i="1">
              <a:solidFill>
                <a:srgbClr val="27AE60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69F52E-A88C-4D34-89E0-F09DEE38E932}"/>
              </a:ext>
            </a:extLst>
          </p:cNvPr>
          <p:cNvSpPr/>
          <p:nvPr/>
        </p:nvSpPr>
        <p:spPr>
          <a:xfrm>
            <a:off x="762000" y="5207000"/>
            <a:ext cx="7620000" cy="952500"/>
          </a:xfrm>
          <a:prstGeom prst="round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288A75-E6A2-46D4-8279-65C5D667BAC4}"/>
              </a:ext>
            </a:extLst>
          </p:cNvPr>
          <p:cNvSpPr txBox="1"/>
          <p:nvPr/>
        </p:nvSpPr>
        <p:spPr>
          <a:xfrm>
            <a:off x="914400" y="53594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/>
              <a:t>💡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79A03B-96A5-4E79-8669-7D5C62C994EA}"/>
              </a:ext>
            </a:extLst>
          </p:cNvPr>
          <p:cNvSpPr txBox="1"/>
          <p:nvPr/>
        </p:nvSpPr>
        <p:spPr>
          <a:xfrm>
            <a:off x="1397000" y="5308600"/>
            <a:ext cx="6858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Implement IDisposable on any class that owns a file handle, socket,
DB connection, or any other unmanaged resource.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E5075E-2E0D-4032-A436-83FA3C0E7908}"/>
              </a:ext>
            </a:extLst>
          </p:cNvPr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>
                <a:solidFill>
                  <a:srgbClr val="9AA7B5"/>
                </a:solidFill>
              </a:rPr>
              <a:t>Module 15  •  IDisposable &amp; using</a:t>
            </a:r>
          </a:p>
        </p:txBody>
      </p:sp>
    </p:spTree>
    <p:extLst>
      <p:ext uri="{BB962C8B-B14F-4D97-AF65-F5344CB8AC3E}">
        <p14:creationId xmlns:p14="http://schemas.microsoft.com/office/powerpoint/2010/main" val="139599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8894FE-452F-42D2-A41D-91771845F35C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679EA5-3181-454E-8824-5CD857B44EAA}"/>
              </a:ext>
            </a:extLst>
          </p:cNvPr>
          <p:cNvSpPr/>
          <p:nvPr/>
        </p:nvSpPr>
        <p:spPr>
          <a:xfrm>
            <a:off x="762000" y="508000"/>
            <a:ext cx="889000" cy="3302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LAB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50AC3D-2805-437B-9940-4C7D0F94D697}"/>
              </a:ext>
            </a:extLst>
          </p:cNvPr>
          <p:cNvSpPr txBox="1"/>
          <p:nvPr/>
        </p:nvSpPr>
        <p:spPr>
          <a:xfrm>
            <a:off x="762000" y="9525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800" b="1">
                <a:solidFill>
                  <a:srgbClr val="1F2D3D"/>
                </a:solidFill>
              </a:rPr>
              <a:t>Build a Disposable FileLogger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110CDD-C21E-4CFF-85ED-9030EDB03341}"/>
              </a:ext>
            </a:extLst>
          </p:cNvPr>
          <p:cNvSpPr/>
          <p:nvPr/>
        </p:nvSpPr>
        <p:spPr>
          <a:xfrm>
            <a:off x="762000" y="1651000"/>
            <a:ext cx="7620000" cy="508000"/>
          </a:xfrm>
          <a:prstGeom prst="roundRect">
            <a:avLst/>
          </a:prstGeom>
          <a:solidFill>
            <a:srgbClr val="FFF4E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i="1">
                <a:solidFill>
                  <a:srgbClr val="5A4A1F"/>
                </a:solidFill>
              </a:rPr>
              <a:t>🎯  Goal: implement IDisposable correctly and confirm Dispose runs at the right time</a:t>
            </a:r>
            <a:endParaRPr lang="en-IN" sz="1300" i="1">
              <a:solidFill>
                <a:srgbClr val="5A4A1F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709695-C46D-4E67-9F14-484B0C6D923C}"/>
              </a:ext>
            </a:extLst>
          </p:cNvPr>
          <p:cNvSpPr/>
          <p:nvPr/>
        </p:nvSpPr>
        <p:spPr>
          <a:xfrm>
            <a:off x="762000" y="24130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027AE-5560-46E1-BE11-9FC2EF727825}"/>
              </a:ext>
            </a:extLst>
          </p:cNvPr>
          <p:cNvSpPr txBox="1"/>
          <p:nvPr/>
        </p:nvSpPr>
        <p:spPr>
          <a:xfrm>
            <a:off x="1333500" y="2463800"/>
            <a:ext cx="704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Create class FileLogger : IDisposable wrapping a StreamWriter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133DD20-C87A-4277-B9EE-184A4DB52B46}"/>
              </a:ext>
            </a:extLst>
          </p:cNvPr>
          <p:cNvSpPr/>
          <p:nvPr/>
        </p:nvSpPr>
        <p:spPr>
          <a:xfrm>
            <a:off x="762000" y="29718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382CE9-33FB-4E5E-8D1B-A1A86FC8D886}"/>
              </a:ext>
            </a:extLst>
          </p:cNvPr>
          <p:cNvSpPr txBox="1"/>
          <p:nvPr/>
        </p:nvSpPr>
        <p:spPr>
          <a:xfrm>
            <a:off x="1333500" y="3022600"/>
            <a:ext cx="704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Implement Dispose() — flush and close the writer; print "Disposed"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DD6565-4728-49E5-A571-767255616E65}"/>
              </a:ext>
            </a:extLst>
          </p:cNvPr>
          <p:cNvSpPr/>
          <p:nvPr/>
        </p:nvSpPr>
        <p:spPr>
          <a:xfrm>
            <a:off x="762000" y="35306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98CB5-F52C-4BC8-AD09-373753B594E4}"/>
              </a:ext>
            </a:extLst>
          </p:cNvPr>
          <p:cNvSpPr txBox="1"/>
          <p:nvPr/>
        </p:nvSpPr>
        <p:spPr>
          <a:xfrm>
            <a:off x="1333500" y="3581400"/>
            <a:ext cx="704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Use it inside using (var log = new FileLogger("app.log")) { … }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F272BE-6694-4595-8FFE-9EE07751A766}"/>
              </a:ext>
            </a:extLst>
          </p:cNvPr>
          <p:cNvSpPr/>
          <p:nvPr/>
        </p:nvSpPr>
        <p:spPr>
          <a:xfrm>
            <a:off x="762000" y="40894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F85442-3252-4C7F-BAE7-3B609D8A4EE7}"/>
              </a:ext>
            </a:extLst>
          </p:cNvPr>
          <p:cNvSpPr txBox="1"/>
          <p:nvPr/>
        </p:nvSpPr>
        <p:spPr>
          <a:xfrm>
            <a:off x="1333500" y="4140200"/>
            <a:ext cx="704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Run, then re-run without the using block and compare console output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BB99DE-2C52-4C46-9174-9022B84167F7}"/>
              </a:ext>
            </a:extLst>
          </p:cNvPr>
          <p:cNvSpPr/>
          <p:nvPr/>
        </p:nvSpPr>
        <p:spPr>
          <a:xfrm>
            <a:off x="762000" y="46482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43EA5E-0C8F-486A-AB38-98996CD6F832}"/>
              </a:ext>
            </a:extLst>
          </p:cNvPr>
          <p:cNvSpPr txBox="1"/>
          <p:nvPr/>
        </p:nvSpPr>
        <p:spPr>
          <a:xfrm>
            <a:off x="1333500" y="4699000"/>
            <a:ext cx="7048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Add the full Dispose pattern: protected virtual Dispose(bool) + finalizer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447395-F893-4099-84EA-052B0E1B1B74}"/>
              </a:ext>
            </a:extLst>
          </p:cNvPr>
          <p:cNvSpPr/>
          <p:nvPr/>
        </p:nvSpPr>
        <p:spPr>
          <a:xfrm>
            <a:off x="762000" y="5283200"/>
            <a:ext cx="7620000" cy="457200"/>
          </a:xfrm>
          <a:prstGeom prst="roundRect">
            <a:avLst/>
          </a:prstGeom>
          <a:solidFill>
            <a:srgbClr val="E8F8F0"/>
          </a:solidFill>
          <a:ln w="1270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200">
                <a:solidFill>
                  <a:srgbClr val="1B6E3F"/>
                </a:solidFill>
              </a:rPr>
              <a:t>🏆  Bonus: throw an exception inside the using block and confirm Dispose still runs</a:t>
            </a:r>
            <a:endParaRPr lang="en-IN" sz="1200">
              <a:solidFill>
                <a:srgbClr val="1B6E3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FC502E-51D2-45F3-A02E-E4B2238687D0}"/>
              </a:ext>
            </a:extLst>
          </p:cNvPr>
          <p:cNvSpPr txBox="1"/>
          <p:nvPr/>
        </p:nvSpPr>
        <p:spPr>
          <a:xfrm>
            <a:off x="762000" y="6413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1000">
                <a:solidFill>
                  <a:srgbClr val="9AA7B5"/>
                </a:solidFill>
              </a:rPr>
              <a:t>⏱  ~15 minutes  •  Module 15 Lab</a:t>
            </a:r>
            <a:endParaRPr lang="en-IN" sz="1000">
              <a:solidFill>
                <a:srgbClr val="9AA7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045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32C546A-7C4E-4110-BCCC-9C123E83E55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7D0EB-5B50-4066-86D9-EC701FAC9743}"/>
              </a:ext>
            </a:extLst>
          </p:cNvPr>
          <p:cNvSpPr txBox="1"/>
          <p:nvPr/>
        </p:nvSpPr>
        <p:spPr>
          <a:xfrm>
            <a:off x="762000" y="1016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F39C12"/>
                </a:solidFill>
              </a:rPr>
              <a:t>MODULE 16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0E924-613C-4832-871C-A4EEE03A03F8}"/>
              </a:ext>
            </a:extLst>
          </p:cNvPr>
          <p:cNvSpPr txBox="1"/>
          <p:nvPr/>
        </p:nvSpPr>
        <p:spPr>
          <a:xfrm>
            <a:off x="762000" y="1460500"/>
            <a:ext cx="596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400" b="1">
                <a:solidFill>
                  <a:srgbClr val="1F2D3D"/>
                </a:solidFill>
              </a:rPr>
              <a:t>Serialization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49BE9-80F9-4F33-887D-BB543489633C}"/>
              </a:ext>
            </a:extLst>
          </p:cNvPr>
          <p:cNvSpPr txBox="1"/>
          <p:nvPr/>
        </p:nvSpPr>
        <p:spPr>
          <a:xfrm>
            <a:off x="762000" y="2476500"/>
            <a:ext cx="596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5A6B7D"/>
                </a:solidFill>
              </a:rPr>
              <a:t>Convert objects to data you can store or send — and back again.</a:t>
            </a:r>
            <a:endParaRPr lang="en-IN" i="1">
              <a:solidFill>
                <a:srgbClr val="5A6B7D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F31FCA3-B5B9-4406-8743-B2A421711117}"/>
              </a:ext>
            </a:extLst>
          </p:cNvPr>
          <p:cNvSpPr/>
          <p:nvPr/>
        </p:nvSpPr>
        <p:spPr>
          <a:xfrm>
            <a:off x="762000" y="3937000"/>
            <a:ext cx="19050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XML Serialization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C6E293-BBEF-482F-9E4F-5263ED670DB2}"/>
              </a:ext>
            </a:extLst>
          </p:cNvPr>
          <p:cNvSpPr/>
          <p:nvPr/>
        </p:nvSpPr>
        <p:spPr>
          <a:xfrm>
            <a:off x="2794000" y="3937000"/>
            <a:ext cx="21590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JSON Serialization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1FEE86-799B-4E8F-8378-61FF193A6158}"/>
              </a:ext>
            </a:extLst>
          </p:cNvPr>
          <p:cNvSpPr/>
          <p:nvPr/>
        </p:nvSpPr>
        <p:spPr>
          <a:xfrm>
            <a:off x="5080000" y="3937000"/>
            <a:ext cx="29210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Attributes &amp; Control</a:t>
            </a:r>
          </a:p>
        </p:txBody>
      </p:sp>
      <p:pic>
        <p:nvPicPr>
          <p:cNvPr id="11" name="Graphic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0" y="120650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1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1B570C-2CE6-433F-B1AC-F515E96E490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D25C7-C2E4-455A-9B99-CC66E496F99B}"/>
              </a:ext>
            </a:extLst>
          </p:cNvPr>
          <p:cNvSpPr txBox="1"/>
          <p:nvPr/>
        </p:nvSpPr>
        <p:spPr>
          <a:xfrm>
            <a:off x="762000" y="508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 b="1">
                <a:solidFill>
                  <a:srgbClr val="F39C12"/>
                </a:solidFill>
              </a:rPr>
              <a:t>MODULE 16  /  FORMATS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65844-9258-4625-AB41-CC4D5007D2AD}"/>
              </a:ext>
            </a:extLst>
          </p:cNvPr>
          <p:cNvSpPr txBox="1"/>
          <p:nvPr/>
        </p:nvSpPr>
        <p:spPr>
          <a:xfrm>
            <a:off x="762000" y="8890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1F2D3D"/>
                </a:solidFill>
              </a:rPr>
              <a:t>XML vs JSON Serialization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A0899-B7F1-46D0-A9DC-6FD642E0D05B}"/>
              </a:ext>
            </a:extLst>
          </p:cNvPr>
          <p:cNvSpPr txBox="1"/>
          <p:nvPr/>
        </p:nvSpPr>
        <p:spPr>
          <a:xfrm>
            <a:off x="762000" y="15494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A6B7D"/>
                </a:solidFill>
              </a:rPr>
              <a:t>Same object, two formats — choose based on audience and use case.</a:t>
            </a:r>
            <a:endParaRPr lang="en-IN" sz="1500" i="1">
              <a:solidFill>
                <a:srgbClr val="5A6B7D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BDFBDD-E67F-4ACE-A9D9-530524DFE124}"/>
              </a:ext>
            </a:extLst>
          </p:cNvPr>
          <p:cNvSpPr/>
          <p:nvPr/>
        </p:nvSpPr>
        <p:spPr>
          <a:xfrm>
            <a:off x="444500" y="2095500"/>
            <a:ext cx="3683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FE3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73B563-61A2-425F-B739-483EB940A313}"/>
              </a:ext>
            </a:extLst>
          </p:cNvPr>
          <p:cNvSpPr/>
          <p:nvPr/>
        </p:nvSpPr>
        <p:spPr>
          <a:xfrm>
            <a:off x="444500" y="2095500"/>
            <a:ext cx="3683000" cy="406400"/>
          </a:xfrm>
          <a:prstGeom prst="rect">
            <a:avLst/>
          </a:prstGeom>
          <a:solidFill>
            <a:srgbClr val="2683C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XML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04C1E-D763-4B59-A816-388D07EE9457}"/>
              </a:ext>
            </a:extLst>
          </p:cNvPr>
          <p:cNvSpPr txBox="1"/>
          <p:nvPr/>
        </p:nvSpPr>
        <p:spPr>
          <a:xfrm>
            <a:off x="622300" y="2628900"/>
            <a:ext cx="33274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1F2D3D"/>
                </a:solidFill>
              </a:rPr>
              <a:t>Namespace:
System.Xml.Serialization
Class: XmlSerializer
Best for:
• Legacy systems &amp; SOAP
• Strict schemas (XSD)
• Human-readable config
Sample:
&lt;Product&gt;
  &lt;Id&gt;1&lt;/Id&gt;
  &lt;Name&gt;Pen&lt;/Name&gt;
&lt;/Product&gt;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19E2A4-F7F8-43F4-970B-7DAD7BAC987B}"/>
              </a:ext>
            </a:extLst>
          </p:cNvPr>
          <p:cNvSpPr/>
          <p:nvPr/>
        </p:nvSpPr>
        <p:spPr>
          <a:xfrm>
            <a:off x="4381500" y="2095500"/>
            <a:ext cx="3683000" cy="3302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FE3E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3E0A0-63B8-468A-B33C-4A3B53DCCEA4}"/>
              </a:ext>
            </a:extLst>
          </p:cNvPr>
          <p:cNvSpPr/>
          <p:nvPr/>
        </p:nvSpPr>
        <p:spPr>
          <a:xfrm>
            <a:off x="4381500" y="2095500"/>
            <a:ext cx="3683000" cy="406400"/>
          </a:xfrm>
          <a:prstGeom prst="rect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F925D-71AD-4B52-A864-1436D0D177D5}"/>
              </a:ext>
            </a:extLst>
          </p:cNvPr>
          <p:cNvSpPr txBox="1"/>
          <p:nvPr/>
        </p:nvSpPr>
        <p:spPr>
          <a:xfrm>
            <a:off x="4559300" y="2628900"/>
            <a:ext cx="33274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300">
                <a:solidFill>
                  <a:srgbClr val="1F2D3D"/>
                </a:solidFill>
              </a:rPr>
              <a:t>Namespace:
System.Text.Json
Class: JsonSerializer
Best for:
• Web APIs &amp; JavaScript
• Smaller payloads
• Fast read/write
Sample:
{
  "Id": 1,
  "Name": "Pen"
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E4D93D-8DC6-494E-B0E4-4B2A6DB462F8}"/>
              </a:ext>
            </a:extLst>
          </p:cNvPr>
          <p:cNvSpPr/>
          <p:nvPr/>
        </p:nvSpPr>
        <p:spPr>
          <a:xfrm>
            <a:off x="444500" y="5651500"/>
            <a:ext cx="7620000" cy="762000"/>
          </a:xfrm>
          <a:prstGeom prst="round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💡  Use [JsonPropertyName("name")] or [XmlElement("Name")] attributes to control field names without renaming your C# properties.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085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66EC69-8B66-45D4-8816-2CF0ABF425B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368A89-56E6-4BC1-A798-FA1E8903D19C}"/>
              </a:ext>
            </a:extLst>
          </p:cNvPr>
          <p:cNvSpPr/>
          <p:nvPr/>
        </p:nvSpPr>
        <p:spPr>
          <a:xfrm>
            <a:off x="444500" y="482600"/>
            <a:ext cx="990600" cy="3556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LAB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B8D08-9439-44D7-8ECD-438C0907FAB4}"/>
              </a:ext>
            </a:extLst>
          </p:cNvPr>
          <p:cNvSpPr txBox="1"/>
          <p:nvPr/>
        </p:nvSpPr>
        <p:spPr>
          <a:xfrm>
            <a:off x="444500" y="952500"/>
            <a:ext cx="762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F2D3D"/>
                </a:solidFill>
              </a:rPr>
              <a:t>Serialize a Product to JSON</a:t>
            </a:r>
            <a:endParaRPr lang="en-IN" sz="3000" b="1">
              <a:solidFill>
                <a:srgbClr val="1F2D3D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5144B4-C446-440E-9CC9-BE5A24BCDFA5}"/>
              </a:ext>
            </a:extLst>
          </p:cNvPr>
          <p:cNvSpPr/>
          <p:nvPr/>
        </p:nvSpPr>
        <p:spPr>
          <a:xfrm>
            <a:off x="444500" y="1651000"/>
            <a:ext cx="7620000" cy="508000"/>
          </a:xfrm>
          <a:prstGeom prst="roundRect">
            <a:avLst/>
          </a:prstGeom>
          <a:solidFill>
            <a:srgbClr val="FFF4E0"/>
          </a:solidFill>
          <a:ln w="1270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400" b="1">
                <a:solidFill>
                  <a:srgbClr val="1F2D3D"/>
                </a:solidFill>
              </a:rPr>
              <a:t>🎯  Goal: persist a C# object as JSON, then read it back into a new object.</a:t>
            </a:r>
            <a:endParaRPr lang="en-IN" sz="1400" b="1">
              <a:solidFill>
                <a:srgbClr val="1F2D3D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61AB68-16C5-4082-AE14-EA141E9F98BA}"/>
              </a:ext>
            </a:extLst>
          </p:cNvPr>
          <p:cNvSpPr/>
          <p:nvPr/>
        </p:nvSpPr>
        <p:spPr>
          <a:xfrm>
            <a:off x="444500" y="23876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6B41E0-FCB3-4341-99BB-E3D65A0DFEB4}"/>
              </a:ext>
            </a:extLst>
          </p:cNvPr>
          <p:cNvSpPr txBox="1"/>
          <p:nvPr/>
        </p:nvSpPr>
        <p:spPr>
          <a:xfrm>
            <a:off x="990600" y="24384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Create class Product { Id, Name, Price, InStock } with public properties.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5F9217-6D82-47E0-B946-676457ACA8AD}"/>
              </a:ext>
            </a:extLst>
          </p:cNvPr>
          <p:cNvSpPr/>
          <p:nvPr/>
        </p:nvSpPr>
        <p:spPr>
          <a:xfrm>
            <a:off x="444500" y="29464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F7BEDD-4AFB-4EE9-9458-DB9B3429925A}"/>
              </a:ext>
            </a:extLst>
          </p:cNvPr>
          <p:cNvSpPr txBox="1"/>
          <p:nvPr/>
        </p:nvSpPr>
        <p:spPr>
          <a:xfrm>
            <a:off x="990600" y="29972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Add: using System.Text.Json; at the top of your file.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3BA3CE-34AF-48D9-A248-EF9810699055}"/>
              </a:ext>
            </a:extLst>
          </p:cNvPr>
          <p:cNvSpPr/>
          <p:nvPr/>
        </p:nvSpPr>
        <p:spPr>
          <a:xfrm>
            <a:off x="444500" y="35052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96B10-5D91-4929-8A45-6C81FFE5C143}"/>
              </a:ext>
            </a:extLst>
          </p:cNvPr>
          <p:cNvSpPr txBox="1"/>
          <p:nvPr/>
        </p:nvSpPr>
        <p:spPr>
          <a:xfrm>
            <a:off x="990600" y="35560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Serialize a Product instance: JsonSerializer.Serialize(product).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E0A7FD-8420-4789-8147-7CF25EED1986}"/>
              </a:ext>
            </a:extLst>
          </p:cNvPr>
          <p:cNvSpPr/>
          <p:nvPr/>
        </p:nvSpPr>
        <p:spPr>
          <a:xfrm>
            <a:off x="444500" y="40640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CEFE0-FC68-4D37-8B54-58C356CBEB52}"/>
              </a:ext>
            </a:extLst>
          </p:cNvPr>
          <p:cNvSpPr txBox="1"/>
          <p:nvPr/>
        </p:nvSpPr>
        <p:spPr>
          <a:xfrm>
            <a:off x="990600" y="41148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Write the JSON string to product.json with File.WriteAllText.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ACF2EF-2EB0-4EF0-8862-B23BB1B234FA}"/>
              </a:ext>
            </a:extLst>
          </p:cNvPr>
          <p:cNvSpPr/>
          <p:nvPr/>
        </p:nvSpPr>
        <p:spPr>
          <a:xfrm>
            <a:off x="444500" y="46228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A864C4-138A-4755-A5DB-B13C7D13ED93}"/>
              </a:ext>
            </a:extLst>
          </p:cNvPr>
          <p:cNvSpPr txBox="1"/>
          <p:nvPr/>
        </p:nvSpPr>
        <p:spPr>
          <a:xfrm>
            <a:off x="990600" y="46736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Read it back with File.ReadAllText and Deserialize&lt;Product&gt;.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FF4FAF-59B0-4BBE-AD7B-D1146674701D}"/>
              </a:ext>
            </a:extLst>
          </p:cNvPr>
          <p:cNvSpPr/>
          <p:nvPr/>
        </p:nvSpPr>
        <p:spPr>
          <a:xfrm>
            <a:off x="444500" y="5397500"/>
            <a:ext cx="7620000" cy="457200"/>
          </a:xfrm>
          <a:prstGeom prst="roundRect">
            <a:avLst/>
          </a:prstGeom>
          <a:solidFill>
            <a:srgbClr val="E8F8F0"/>
          </a:solidFill>
          <a:ln w="1270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300">
                <a:solidFill>
                  <a:srgbClr val="1F4F2F"/>
                </a:solidFill>
              </a:rPr>
              <a:t>★  Bonus: serialize a List&lt;Product&gt; using new JsonSerializerOptions { WriteIndented = true }.</a:t>
            </a:r>
            <a:endParaRPr lang="en-IN" sz="1300">
              <a:solidFill>
                <a:srgbClr val="1F4F2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02003B-C51D-4401-B2E4-A05AFA94F3C5}"/>
              </a:ext>
            </a:extLst>
          </p:cNvPr>
          <p:cNvSpPr txBox="1"/>
          <p:nvPr/>
        </p:nvSpPr>
        <p:spPr>
          <a:xfrm>
            <a:off x="444500" y="60706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i="1">
                <a:solidFill>
                  <a:srgbClr val="7A8898"/>
                </a:solidFill>
              </a:rPr>
              <a:t>⏱  ~10 minutes</a:t>
            </a:r>
          </a:p>
        </p:txBody>
      </p:sp>
    </p:spTree>
    <p:extLst>
      <p:ext uri="{BB962C8B-B14F-4D97-AF65-F5344CB8AC3E}">
        <p14:creationId xmlns:p14="http://schemas.microsoft.com/office/powerpoint/2010/main" val="190710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48B8FF-6B9A-40CB-936D-07F87662F95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90774-8211-4162-9B1B-CBB889741DAF}"/>
              </a:ext>
            </a:extLst>
          </p:cNvPr>
          <p:cNvSpPr txBox="1"/>
          <p:nvPr/>
        </p:nvSpPr>
        <p:spPr>
          <a:xfrm>
            <a:off x="762000" y="1016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F39C12"/>
                </a:solidFill>
              </a:rPr>
              <a:t>MODULE 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F113F7-194F-44AF-B9BC-F770A1A9710A}"/>
              </a:ext>
            </a:extLst>
          </p:cNvPr>
          <p:cNvSpPr txBox="1"/>
          <p:nvPr/>
        </p:nvSpPr>
        <p:spPr>
          <a:xfrm>
            <a:off x="762000" y="1460500"/>
            <a:ext cx="6096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4000" b="1">
                <a:solidFill>
                  <a:srgbClr val="1F2D3D"/>
                </a:solidFill>
              </a:rPr>
              <a:t>Threading &amp;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BA285A-2EC0-4B36-8997-3DC7A7341282}"/>
              </a:ext>
            </a:extLst>
          </p:cNvPr>
          <p:cNvSpPr txBox="1"/>
          <p:nvPr/>
        </p:nvSpPr>
        <p:spPr>
          <a:xfrm>
            <a:off x="762000" y="2476500"/>
            <a:ext cx="6223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i="1">
                <a:solidFill>
                  <a:srgbClr val="5A6B7D"/>
                </a:solidFill>
              </a:rPr>
              <a:t>Run work in parallel — without freezing your app or corrupting state.</a:t>
            </a:r>
            <a:endParaRPr lang="en-IN" i="1">
              <a:solidFill>
                <a:srgbClr val="5A6B7D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0586B2-1643-4515-BD95-5F7E43139A9E}"/>
              </a:ext>
            </a:extLst>
          </p:cNvPr>
          <p:cNvSpPr/>
          <p:nvPr/>
        </p:nvSpPr>
        <p:spPr>
          <a:xfrm>
            <a:off x="762000" y="3937000"/>
            <a:ext cx="15240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Threads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5E089E-FCD3-42E5-BBDF-5F89AFAD8887}"/>
              </a:ext>
            </a:extLst>
          </p:cNvPr>
          <p:cNvSpPr/>
          <p:nvPr/>
        </p:nvSpPr>
        <p:spPr>
          <a:xfrm>
            <a:off x="2463800" y="3937000"/>
            <a:ext cx="21336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Tasks &amp; TPL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E416BD-1AF8-4B29-A1CF-1865C19C5554}"/>
              </a:ext>
            </a:extLst>
          </p:cNvPr>
          <p:cNvSpPr/>
          <p:nvPr/>
        </p:nvSpPr>
        <p:spPr>
          <a:xfrm>
            <a:off x="4775200" y="3937000"/>
            <a:ext cx="2438400" cy="558800"/>
          </a:xfrm>
          <a:prstGeom prst="roundRect">
            <a:avLst/>
          </a:prstGeom>
          <a:solidFill>
            <a:srgbClr val="E8F4FB"/>
          </a:solidFill>
          <a:ln w="15875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1F2D3D"/>
                </a:solidFill>
              </a:rPr>
              <a:t>async / await</a:t>
            </a:r>
          </a:p>
        </p:txBody>
      </p:sp>
      <p:pic>
        <p:nvPicPr>
          <p:cNvPr id="11" name="Graphic 11" descr="Alarm cloc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0" y="1143000"/>
            <a:ext cx="13970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2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EBC3F4-F9CF-44C1-96F1-E8D3939E21C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07DF2-3F4B-4004-9771-DFB5DED385F5}"/>
              </a:ext>
            </a:extLst>
          </p:cNvPr>
          <p:cNvSpPr txBox="1"/>
          <p:nvPr/>
        </p:nvSpPr>
        <p:spPr>
          <a:xfrm>
            <a:off x="762000" y="444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17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E80C8-4187-4D74-BB4D-99D605FD6FA0}"/>
              </a:ext>
            </a:extLst>
          </p:cNvPr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1F2D3D"/>
                </a:solidFill>
              </a:rPr>
              <a:t>Threads in C#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F5D326-2B84-449D-B94D-0F5A64F0B79C}"/>
              </a:ext>
            </a:extLst>
          </p:cNvPr>
          <p:cNvSpPr txBox="1"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5A6B7D"/>
                </a:solidFill>
              </a:rPr>
              <a:t>A Thread is the lowest-level unit of execution managed by the OS.</a:t>
            </a:r>
            <a:endParaRPr lang="en-IN" sz="1500" i="1">
              <a:solidFill>
                <a:srgbClr val="5A6B7D"/>
              </a:solidFill>
            </a:endParaRP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9D42E7E8-4267-43E3-8E2A-EE23B730A4F9}"/>
              </a:ext>
            </a:extLst>
          </p:cNvPr>
          <p:cNvSpPr/>
          <p:nvPr/>
        </p:nvSpPr>
        <p:spPr>
          <a:xfrm>
            <a:off x="444500" y="1905000"/>
            <a:ext cx="1549400" cy="635000"/>
          </a:xfrm>
          <a:prstGeom prst="homePlate">
            <a:avLst/>
          </a:prstGeom>
          <a:solidFill>
            <a:srgbClr val="9AA8B6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Unstarted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0EF8AA0B-1884-4AEC-9F3D-04E64242E1B2}"/>
              </a:ext>
            </a:extLst>
          </p:cNvPr>
          <p:cNvSpPr/>
          <p:nvPr/>
        </p:nvSpPr>
        <p:spPr>
          <a:xfrm>
            <a:off x="2019300" y="1905000"/>
            <a:ext cx="1549400" cy="635000"/>
          </a:xfrm>
          <a:prstGeom prst="homePlate">
            <a:avLst/>
          </a:prstGeom>
          <a:solidFill>
            <a:srgbClr val="42BA97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Running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C12207BA-6911-4554-AF82-28B5502FA885}"/>
              </a:ext>
            </a:extLst>
          </p:cNvPr>
          <p:cNvSpPr/>
          <p:nvPr/>
        </p:nvSpPr>
        <p:spPr>
          <a:xfrm>
            <a:off x="3594100" y="1905000"/>
            <a:ext cx="1549400" cy="635000"/>
          </a:xfrm>
          <a:prstGeom prst="homePlat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WaitSleepJoin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02507360-C38A-47F7-A937-49C7EA835F8E}"/>
              </a:ext>
            </a:extLst>
          </p:cNvPr>
          <p:cNvSpPr/>
          <p:nvPr/>
        </p:nvSpPr>
        <p:spPr>
          <a:xfrm>
            <a:off x="5168900" y="1905000"/>
            <a:ext cx="1549400" cy="635000"/>
          </a:xfrm>
          <a:prstGeom prst="homePlate">
            <a:avLst/>
          </a:prstGeom>
          <a:solidFill>
            <a:srgbClr val="5A6B7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Stopped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EBB38219-B9C4-4CFC-BB44-16D74A3AE414}"/>
              </a:ext>
            </a:extLst>
          </p:cNvPr>
          <p:cNvSpPr/>
          <p:nvPr/>
        </p:nvSpPr>
        <p:spPr>
          <a:xfrm>
            <a:off x="6743700" y="1905000"/>
            <a:ext cx="1549400" cy="635000"/>
          </a:xfrm>
          <a:prstGeom prst="homePlate">
            <a:avLst/>
          </a:prstGeom>
          <a:solidFill>
            <a:srgbClr val="E74C3C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</a:rPr>
              <a:t>Aborted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0FFE9-A7EB-4F33-A4DE-CCA1240AB7D6}"/>
              </a:ext>
            </a:extLst>
          </p:cNvPr>
          <p:cNvSpPr txBox="1"/>
          <p:nvPr/>
        </p:nvSpPr>
        <p:spPr>
          <a:xfrm>
            <a:off x="444500" y="26035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i="1">
                <a:solidFill>
                  <a:srgbClr val="9AA8B6"/>
                </a:solidFill>
              </a:rPr>
              <a:t>Thread lifecycle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04779B1-F642-46B0-9EB3-6C9AB87D8B96}"/>
              </a:ext>
            </a:extLst>
          </p:cNvPr>
          <p:cNvSpPr/>
          <p:nvPr/>
        </p:nvSpPr>
        <p:spPr>
          <a:xfrm>
            <a:off x="444500" y="3175000"/>
            <a:ext cx="2438400" cy="2095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1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1D23B0-E7B5-42E9-BB89-383CECCE33FC}"/>
              </a:ext>
            </a:extLst>
          </p:cNvPr>
          <p:cNvSpPr txBox="1"/>
          <p:nvPr/>
        </p:nvSpPr>
        <p:spPr>
          <a:xfrm>
            <a:off x="622300" y="33274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Create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7BC7318-BD22-401C-A97F-2ED287CF638D}"/>
              </a:ext>
            </a:extLst>
          </p:cNvPr>
          <p:cNvSpPr/>
          <p:nvPr/>
        </p:nvSpPr>
        <p:spPr>
          <a:xfrm>
            <a:off x="622300" y="3733800"/>
            <a:ext cx="2082800" cy="406400"/>
          </a:xfrm>
          <a:prstGeom prst="roundRect">
            <a:avLst/>
          </a:prstGeom>
          <a:solidFill>
            <a:srgbClr val="F4F6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  <a:latin typeface="Consolas"/>
              </a:rPr>
              <a:t>new Thread(Work)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D5B37-65A6-47AC-9B9D-ECA2BCBFE266}"/>
              </a:ext>
            </a:extLst>
          </p:cNvPr>
          <p:cNvSpPr txBox="1"/>
          <p:nvPr/>
        </p:nvSpPr>
        <p:spPr>
          <a:xfrm>
            <a:off x="622300" y="4267200"/>
            <a:ext cx="2082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A6B7D"/>
                </a:solidFill>
              </a:rPr>
              <a:t>Pass a method or lambda; start with .Start()</a:t>
            </a:r>
            <a:endParaRPr lang="en-IN" sz="1200">
              <a:solidFill>
                <a:srgbClr val="5A6B7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8C717F-2007-4E7A-83AA-7D976626EFA9}"/>
              </a:ext>
            </a:extLst>
          </p:cNvPr>
          <p:cNvSpPr/>
          <p:nvPr/>
        </p:nvSpPr>
        <p:spPr>
          <a:xfrm>
            <a:off x="3060700" y="3175000"/>
            <a:ext cx="2438400" cy="2095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1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CFE1CD-0208-4BB5-ABA2-837BD292B35C}"/>
              </a:ext>
            </a:extLst>
          </p:cNvPr>
          <p:cNvSpPr txBox="1"/>
          <p:nvPr/>
        </p:nvSpPr>
        <p:spPr>
          <a:xfrm>
            <a:off x="3238500" y="33274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Coordinate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36EA796-4668-4561-883C-26050D145DEF}"/>
              </a:ext>
            </a:extLst>
          </p:cNvPr>
          <p:cNvSpPr/>
          <p:nvPr/>
        </p:nvSpPr>
        <p:spPr>
          <a:xfrm>
            <a:off x="3238500" y="3733800"/>
            <a:ext cx="2082800" cy="406400"/>
          </a:xfrm>
          <a:prstGeom prst="roundRect">
            <a:avLst/>
          </a:prstGeom>
          <a:solidFill>
            <a:srgbClr val="F4F6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  <a:latin typeface="Consolas"/>
              </a:rPr>
              <a:t>t.Join()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8DCCC2-6450-4DB7-B7DE-20ACBD4750E5}"/>
              </a:ext>
            </a:extLst>
          </p:cNvPr>
          <p:cNvSpPr txBox="1"/>
          <p:nvPr/>
        </p:nvSpPr>
        <p:spPr>
          <a:xfrm>
            <a:off x="3238500" y="4267200"/>
            <a:ext cx="2082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A6B7D"/>
                </a:solidFill>
              </a:rPr>
              <a:t>Wait for a thread to finish before continuing</a:t>
            </a:r>
            <a:endParaRPr lang="en-IN" sz="1200">
              <a:solidFill>
                <a:srgbClr val="5A6B7D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FD43F6D-C239-4C0D-B74B-9E0CD2D81B0A}"/>
              </a:ext>
            </a:extLst>
          </p:cNvPr>
          <p:cNvSpPr/>
          <p:nvPr/>
        </p:nvSpPr>
        <p:spPr>
          <a:xfrm>
            <a:off x="5676900" y="3175000"/>
            <a:ext cx="2438400" cy="20955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1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073402-0C81-4244-9447-C4365195095A}"/>
              </a:ext>
            </a:extLst>
          </p:cNvPr>
          <p:cNvSpPr txBox="1"/>
          <p:nvPr/>
        </p:nvSpPr>
        <p:spPr>
          <a:xfrm>
            <a:off x="5854700" y="3327400"/>
            <a:ext cx="20828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600" b="1">
                <a:solidFill>
                  <a:srgbClr val="1CADE4"/>
                </a:solidFill>
              </a:rPr>
              <a:t>Cost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3777B0C-4773-4487-A37E-49B5E2B4DB99}"/>
              </a:ext>
            </a:extLst>
          </p:cNvPr>
          <p:cNvSpPr/>
          <p:nvPr/>
        </p:nvSpPr>
        <p:spPr>
          <a:xfrm>
            <a:off x="5854700" y="3733800"/>
            <a:ext cx="2082800" cy="406400"/>
          </a:xfrm>
          <a:prstGeom prst="roundRect">
            <a:avLst/>
          </a:prstGeom>
          <a:solidFill>
            <a:srgbClr val="F4F6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>
                <a:solidFill>
                  <a:srgbClr val="1F2D3D"/>
                </a:solidFill>
                <a:latin typeface="Consolas"/>
              </a:rPr>
              <a:t>~1 MB stack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CD4600-7A69-4E41-A56C-93CB4D4DA8D4}"/>
              </a:ext>
            </a:extLst>
          </p:cNvPr>
          <p:cNvSpPr txBox="1"/>
          <p:nvPr/>
        </p:nvSpPr>
        <p:spPr>
          <a:xfrm>
            <a:off x="5854700" y="4267200"/>
            <a:ext cx="20828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5A6B7D"/>
                </a:solidFill>
              </a:rPr>
              <a:t>Threads are expensive — prefer Tasks</a:t>
            </a:r>
            <a:endParaRPr lang="en-IN" sz="1200">
              <a:solidFill>
                <a:srgbClr val="5A6B7D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4F52F0-394B-4EBE-A27C-627D1EBD87EC}"/>
              </a:ext>
            </a:extLst>
          </p:cNvPr>
          <p:cNvSpPr/>
          <p:nvPr/>
        </p:nvSpPr>
        <p:spPr>
          <a:xfrm>
            <a:off x="444500" y="5524500"/>
            <a:ext cx="7683500" cy="711200"/>
          </a:xfrm>
          <a:prstGeom prst="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B9BAAB-83FB-443A-890F-17143663E9F9}"/>
              </a:ext>
            </a:extLst>
          </p:cNvPr>
          <p:cNvSpPr txBox="1"/>
          <p:nvPr/>
        </p:nvSpPr>
        <p:spPr>
          <a:xfrm>
            <a:off x="596900" y="56769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/>
              <a:t>💡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B550CB-8367-45EE-B7C1-59FE6FA1F08D}"/>
              </a:ext>
            </a:extLst>
          </p:cNvPr>
          <p:cNvSpPr txBox="1"/>
          <p:nvPr/>
        </p:nvSpPr>
        <p:spPr>
          <a:xfrm>
            <a:off x="1079500" y="5715000"/>
            <a:ext cx="692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Threads share memory — use lock { } or Interlocked for shared state, or you'll get race conditions.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47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EEE0-DDC3-C8E7-0835-58933B37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4587CD7-6E37-D552-30FF-806D2D3C0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9656979"/>
              </p:ext>
            </p:extLst>
          </p:nvPr>
        </p:nvGraphicFramePr>
        <p:xfrm>
          <a:off x="768349" y="2209801"/>
          <a:ext cx="7889876" cy="4229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44938">
                  <a:extLst>
                    <a:ext uri="{9D8B030D-6E8A-4147-A177-3AD203B41FA5}">
                      <a16:colId xmlns:a16="http://schemas.microsoft.com/office/drawing/2014/main" val="3161484319"/>
                    </a:ext>
                  </a:extLst>
                </a:gridCol>
                <a:gridCol w="3944938">
                  <a:extLst>
                    <a:ext uri="{9D8B030D-6E8A-4147-A177-3AD203B41FA5}">
                      <a16:colId xmlns:a16="http://schemas.microsoft.com/office/drawing/2014/main" val="62877783"/>
                    </a:ext>
                  </a:extLst>
                </a:gridCol>
              </a:tblGrid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Method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Purpose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65958913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Start()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Starts thread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78433606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Sleep()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Pause thread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497778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Join()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Wait for thread completion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8947459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Abort()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Stops thread (obsolete)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4997865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Interrupt()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Interrupt sleeping thread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18058032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Suspend()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Pause thread (obsolete)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6878223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Resume()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Resume suspended thread (obsolete)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2946464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IsAlive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Check if thread running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2690980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CurrentThread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Current executing thread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95113393"/>
                  </a:ext>
                </a:extLst>
              </a:tr>
              <a:tr h="3844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Yield()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Gives chance to another thread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20341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546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CDB8B5-257E-4EF0-B7D5-C2B449F18B5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3FA83-C1AE-40F7-8000-EACB4139E784}"/>
              </a:ext>
            </a:extLst>
          </p:cNvPr>
          <p:cNvSpPr txBox="1"/>
          <p:nvPr/>
        </p:nvSpPr>
        <p:spPr>
          <a:xfrm>
            <a:off x="762000" y="444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b="1">
                <a:solidFill>
                  <a:srgbClr val="F39C12"/>
                </a:solidFill>
              </a:rPr>
              <a:t>MODULE 17  /  CONCEPT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0FA37-8F76-4E64-BA43-8566D5204293}"/>
              </a:ext>
            </a:extLst>
          </p:cNvPr>
          <p:cNvSpPr txBox="1"/>
          <p:nvPr/>
        </p:nvSpPr>
        <p:spPr>
          <a:xfrm>
            <a:off x="762000" y="7620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1F2D3D"/>
                </a:solidFill>
              </a:rPr>
              <a:t>Tasks &amp; async / await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B06EA-F0D5-4104-AA4C-8B381923E4FE}"/>
              </a:ext>
            </a:extLst>
          </p:cNvPr>
          <p:cNvSpPr txBox="1"/>
          <p:nvPr/>
        </p:nvSpPr>
        <p:spPr>
          <a:xfrm>
            <a:off x="762000" y="1333500"/>
            <a:ext cx="762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5A6B7D"/>
                </a:solidFill>
              </a:rPr>
              <a:t>A Task is a high-level handle for work that may run on a thread pool — composable, awaitable, cheap.</a:t>
            </a:r>
            <a:endParaRPr lang="en-IN" sz="1400" i="1">
              <a:solidFill>
                <a:srgbClr val="5A6B7D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31330-E151-477E-89CD-94626709A5F8}"/>
              </a:ext>
            </a:extLst>
          </p:cNvPr>
          <p:cNvSpPr/>
          <p:nvPr/>
        </p:nvSpPr>
        <p:spPr>
          <a:xfrm>
            <a:off x="444500" y="1905000"/>
            <a:ext cx="3683000" cy="2540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9E1E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CF3C2-638E-4FE2-84B8-4B3F46214527}"/>
              </a:ext>
            </a:extLst>
          </p:cNvPr>
          <p:cNvSpPr/>
          <p:nvPr/>
        </p:nvSpPr>
        <p:spPr>
          <a:xfrm>
            <a:off x="444500" y="1905000"/>
            <a:ext cx="3683000" cy="482600"/>
          </a:xfrm>
          <a:prstGeom prst="rect">
            <a:avLst/>
          </a:prstGeom>
          <a:solidFill>
            <a:srgbClr val="5A6B7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Thread (low-level)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6D264-76D7-486B-AA06-0D4C313C39F7}"/>
              </a:ext>
            </a:extLst>
          </p:cNvPr>
          <p:cNvSpPr txBox="1"/>
          <p:nvPr/>
        </p:nvSpPr>
        <p:spPr>
          <a:xfrm>
            <a:off x="635000" y="2540000"/>
            <a:ext cx="330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• Heavy — ~1 MB stack per thread
• Manual Start / Join / Abort
• No return value built in
• You manage synchronization
• Best for: long-running CPU work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E396D5-8C08-4202-9094-6620DC1D1B62}"/>
              </a:ext>
            </a:extLst>
          </p:cNvPr>
          <p:cNvSpPr/>
          <p:nvPr/>
        </p:nvSpPr>
        <p:spPr>
          <a:xfrm>
            <a:off x="4445000" y="1905000"/>
            <a:ext cx="3683000" cy="25400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1CADE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648FEF-810C-436F-8965-AAD83FE0ADF8}"/>
              </a:ext>
            </a:extLst>
          </p:cNvPr>
          <p:cNvSpPr/>
          <p:nvPr/>
        </p:nvSpPr>
        <p:spPr>
          <a:xfrm>
            <a:off x="4445000" y="1905000"/>
            <a:ext cx="3683000" cy="482600"/>
          </a:xfrm>
          <a:prstGeom prst="rect">
            <a:avLst/>
          </a:prstGeom>
          <a:solidFill>
            <a:srgbClr val="1CADE4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</a:rPr>
              <a:t>Task (high-level, preferred)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EC34D-107E-46A2-9103-7A2EB60BEB01}"/>
              </a:ext>
            </a:extLst>
          </p:cNvPr>
          <p:cNvSpPr txBox="1"/>
          <p:nvPr/>
        </p:nvSpPr>
        <p:spPr>
          <a:xfrm>
            <a:off x="4635500" y="2540000"/>
            <a:ext cx="3302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• Pooled — reused, no per-task stack
• Run with Task.Run(...) or async
• Task&lt;T&gt; returns a result
• Compose with WhenAll / WhenAny
• Best for: I/O, parallelism, UI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3DC9D5D-63CF-4C9B-88C4-8535E9FCC3E9}"/>
              </a:ext>
            </a:extLst>
          </p:cNvPr>
          <p:cNvSpPr/>
          <p:nvPr/>
        </p:nvSpPr>
        <p:spPr>
          <a:xfrm>
            <a:off x="444500" y="4635500"/>
            <a:ext cx="7683500" cy="1397000"/>
          </a:xfrm>
          <a:prstGeom prst="roundRect">
            <a:avLst/>
          </a:prstGeom>
          <a:solidFill>
            <a:srgbClr val="1F2D3D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9E4EF-444E-4AC1-A2B0-FB01390F37AD}"/>
              </a:ext>
            </a:extLst>
          </p:cNvPr>
          <p:cNvSpPr txBox="1"/>
          <p:nvPr/>
        </p:nvSpPr>
        <p:spPr>
          <a:xfrm>
            <a:off x="635000" y="47244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b="1">
                <a:solidFill>
                  <a:srgbClr val="F39C12"/>
                </a:solidFill>
              </a:rPr>
              <a:t>EXAMPLE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98CB06-5C24-4861-95EC-378706E2F50A}"/>
              </a:ext>
            </a:extLst>
          </p:cNvPr>
          <p:cNvSpPr txBox="1"/>
          <p:nvPr/>
        </p:nvSpPr>
        <p:spPr>
          <a:xfrm>
            <a:off x="635000" y="4978400"/>
            <a:ext cx="736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>
                <a:solidFill>
                  <a:srgbClr val="FFFFFF"/>
                </a:solidFill>
                <a:latin typeface="Consolas"/>
              </a:rPr>
              <a:t>async Task&lt;string&gt; GetDataAsync() {
    var result = await httpClient.GetStringAsync(url);   // doesn't block the thread
    return result;
}</a:t>
            </a:r>
            <a:endParaRPr lang="en-IN" sz="120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C99999-5FFF-4788-8DAF-564595523BB0}"/>
              </a:ext>
            </a:extLst>
          </p:cNvPr>
          <p:cNvSpPr/>
          <p:nvPr/>
        </p:nvSpPr>
        <p:spPr>
          <a:xfrm>
            <a:off x="444500" y="6159500"/>
            <a:ext cx="7683500" cy="609600"/>
          </a:xfrm>
          <a:prstGeom prst="rect">
            <a:avLst/>
          </a:prstGeom>
          <a:solidFill>
            <a:srgbClr val="FFF8E7"/>
          </a:solidFill>
          <a:ln w="1905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D35BC-B8B5-44C4-9F31-4D02D167BBD9}"/>
              </a:ext>
            </a:extLst>
          </p:cNvPr>
          <p:cNvSpPr txBox="1"/>
          <p:nvPr/>
        </p:nvSpPr>
        <p:spPr>
          <a:xfrm>
            <a:off x="596900" y="62611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2000"/>
              <a:t>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7D4865-ADA9-4D5E-A5C9-18A6121ADC26}"/>
              </a:ext>
            </a:extLst>
          </p:cNvPr>
          <p:cNvSpPr txBox="1"/>
          <p:nvPr/>
        </p:nvSpPr>
        <p:spPr>
          <a:xfrm>
            <a:off x="1079500" y="6311900"/>
            <a:ext cx="692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Reach for Task first; drop to Thread only for special cases (priority, foreground threads, native interop).</a:t>
            </a:r>
            <a:endParaRPr lang="en-IN" sz="130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574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7B1B3E7-5A44-44D9-A37B-3EE5211B9E2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13B5C0-6110-484B-B9D5-E0F3246C92EA}"/>
              </a:ext>
            </a:extLst>
          </p:cNvPr>
          <p:cNvSpPr/>
          <p:nvPr/>
        </p:nvSpPr>
        <p:spPr>
          <a:xfrm>
            <a:off x="444500" y="444500"/>
            <a:ext cx="914400" cy="355600"/>
          </a:xfrm>
          <a:prstGeom prst="roundRect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</a:rPr>
              <a:t>LAB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04554-F93B-4BDB-9647-CBEE0AB04198}"/>
              </a:ext>
            </a:extLst>
          </p:cNvPr>
          <p:cNvSpPr txBox="1"/>
          <p:nvPr/>
        </p:nvSpPr>
        <p:spPr>
          <a:xfrm>
            <a:off x="444500" y="889000"/>
            <a:ext cx="762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000" b="1">
                <a:solidFill>
                  <a:srgbClr val="1F2D3D"/>
                </a:solidFill>
              </a:rPr>
              <a:t>Run Tasks in Parallel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94E9B6-9EF5-4E3E-B1F9-92232F4C8EF6}"/>
              </a:ext>
            </a:extLst>
          </p:cNvPr>
          <p:cNvSpPr/>
          <p:nvPr/>
        </p:nvSpPr>
        <p:spPr>
          <a:xfrm>
            <a:off x="444500" y="1549400"/>
            <a:ext cx="7683500" cy="558800"/>
          </a:xfrm>
          <a:prstGeom prst="rect">
            <a:avLst/>
          </a:prstGeom>
          <a:solidFill>
            <a:srgbClr val="FFF4E0"/>
          </a:solidFill>
          <a:ln w="12700" cap="flat" cmpd="sng" algn="ctr">
            <a:solidFill>
              <a:srgbClr val="F39C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85A87-9E33-4B93-BC1D-2B8A82D51522}"/>
              </a:ext>
            </a:extLst>
          </p:cNvPr>
          <p:cNvSpPr txBox="1"/>
          <p:nvPr/>
        </p:nvSpPr>
        <p:spPr>
          <a:xfrm>
            <a:off x="635000" y="1651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000" b="1">
                <a:solidFill>
                  <a:srgbClr val="F39C12"/>
                </a:solidFill>
              </a:rPr>
              <a:t>GOAL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0CB983-38D4-4E4D-A81F-563A848E3F65}"/>
              </a:ext>
            </a:extLst>
          </p:cNvPr>
          <p:cNvSpPr txBox="1"/>
          <p:nvPr/>
        </p:nvSpPr>
        <p:spPr>
          <a:xfrm>
            <a:off x="635000" y="1841500"/>
            <a:ext cx="736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Split work across tasks, combine results with Task.WhenAll, and measure the speedup.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259776-AF91-4479-9B96-DA209C153FBD}"/>
              </a:ext>
            </a:extLst>
          </p:cNvPr>
          <p:cNvSpPr/>
          <p:nvPr/>
        </p:nvSpPr>
        <p:spPr>
          <a:xfrm>
            <a:off x="444500" y="23495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498FE-24A8-413F-9235-E0AAD116A73A}"/>
              </a:ext>
            </a:extLst>
          </p:cNvPr>
          <p:cNvSpPr txBox="1"/>
          <p:nvPr/>
        </p:nvSpPr>
        <p:spPr>
          <a:xfrm>
            <a:off x="1016000" y="2413000"/>
            <a:ext cx="711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Write async Task&lt;long&gt; SumAsync(int[] data) that returns the sum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C8D8943-4A65-4DFD-8268-CAC3C9A2B502}"/>
              </a:ext>
            </a:extLst>
          </p:cNvPr>
          <p:cNvSpPr/>
          <p:nvPr/>
        </p:nvSpPr>
        <p:spPr>
          <a:xfrm>
            <a:off x="444500" y="29083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ED2DA6-AC42-49FB-A35E-0881D0EDA567}"/>
              </a:ext>
            </a:extLst>
          </p:cNvPr>
          <p:cNvSpPr txBox="1"/>
          <p:nvPr/>
        </p:nvSpPr>
        <p:spPr>
          <a:xfrm>
            <a:off x="1016000" y="2971800"/>
            <a:ext cx="711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Split a 1M-element int[] into 4 equal chunks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C863CA-0D25-4084-B544-663C73D17777}"/>
              </a:ext>
            </a:extLst>
          </p:cNvPr>
          <p:cNvSpPr/>
          <p:nvPr/>
        </p:nvSpPr>
        <p:spPr>
          <a:xfrm>
            <a:off x="444500" y="34671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37C6D9-47A4-40F6-AA47-3321A22FB796}"/>
              </a:ext>
            </a:extLst>
          </p:cNvPr>
          <p:cNvSpPr txBox="1"/>
          <p:nvPr/>
        </p:nvSpPr>
        <p:spPr>
          <a:xfrm>
            <a:off x="1016000" y="3530600"/>
            <a:ext cx="711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Call SumAsync on each chunk to build Task&lt;long&gt;[] tasks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0FB0C7F-6A54-48F4-A8EC-21A254A2C4C8}"/>
              </a:ext>
            </a:extLst>
          </p:cNvPr>
          <p:cNvSpPr/>
          <p:nvPr/>
        </p:nvSpPr>
        <p:spPr>
          <a:xfrm>
            <a:off x="444500" y="40259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868546-FEC2-40F9-B393-222599076E59}"/>
              </a:ext>
            </a:extLst>
          </p:cNvPr>
          <p:cNvSpPr txBox="1"/>
          <p:nvPr/>
        </p:nvSpPr>
        <p:spPr>
          <a:xfrm>
            <a:off x="1016000" y="4089400"/>
            <a:ext cx="711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await Task.WhenAll(tasks) and add the four results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46E141-2E68-46CD-964A-F4F9F134ADAE}"/>
              </a:ext>
            </a:extLst>
          </p:cNvPr>
          <p:cNvSpPr/>
          <p:nvPr/>
        </p:nvSpPr>
        <p:spPr>
          <a:xfrm>
            <a:off x="444500" y="4584700"/>
            <a:ext cx="406400" cy="406400"/>
          </a:xfrm>
          <a:prstGeom prst="ellipse">
            <a:avLst/>
          </a:prstGeom>
          <a:solidFill>
            <a:srgbClr val="F39C12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B5E7C-04C5-4FB8-894E-59769F52EFAD}"/>
              </a:ext>
            </a:extLst>
          </p:cNvPr>
          <p:cNvSpPr txBox="1"/>
          <p:nvPr/>
        </p:nvSpPr>
        <p:spPr>
          <a:xfrm>
            <a:off x="1016000" y="4648200"/>
            <a:ext cx="711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F2D3D"/>
                </a:solidFill>
              </a:rPr>
              <a:t>Time it with Stopwatch; compare against a single-threaded sum</a:t>
            </a:r>
            <a:endParaRPr lang="en-IN" sz="1400">
              <a:solidFill>
                <a:srgbClr val="1F2D3D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03B74CC-F6AB-4305-8D63-12A382070D2F}"/>
              </a:ext>
            </a:extLst>
          </p:cNvPr>
          <p:cNvSpPr/>
          <p:nvPr/>
        </p:nvSpPr>
        <p:spPr>
          <a:xfrm>
            <a:off x="444500" y="5270500"/>
            <a:ext cx="7683500" cy="635000"/>
          </a:xfrm>
          <a:prstGeom prst="roundRect">
            <a:avLst/>
          </a:prstGeom>
          <a:solidFill>
            <a:srgbClr val="E8F8F0"/>
          </a:solidFill>
          <a:ln w="12700" cap="flat" cmpd="sng" algn="ctr">
            <a:solidFill>
              <a:srgbClr val="27AE6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E1E02D7-0F7D-4826-8276-46FED3794CC9}"/>
              </a:ext>
            </a:extLst>
          </p:cNvPr>
          <p:cNvSpPr/>
          <p:nvPr/>
        </p:nvSpPr>
        <p:spPr>
          <a:xfrm>
            <a:off x="596900" y="5397500"/>
            <a:ext cx="889000" cy="330200"/>
          </a:xfrm>
          <a:prstGeom prst="roundRect">
            <a:avLst/>
          </a:prstGeom>
          <a:solidFill>
            <a:srgbClr val="27AE6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000" b="1">
                <a:solidFill>
                  <a:srgbClr val="FFFFFF"/>
                </a:solidFill>
              </a:rPr>
              <a:t>BONUS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141FDC-E31B-409A-992F-C431B2A16BC9}"/>
              </a:ext>
            </a:extLst>
          </p:cNvPr>
          <p:cNvSpPr txBox="1"/>
          <p:nvPr/>
        </p:nvSpPr>
        <p:spPr>
          <a:xfrm>
            <a:off x="1651000" y="54356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2D3D"/>
                </a:solidFill>
              </a:rPr>
              <a:t>Pass a CancellationToken and cancel after 50 ms; handle TaskCanceledException.</a:t>
            </a:r>
            <a:endParaRPr lang="en-IN" sz="1300">
              <a:solidFill>
                <a:srgbClr val="1F2D3D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B3AE19-137B-4E78-AED5-76265765933B}"/>
              </a:ext>
            </a:extLst>
          </p:cNvPr>
          <p:cNvSpPr txBox="1"/>
          <p:nvPr/>
        </p:nvSpPr>
        <p:spPr>
          <a:xfrm>
            <a:off x="444500" y="6159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200" i="1">
                <a:solidFill>
                  <a:srgbClr val="9AA8B6"/>
                </a:solidFill>
              </a:rPr>
              <a:t>⏱  ~15 minutes</a:t>
            </a:r>
          </a:p>
        </p:txBody>
      </p:sp>
    </p:spTree>
    <p:extLst>
      <p:ext uri="{BB962C8B-B14F-4D97-AF65-F5344CB8AC3E}">
        <p14:creationId xmlns:p14="http://schemas.microsoft.com/office/powerpoint/2010/main" val="42064895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A4FA72-B843-4659-B471-0D88D9E847C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cc3f329-cace-48f5-a4bf-991e4a3dbf9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</TotalTime>
  <Words>1634</Words>
  <Application>Microsoft Office PowerPoint</Application>
  <PresentationFormat>On-screen Show (4:3)</PresentationFormat>
  <Paragraphs>231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Consolas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6</cp:revision>
  <dcterms:created xsi:type="dcterms:W3CDTF">2013-01-27T09:14:16Z</dcterms:created>
  <dcterms:modified xsi:type="dcterms:W3CDTF">2026-05-25T10:59:14Z</dcterms:modified>
  <cp:category/>
</cp:coreProperties>
</file>