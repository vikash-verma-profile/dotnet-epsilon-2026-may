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5" r:id="rId2"/>
    <p:sldId id="276" r:id="rId3"/>
    <p:sldId id="277" r:id="rId4"/>
    <p:sldId id="283" r:id="rId5"/>
    <p:sldId id="278" r:id="rId6"/>
    <p:sldId id="288" r:id="rId7"/>
    <p:sldId id="279" r:id="rId8"/>
    <p:sldId id="280" r:id="rId9"/>
    <p:sldId id="290" r:id="rId10"/>
    <p:sldId id="360" r:id="rId11"/>
    <p:sldId id="294" r:id="rId12"/>
    <p:sldId id="305" r:id="rId13"/>
    <p:sldId id="298" r:id="rId14"/>
    <p:sldId id="297" r:id="rId15"/>
    <p:sldId id="353" r:id="rId16"/>
    <p:sldId id="355" r:id="rId17"/>
    <p:sldId id="357" r:id="rId18"/>
    <p:sldId id="359" r:id="rId19"/>
    <p:sldId id="306" r:id="rId20"/>
    <p:sldId id="351" r:id="rId21"/>
    <p:sldId id="307" r:id="rId22"/>
    <p:sldId id="313" r:id="rId23"/>
    <p:sldId id="308" r:id="rId24"/>
    <p:sldId id="309" r:id="rId25"/>
    <p:sldId id="321" r:id="rId26"/>
    <p:sldId id="310" r:id="rId27"/>
    <p:sldId id="315" r:id="rId28"/>
    <p:sldId id="323" r:id="rId29"/>
    <p:sldId id="311" r:id="rId30"/>
    <p:sldId id="325" r:id="rId31"/>
    <p:sldId id="327" r:id="rId32"/>
    <p:sldId id="328" r:id="rId33"/>
    <p:sldId id="339" r:id="rId34"/>
    <p:sldId id="329" r:id="rId35"/>
    <p:sldId id="330" r:id="rId36"/>
    <p:sldId id="341" r:id="rId37"/>
    <p:sldId id="331" r:id="rId38"/>
    <p:sldId id="343" r:id="rId39"/>
    <p:sldId id="345" r:id="rId40"/>
    <p:sldId id="347" r:id="rId41"/>
    <p:sldId id="349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150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8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64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3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26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701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98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13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286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3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07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57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21: Application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</a:rPr>
              <a:t>What you'll learn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How ASP.NET Core builds configuration from multiple sources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Reading settings with </a:t>
            </a:r>
            <a:r>
              <a:rPr lang="en-US" sz="1800" b="1" dirty="0">
                <a:solidFill>
                  <a:srgbClr val="2683C6"/>
                </a:solidFill>
              </a:rPr>
              <a:t>IConfiguration</a:t>
            </a:r>
            <a:r>
              <a:rPr lang="en-US" sz="1800" dirty="0"/>
              <a:t> and the </a:t>
            </a:r>
            <a:r>
              <a:rPr lang="en-US" sz="1800" b="1" dirty="0">
                <a:solidFill>
                  <a:srgbClr val="2683C6"/>
                </a:solidFill>
              </a:rPr>
              <a:t>Options pattern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Provider precedence and overriding by environment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Best practices for secrets and environment-specific config</a:t>
            </a:r>
          </a:p>
          <a:p>
            <a:pPr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80194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dirty="0"/>
              <a:t>ASP.NET Core layers config from multiple </a:t>
            </a:r>
            <a:r>
              <a:rPr lang="en-US" sz="1800" b="1" dirty="0">
                <a:solidFill>
                  <a:srgbClr val="2683C6"/>
                </a:solidFill>
              </a:rPr>
              <a:t>providers</a:t>
            </a:r>
            <a:r>
              <a:rPr lang="en-US" sz="1800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sz="1700" b="1" dirty="0"/>
              <a:t>JSON files</a:t>
            </a:r>
            <a:r>
              <a:rPr lang="en-US" sz="1700" dirty="0"/>
              <a:t> — appsettings.json, appsettings.{Environment}.json</a:t>
            </a:r>
          </a:p>
          <a:p>
            <a:pPr marL="285750" indent="-285750">
              <a:buFont typeface="Arial"/>
              <a:buChar char="•"/>
            </a:pPr>
            <a:r>
              <a:rPr lang="en-US" sz="1700" b="1" dirty="0"/>
              <a:t>Environment variables</a:t>
            </a:r>
            <a:r>
              <a:rPr lang="en-US" sz="1700" dirty="0"/>
              <a:t> — prefixed (ASPNETCORE_, DOTNET_)</a:t>
            </a:r>
          </a:p>
          <a:p>
            <a:pPr marL="285750" indent="-285750">
              <a:buFont typeface="Arial"/>
              <a:buChar char="•"/>
            </a:pPr>
            <a:r>
              <a:rPr lang="en-US" sz="1700" b="1" dirty="0"/>
              <a:t>Command-line args</a:t>
            </a:r>
            <a:r>
              <a:rPr lang="en-US" sz="1700" dirty="0"/>
              <a:t> — --Logging:LogLevel:Default=Debug</a:t>
            </a:r>
          </a:p>
          <a:p>
            <a:pPr marL="285750" indent="-285750">
              <a:buFont typeface="Arial"/>
              <a:buChar char="•"/>
            </a:pPr>
            <a:r>
              <a:rPr lang="en-US" sz="1700" b="1" dirty="0"/>
              <a:t>User Secrets</a:t>
            </a:r>
            <a:r>
              <a:rPr lang="en-US" sz="1700" dirty="0"/>
              <a:t> — dev-only, stored outside source tree</a:t>
            </a:r>
          </a:p>
          <a:p>
            <a:pPr marL="285750" indent="-285750">
              <a:buFont typeface="Arial"/>
              <a:buChar char="•"/>
            </a:pPr>
            <a:r>
              <a:rPr lang="en-US" sz="1700" b="1" dirty="0"/>
              <a:t>Azure Key Vault / AWS Parameter Store</a:t>
            </a:r>
            <a:r>
              <a:rPr lang="en-US" sz="1700" dirty="0"/>
              <a:t> — cloud secrets</a:t>
            </a:r>
          </a:p>
          <a:p>
            <a:pPr marL="285750" indent="-285750">
              <a:buFont typeface="Arial"/>
              <a:buChar char="•"/>
            </a:pPr>
            <a:r>
              <a:rPr lang="en-US" sz="1700" b="1" dirty="0"/>
              <a:t>In-memory</a:t>
            </a:r>
            <a:r>
              <a:rPr lang="en-US" sz="1700" dirty="0"/>
              <a:t> — AddInMemoryCollection for tests</a:t>
            </a:r>
          </a:p>
          <a:p>
            <a:pPr>
              <a:buNone/>
            </a:pPr>
            <a:r>
              <a:rPr lang="en-US" sz="1500" i="1" dirty="0">
                <a:solidFill>
                  <a:srgbClr val="42BA97"/>
                </a:solidFill>
              </a:rPr>
              <a:t>💡 Later providers override earlier ones — order matters.</a:t>
            </a:r>
          </a:p>
        </p:txBody>
      </p:sp>
    </p:spTree>
    <p:extLst>
      <p:ext uri="{BB962C8B-B14F-4D97-AF65-F5344CB8AC3E}">
        <p14:creationId xmlns:p14="http://schemas.microsoft.com/office/powerpoint/2010/main" val="1787242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Core interface: IConfiguration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/>
              <a:t>Injected anywhere via DI — controllers, services, Program.cs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/>
              <a:t>Key access uses colon path: </a:t>
            </a:r>
            <a:r>
              <a:rPr lang="en-US" sz="1600" dirty="0">
                <a:latin typeface="Consolas"/>
              </a:rPr>
              <a:t>config["Logging:LogLevel:Default"]</a:t>
            </a:r>
          </a:p>
          <a:p>
            <a:pPr>
              <a:buNone/>
            </a:pPr>
            <a:endParaRPr lang="en-US" sz="800"/>
          </a:p>
          <a:p>
            <a:pPr>
              <a:buNone/>
            </a:pPr>
            <a:r>
              <a:rPr lang="en-US" sz="1700" b="1" dirty="0">
                <a:solidFill>
                  <a:srgbClr val="2683C6"/>
                </a:solidFill>
              </a:rPr>
              <a:t>Key methods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latin typeface="Consolas"/>
              </a:rPr>
              <a:t>GetValue&lt;T&gt;(key)</a:t>
            </a:r>
            <a:r>
              <a:rPr lang="en-US" sz="1700" dirty="0"/>
              <a:t> — typed scalar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latin typeface="Consolas"/>
              </a:rPr>
              <a:t>GetSection(name)</a:t>
            </a:r>
            <a:r>
              <a:rPr lang="en-US" sz="1700" dirty="0"/>
              <a:t> — subtree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latin typeface="Consolas"/>
              </a:rPr>
              <a:t>Bind(obj)</a:t>
            </a:r>
            <a:r>
              <a:rPr lang="en-US" sz="1700" dirty="0"/>
              <a:t> — populate a POCO</a:t>
            </a:r>
          </a:p>
          <a:p>
            <a:pPr>
              <a:buNone/>
            </a:pPr>
            <a:r>
              <a:rPr lang="en-US" sz="1500" i="1" dirty="0">
                <a:solidFill>
                  <a:srgbClr val="42BA97"/>
                </a:solidFill>
              </a:rPr>
              <a:t>🔬 Lab 1 next — read settings into a controller</a:t>
            </a:r>
          </a:p>
        </p:txBody>
      </p:sp>
    </p:spTree>
    <p:extLst>
      <p:ext uri="{BB962C8B-B14F-4D97-AF65-F5344CB8AC3E}">
        <p14:creationId xmlns:p14="http://schemas.microsoft.com/office/powerpoint/2010/main" val="183436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1AD16-CED4-51F3-A6D9-3562A4C49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🔬 Lab 1: Read Configuration in a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419FB-FA75-21FA-DEB9-B74E7EFD4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>
                <a:solidFill>
                  <a:srgbClr val="2683C6"/>
                </a:solidFill>
              </a:rPr>
              <a:t>Goal</a:t>
            </a:r>
            <a:r>
              <a:rPr lang="en-US" sz="1600" dirty="0"/>
              <a:t> — return a value from appsettings.json via a GET endpoint.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b="1" dirty="0">
                <a:solidFill>
                  <a:srgbClr val="2683C6"/>
                </a:solidFill>
              </a:rPr>
              <a:t>① appsettings.json</a:t>
            </a:r>
          </a:p>
          <a:p>
            <a:pPr>
              <a:buNone/>
            </a:pPr>
            <a:r>
              <a:rPr lang="en-US" sz="1300" dirty="0">
                <a:latin typeface="Consolas"/>
              </a:rPr>
              <a:t>"App": { "Name": "DemoApp", "Version": "1.0" }</a:t>
            </a:r>
          </a:p>
          <a:p>
            <a:pPr>
              <a:buNone/>
            </a:pPr>
            <a:r>
              <a:rPr lang="en-US" sz="1500" b="1" dirty="0">
                <a:solidFill>
                  <a:srgbClr val="2683C6"/>
                </a:solidFill>
              </a:rPr>
              <a:t>② AppController.cs</a:t>
            </a:r>
          </a:p>
          <a:p>
            <a:pPr>
              <a:buNone/>
            </a:pPr>
            <a:r>
              <a:rPr lang="en-US" sz="1300" dirty="0">
                <a:latin typeface="Consolas"/>
              </a:rPr>
              <a:t>public AppController(IConfiguration cfg) =&gt; _cfg = cfg;</a:t>
            </a:r>
          </a:p>
          <a:p>
            <a:pPr>
              <a:buNone/>
            </a:pPr>
            <a:r>
              <a:rPr lang="en-US" sz="1300" dirty="0">
                <a:latin typeface="Consolas"/>
              </a:rPr>
              <a:t>[HttpGet] public string Get() =&gt; _cfg["App:Name"];</a:t>
            </a:r>
          </a:p>
          <a:p>
            <a:pPr>
              <a:buNone/>
            </a:pPr>
            <a:r>
              <a:rPr lang="en-US" sz="1500" b="1" dirty="0">
                <a:solidFill>
                  <a:srgbClr val="2683C6"/>
                </a:solidFill>
              </a:rPr>
              <a:t>③ Try it</a:t>
            </a:r>
          </a:p>
          <a:p>
            <a:pPr marL="285750" indent="-285750">
              <a:buFont typeface="Arial"/>
              <a:buChar char="•"/>
            </a:pPr>
            <a:r>
              <a:rPr lang="en-US" sz="1500" dirty="0"/>
              <a:t>GET /api/app  →  "DemoApp"</a:t>
            </a:r>
          </a:p>
          <a:p>
            <a:pPr marL="285750" indent="-285750">
              <a:buFont typeface="Arial"/>
              <a:buChar char="•"/>
            </a:pPr>
            <a:r>
              <a:rPr lang="en-US" sz="1500" dirty="0"/>
              <a:t>Set env var </a:t>
            </a:r>
            <a:r>
              <a:rPr lang="en-US" sz="1400" dirty="0">
                <a:latin typeface="Consolas"/>
              </a:rPr>
              <a:t>App__Name=Override</a:t>
            </a:r>
            <a:r>
              <a:rPr lang="en-US" sz="1500" dirty="0"/>
              <a:t> and re-run → "Override"</a:t>
            </a:r>
          </a:p>
        </p:txBody>
      </p:sp>
    </p:spTree>
    <p:extLst>
      <p:ext uri="{BB962C8B-B14F-4D97-AF65-F5344CB8AC3E}">
        <p14:creationId xmlns:p14="http://schemas.microsoft.com/office/powerpoint/2010/main" val="1546637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Options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dirty="0"/>
              <a:t>Bind config sections to </a:t>
            </a:r>
            <a:r>
              <a:rPr lang="en-US" sz="1800" b="1" dirty="0">
                <a:solidFill>
                  <a:srgbClr val="2683C6"/>
                </a:solidFill>
              </a:rPr>
              <a:t>strongly-typed classes</a:t>
            </a:r>
            <a:r>
              <a:rPr lang="en-US" sz="1800" dirty="0"/>
              <a:t> — no string keys at use-site.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latin typeface="Consolas"/>
              </a:rPr>
              <a:t>IOptions&lt;T&gt;</a:t>
            </a:r>
            <a:r>
              <a:rPr lang="en-US" sz="1700" dirty="0"/>
              <a:t> — singleton, read once at startup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latin typeface="Consolas"/>
              </a:rPr>
              <a:t>IOptionsSnapshot&lt;T&gt;</a:t>
            </a:r>
            <a:r>
              <a:rPr lang="en-US" sz="1700" dirty="0"/>
              <a:t> — scoped, refreshes per request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latin typeface="Consolas"/>
              </a:rPr>
              <a:t>IOptionsMonitor&lt;T&gt;</a:t>
            </a:r>
            <a:r>
              <a:rPr lang="en-US" sz="1700" dirty="0"/>
              <a:t> — singleton, change-notification</a:t>
            </a:r>
          </a:p>
          <a:p>
            <a:pPr>
              <a:buNone/>
            </a:pPr>
            <a:endParaRPr lang="en-US" sz="800"/>
          </a:p>
          <a:p>
            <a:pPr>
              <a:buNone/>
            </a:pPr>
            <a:r>
              <a:rPr lang="en-US" sz="1600" b="1" dirty="0">
                <a:solidFill>
                  <a:srgbClr val="2683C6"/>
                </a:solidFill>
              </a:rPr>
              <a:t>Registration (Program.cs):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builder.Services.Configure&lt;EmailSettings&gt;(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    builder.Configuration.GetSection("Email"));</a:t>
            </a:r>
          </a:p>
          <a:p>
            <a:pPr>
              <a:buNone/>
            </a:pPr>
            <a:r>
              <a:rPr lang="en-US" sz="1500" i="1" dirty="0">
                <a:solidFill>
                  <a:srgbClr val="42BA97"/>
                </a:solidFill>
              </a:rPr>
              <a:t>🎯 Pick Snapshot when config can change at runtime.</a:t>
            </a:r>
          </a:p>
        </p:txBody>
      </p:sp>
    </p:spTree>
    <p:extLst>
      <p:ext uri="{BB962C8B-B14F-4D97-AF65-F5344CB8AC3E}">
        <p14:creationId xmlns:p14="http://schemas.microsoft.com/office/powerpoint/2010/main" val="2500931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23F3-6ED3-BD95-F57A-112E33B6D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🔬 Lab 2: Bind Strongly-Typed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00CBB-8ECA-BC6E-1EA4-C6926F77C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600" b="1" dirty="0">
                <a:solidFill>
                  <a:srgbClr val="2683C6"/>
                </a:solidFill>
              </a:rPr>
              <a:t>Goal</a:t>
            </a:r>
            <a:r>
              <a:rPr lang="en-US" sz="1600" dirty="0"/>
              <a:t> — replace IConfiguration[...] with IOptions&lt;T&gt;.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b="1" dirty="0">
                <a:solidFill>
                  <a:srgbClr val="2683C6"/>
                </a:solidFill>
              </a:rPr>
              <a:t>① Define POCO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public class AppSettings { public string Name {get;set;} public string Version {get;set;} }</a:t>
            </a:r>
          </a:p>
          <a:p>
            <a:pPr>
              <a:buNone/>
            </a:pPr>
            <a:r>
              <a:rPr lang="en-US" sz="1500" b="1" dirty="0">
                <a:solidFill>
                  <a:srgbClr val="2683C6"/>
                </a:solidFill>
              </a:rPr>
              <a:t>② Register in Program.cs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builder.Services.Configure&lt;AppSettings&gt;(builder.Configuration.GetSection("App"));</a:t>
            </a:r>
          </a:p>
          <a:p>
            <a:pPr>
              <a:buNone/>
            </a:pPr>
            <a:r>
              <a:rPr lang="en-US" sz="1500" b="1" dirty="0">
                <a:solidFill>
                  <a:srgbClr val="2683C6"/>
                </a:solidFill>
              </a:rPr>
              <a:t>③ Inject IOptions&lt;AppSettings&gt;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public AppController(IOptions&lt;AppSettings&gt; opts) =&gt; _s = opts.Value;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[HttpGet] public AppSettings Get() =&gt; _s;</a:t>
            </a:r>
          </a:p>
          <a:p>
            <a:pPr>
              <a:buNone/>
            </a:pPr>
            <a:r>
              <a:rPr lang="en-US" sz="1500" b="1" dirty="0">
                <a:solidFill>
                  <a:srgbClr val="42BA97"/>
                </a:solidFill>
              </a:rPr>
              <a:t>🎯 Challenge</a:t>
            </a:r>
            <a:r>
              <a:rPr lang="en-US" sz="1500" dirty="0"/>
              <a:t>: swap to IOptionsSnapshot, change appsettings while running, observe behavior.</a:t>
            </a:r>
          </a:p>
        </p:txBody>
      </p:sp>
    </p:spTree>
    <p:extLst>
      <p:ext uri="{BB962C8B-B14F-4D97-AF65-F5344CB8AC3E}">
        <p14:creationId xmlns:p14="http://schemas.microsoft.com/office/powerpoint/2010/main" val="3929253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appsettings.json</a:t>
            </a:r>
            <a:r>
              <a:rPr lang="en-US" sz="1800" dirty="0"/>
              <a:t> — runtime config (logging, connection strings, options)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Hierarchical JSON, deployed with the app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Overlay per env: </a:t>
            </a:r>
            <a:r>
              <a:rPr lang="en-US" sz="1500" dirty="0">
                <a:latin typeface="Consolas"/>
              </a:rPr>
              <a:t>appsettings.Development.json</a:t>
            </a:r>
          </a:p>
          <a:p>
            <a:pPr>
              <a:buNone/>
            </a:pPr>
            <a:endParaRPr lang="en-US" sz="800"/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launchSettings.json</a:t>
            </a:r>
            <a:r>
              <a:rPr lang="en-US" sz="1800" dirty="0"/>
              <a:t> — dev-only launch profiles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URLs, env vars, IIS Express vs Kestrel settings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Lives in </a:t>
            </a:r>
            <a:r>
              <a:rPr lang="en-US" sz="1500" dirty="0">
                <a:latin typeface="Consolas"/>
              </a:rPr>
              <a:t>Properties/</a:t>
            </a:r>
            <a:r>
              <a:rPr lang="en-US" sz="1600" dirty="0"/>
              <a:t> — </a:t>
            </a:r>
            <a:r>
              <a:rPr lang="en-US" sz="1600" b="1" dirty="0">
                <a:solidFill>
                  <a:srgbClr val="C00000"/>
                </a:solidFill>
              </a:rPr>
              <a:t>not deployed to production</a:t>
            </a:r>
          </a:p>
          <a:p>
            <a:pPr>
              <a:buNone/>
            </a:pPr>
            <a:r>
              <a:rPr lang="en-US" sz="1500" i="1" dirty="0">
                <a:solidFill>
                  <a:srgbClr val="42BA97"/>
                </a:solidFill>
              </a:rPr>
              <a:t>⚠️ Never put secrets in either file — use User Secrets or Key Vault.</a:t>
            </a:r>
          </a:p>
        </p:txBody>
      </p:sp>
    </p:spTree>
    <p:extLst>
      <p:ext uri="{BB962C8B-B14F-4D97-AF65-F5344CB8AC3E}">
        <p14:creationId xmlns:p14="http://schemas.microsoft.com/office/powerpoint/2010/main" val="1330504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of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dirty="0"/>
              <a:t>Last provider wins. Default pipeline order (lowest → highest):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appsettings.json (base)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appsettings.{Environment}.json (overlay)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User Secrets (Development only)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Environment variables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solidFill>
                  <a:srgbClr val="C00000"/>
                </a:solidFill>
              </a:rPr>
              <a:t>Command-line arguments (highest priority)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sz="1500" b="1" dirty="0">
                <a:solidFill>
                  <a:srgbClr val="2683C6"/>
                </a:solidFill>
              </a:rPr>
              <a:t>Example — same key, three sources: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appsettings:  "ConnectionStrings:Db" = "Server=dev;..."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env var:      ConnectionStrings__Db = "Server=staging;..."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CLI:          --ConnectionStrings:Db="Server=prod;..."</a:t>
            </a:r>
          </a:p>
        </p:txBody>
      </p:sp>
    </p:spTree>
    <p:extLst>
      <p:ext uri="{BB962C8B-B14F-4D97-AF65-F5344CB8AC3E}">
        <p14:creationId xmlns:p14="http://schemas.microsoft.com/office/powerpoint/2010/main" val="2410178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64802-348A-BE62-B134-6D3E427E7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Check: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99494-811A-FBD9-5F83-0F14ACE94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700" b="1" dirty="0"/>
              <a:t>If the same key exists in appsettings.json AND as an env var, which wins?</a:t>
            </a:r>
          </a:p>
          <a:p>
            <a:pPr marL="342900" indent="0">
              <a:buNone/>
            </a:pPr>
            <a:r>
              <a:rPr lang="en-US" sz="1500" dirty="0"/>
              <a:t>(a) appsettings  (b) env var  (c) error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b="1" dirty="0"/>
              <a:t>Which Options variant detects changes at runtime without restart?</a:t>
            </a:r>
          </a:p>
          <a:p>
            <a:pPr marL="342900" indent="0">
              <a:buNone/>
            </a:pPr>
            <a:r>
              <a:rPr lang="en-US" sz="1500" dirty="0"/>
              <a:t>(a) IOptions  (b) IOptionsSnapshot  (c) IOptionsMonitor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b="1" dirty="0"/>
              <a:t>Where should production database passwords live?</a:t>
            </a:r>
          </a:p>
          <a:p>
            <a:pPr marL="342900" indent="0">
              <a:buNone/>
            </a:pPr>
            <a:r>
              <a:rPr lang="en-US" sz="1500" dirty="0"/>
              <a:t>(a) appsettings.json  (b) launchSettings.json  (c) Key Vault / Parameter Store</a:t>
            </a:r>
          </a:p>
          <a:p>
            <a:pPr>
              <a:buNone/>
            </a:pPr>
            <a:endParaRPr lang="en-US" sz="800"/>
          </a:p>
          <a:p>
            <a:pPr>
              <a:buNone/>
            </a:pPr>
            <a:r>
              <a:rPr lang="en-US" sz="1400" i="1" dirty="0">
                <a:solidFill>
                  <a:srgbClr val="42BA97"/>
                </a:solidFill>
              </a:rPr>
              <a:t>Answers: 1-b, 2-c, 3-c</a:t>
            </a:r>
          </a:p>
        </p:txBody>
      </p:sp>
    </p:spTree>
    <p:extLst>
      <p:ext uri="{BB962C8B-B14F-4D97-AF65-F5344CB8AC3E}">
        <p14:creationId xmlns:p14="http://schemas.microsoft.com/office/powerpoint/2010/main" val="1057746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BD3AE-9AFE-31A4-C656-4E187205B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💬 Discussion: Secrets in 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9C3C5-644B-84D9-9FB1-E97ADCC1A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dirty="0"/>
              <a:t>Discuss with the person next to you:</a:t>
            </a:r>
          </a:p>
          <a:p>
            <a:pPr>
              <a:buNone/>
            </a:pPr>
            <a:endParaRPr lang="en-US" sz="800"/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You commit appsettings.json with a placeholder password. A developer fills it in for testing and pushes. What's the blast radius?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Your app runs in Kubernetes. Which provider gives you the cleanest way to inject secrets — env vars, mounted files, or Key Vault SDK?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/>
              <a:t>How would you rotate a database password without redeploying?</a:t>
            </a:r>
          </a:p>
          <a:p>
            <a:pPr>
              <a:buNone/>
            </a:pPr>
            <a:endParaRPr lang="en-US" sz="800"/>
          </a:p>
          <a:p>
            <a:pPr>
              <a:buNone/>
            </a:pPr>
            <a:r>
              <a:rPr lang="en-US" sz="1500" i="1" dirty="0">
                <a:solidFill>
                  <a:srgbClr val="42BA97"/>
                </a:solidFill>
              </a:rPr>
              <a:t>⏱ 5 minutes — share back with the room.</a:t>
            </a:r>
          </a:p>
        </p:txBody>
      </p:sp>
    </p:spTree>
    <p:extLst>
      <p:ext uri="{BB962C8B-B14F-4D97-AF65-F5344CB8AC3E}">
        <p14:creationId xmlns:p14="http://schemas.microsoft.com/office/powerpoint/2010/main" val="2707513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22: Logging in .NET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Why logging matters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/>
              <a:t>Diagnose production bugs you can't reproduce locally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/>
              <a:t>Audit trails for security &amp; compliance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/>
              <a:t>Performance metrics &amp; observability</a:t>
            </a:r>
          </a:p>
          <a:p>
            <a:pPr>
              <a:buNone/>
            </a:pPr>
            <a:endParaRPr lang="en-US" sz="800"/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What you'll learn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/>
              <a:t>Built-in logging API: ILogger&lt;T&gt;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/>
              <a:t>Log levels, categories, structured logging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/>
              <a:t>Providers: Console, Debug, EventLog, File, Seq, Application Insights</a:t>
            </a:r>
          </a:p>
          <a:p>
            <a:pPr>
              <a:buNone/>
            </a:pPr>
            <a:r>
              <a:rPr lang="en-US" sz="1500" i="1" dirty="0">
                <a:solidFill>
                  <a:srgbClr val="42BA97"/>
                </a:solidFill>
              </a:rPr>
              <a:t>💡 Logging is built into the host — you don't need a NuGet package to start.</a:t>
            </a:r>
          </a:p>
        </p:txBody>
      </p:sp>
    </p:spTree>
    <p:extLst>
      <p:ext uri="{BB962C8B-B14F-4D97-AF65-F5344CB8AC3E}">
        <p14:creationId xmlns:p14="http://schemas.microsoft.com/office/powerpoint/2010/main" val="2452655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B706F-ADEE-64B5-09CB-0D2435CF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📊 Logging Architecture</a:t>
            </a:r>
          </a:p>
        </p:txBody>
      </p:sp>
      <p:sp>
        <p:nvSpPr>
          <p:cNvPr id="100" name="DiagBox100"/>
          <p:cNvSpPr/>
          <p:nvPr/>
        </p:nvSpPr>
        <p:spPr>
          <a:xfrm>
            <a:off x="889000" y="2476500"/>
            <a:ext cx="1651000" cy="698500"/>
          </a:xfrm>
          <a:prstGeom prst="roundRect">
            <a:avLst>
              <a:gd name="adj" fmla="val 20000"/>
            </a:avLst>
          </a:prstGeom>
          <a:solidFill>
            <a:srgbClr val="335B74"/>
          </a:solidFill>
          <a:ln w="6350">
            <a:solidFill>
              <a:srgbClr val="335B74"/>
            </a:solidFill>
          </a:ln>
        </p:spPr>
        <p:txBody>
          <a:bodyPr wrap="square" lIns="45720" tIns="36000" rIns="45720" bIns="3600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Your Code</a:t>
            </a:r>
          </a:p>
        </p:txBody>
      </p:sp>
      <p:sp>
        <p:nvSpPr>
          <p:cNvPr id="101" name="Arr101"/>
          <p:cNvSpPr/>
          <p:nvPr/>
        </p:nvSpPr>
        <p:spPr>
          <a:xfrm>
            <a:off x="2616200" y="2705100"/>
            <a:ext cx="482600" cy="279400"/>
          </a:xfrm>
          <a:prstGeom prst="rightArrow">
            <a:avLst/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DiagBox102"/>
          <p:cNvSpPr/>
          <p:nvPr/>
        </p:nvSpPr>
        <p:spPr>
          <a:xfrm>
            <a:off x="3175000" y="2476500"/>
            <a:ext cx="1905000" cy="698500"/>
          </a:xfrm>
          <a:prstGeom prst="roundRect">
            <a:avLst>
              <a:gd name="adj" fmla="val 20000"/>
            </a:avLst>
          </a:prstGeom>
          <a:solidFill>
            <a:srgbClr val="1CADE4"/>
          </a:solidFill>
          <a:ln w="6350">
            <a:solidFill>
              <a:srgbClr val="1CADE4"/>
            </a:solidFill>
          </a:ln>
        </p:spPr>
        <p:txBody>
          <a:bodyPr wrap="square" lIns="45720" tIns="36000" rIns="45720" bIns="3600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0A1F2E"/>
                </a:solidFill>
              </a:rPr>
              <a:t>ILogger&lt;T&gt;</a:t>
            </a:r>
          </a:p>
        </p:txBody>
      </p:sp>
      <p:sp>
        <p:nvSpPr>
          <p:cNvPr id="103" name="Arr103"/>
          <p:cNvSpPr/>
          <p:nvPr/>
        </p:nvSpPr>
        <p:spPr>
          <a:xfrm>
            <a:off x="5156200" y="2705100"/>
            <a:ext cx="482600" cy="279400"/>
          </a:xfrm>
          <a:prstGeom prst="rightArrow">
            <a:avLst/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DiagBox104"/>
          <p:cNvSpPr/>
          <p:nvPr/>
        </p:nvSpPr>
        <p:spPr>
          <a:xfrm>
            <a:off x="5715000" y="2476500"/>
            <a:ext cx="2222500" cy="698500"/>
          </a:xfrm>
          <a:prstGeom prst="roundRect">
            <a:avLst>
              <a:gd name="adj" fmla="val 20000"/>
            </a:avLst>
          </a:prstGeom>
          <a:solidFill>
            <a:srgbClr val="1A5A8E"/>
          </a:solidFill>
          <a:ln w="6350">
            <a:solidFill>
              <a:srgbClr val="2683C6"/>
            </a:solidFill>
          </a:ln>
        </p:spPr>
        <p:txBody>
          <a:bodyPr wrap="square" lIns="45720" tIns="36000" rIns="45720" bIns="3600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LoggerFactory</a:t>
            </a:r>
          </a:p>
        </p:txBody>
      </p:sp>
      <p:sp>
        <p:nvSpPr>
          <p:cNvPr id="105" name="DA105"/>
          <p:cNvSpPr/>
          <p:nvPr/>
        </p:nvSpPr>
        <p:spPr>
          <a:xfrm>
            <a:off x="2286000" y="3365500"/>
            <a:ext cx="279400" cy="381000"/>
          </a:xfrm>
          <a:prstGeom prst="downArrow">
            <a:avLst/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DA106"/>
          <p:cNvSpPr/>
          <p:nvPr/>
        </p:nvSpPr>
        <p:spPr>
          <a:xfrm>
            <a:off x="4254500" y="3365500"/>
            <a:ext cx="279400" cy="381000"/>
          </a:xfrm>
          <a:prstGeom prst="downArrow">
            <a:avLst/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DA107"/>
          <p:cNvSpPr/>
          <p:nvPr/>
        </p:nvSpPr>
        <p:spPr>
          <a:xfrm>
            <a:off x="6667500" y="3365500"/>
            <a:ext cx="279400" cy="381000"/>
          </a:xfrm>
          <a:prstGeom prst="downArrow">
            <a:avLst/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DiagLbl108"/>
          <p:cNvSpPr txBox="1"/>
          <p:nvPr/>
        </p:nvSpPr>
        <p:spPr>
          <a:xfrm>
            <a:off x="889000" y="3771900"/>
            <a:ext cx="7048500" cy="228600"/>
          </a:xfrm>
          <a:prstGeom prst="rect">
            <a:avLst/>
          </a:prstGeom>
          <a:noFill/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-US" sz="1300" i="1" dirty="0">
                <a:solidFill>
                  <a:srgbClr val="2683C6"/>
                </a:solidFill>
              </a:rPr>
              <a:t>Providers (registered in DI)</a:t>
            </a:r>
          </a:p>
        </p:txBody>
      </p:sp>
      <p:sp>
        <p:nvSpPr>
          <p:cNvPr id="109" name="DiagBox109"/>
          <p:cNvSpPr/>
          <p:nvPr/>
        </p:nvSpPr>
        <p:spPr>
          <a:xfrm>
            <a:off x="889000" y="4000500"/>
            <a:ext cx="2095500" cy="635000"/>
          </a:xfrm>
          <a:prstGeom prst="roundRect">
            <a:avLst>
              <a:gd name="adj" fmla="val 20000"/>
            </a:avLst>
          </a:prstGeom>
          <a:solidFill>
            <a:srgbClr val="42BA97"/>
          </a:solidFill>
          <a:ln w="6350">
            <a:solidFill>
              <a:srgbClr val="42BA97"/>
            </a:solidFill>
          </a:ln>
        </p:spPr>
        <p:txBody>
          <a:bodyPr wrap="square" lIns="45720" tIns="36000" rIns="45720" bIns="3600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0A1F2E"/>
                </a:solidFill>
              </a:rPr>
              <a:t>Console Provider</a:t>
            </a:r>
          </a:p>
        </p:txBody>
      </p:sp>
      <p:sp>
        <p:nvSpPr>
          <p:cNvPr id="110" name="DiagBox110"/>
          <p:cNvSpPr/>
          <p:nvPr/>
        </p:nvSpPr>
        <p:spPr>
          <a:xfrm>
            <a:off x="3200400" y="4000500"/>
            <a:ext cx="2095500" cy="635000"/>
          </a:xfrm>
          <a:prstGeom prst="roundRect">
            <a:avLst>
              <a:gd name="adj" fmla="val 20000"/>
            </a:avLst>
          </a:prstGeom>
          <a:solidFill>
            <a:srgbClr val="42BA97"/>
          </a:solidFill>
          <a:ln w="6350">
            <a:solidFill>
              <a:srgbClr val="42BA97"/>
            </a:solidFill>
          </a:ln>
        </p:spPr>
        <p:txBody>
          <a:bodyPr wrap="square" lIns="45720" tIns="36000" rIns="45720" bIns="3600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0A1F2E"/>
                </a:solidFill>
              </a:rPr>
              <a:t>File / Seq Provider</a:t>
            </a:r>
          </a:p>
        </p:txBody>
      </p:sp>
      <p:sp>
        <p:nvSpPr>
          <p:cNvPr id="111" name="DiagBox111"/>
          <p:cNvSpPr/>
          <p:nvPr/>
        </p:nvSpPr>
        <p:spPr>
          <a:xfrm>
            <a:off x="5524500" y="4000500"/>
            <a:ext cx="2413000" cy="635000"/>
          </a:xfrm>
          <a:prstGeom prst="roundRect">
            <a:avLst>
              <a:gd name="adj" fmla="val 20000"/>
            </a:avLst>
          </a:prstGeom>
          <a:solidFill>
            <a:srgbClr val="42BA97"/>
          </a:solidFill>
          <a:ln w="6350">
            <a:solidFill>
              <a:srgbClr val="42BA97"/>
            </a:solidFill>
          </a:ln>
        </p:spPr>
        <p:txBody>
          <a:bodyPr wrap="square" lIns="45720" tIns="36000" rIns="45720" bIns="3600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0A1F2E"/>
                </a:solidFill>
              </a:rPr>
              <a:t>App Insights / Cloud</a:t>
            </a:r>
          </a:p>
        </p:txBody>
      </p:sp>
      <p:sp>
        <p:nvSpPr>
          <p:cNvPr id="112" name="DA112"/>
          <p:cNvSpPr/>
          <p:nvPr/>
        </p:nvSpPr>
        <p:spPr>
          <a:xfrm>
            <a:off x="1816100" y="4762500"/>
            <a:ext cx="228600" cy="279400"/>
          </a:xfrm>
          <a:prstGeom prst="downArrow">
            <a:avLst/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DA113"/>
          <p:cNvSpPr/>
          <p:nvPr/>
        </p:nvSpPr>
        <p:spPr>
          <a:xfrm>
            <a:off x="4127500" y="4762500"/>
            <a:ext cx="228600" cy="279400"/>
          </a:xfrm>
          <a:prstGeom prst="downArrow">
            <a:avLst/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DA114"/>
          <p:cNvSpPr/>
          <p:nvPr/>
        </p:nvSpPr>
        <p:spPr>
          <a:xfrm>
            <a:off x="6629400" y="4762500"/>
            <a:ext cx="228600" cy="279400"/>
          </a:xfrm>
          <a:prstGeom prst="downArrow">
            <a:avLst/>
          </a:prstGeom>
          <a:solidFill>
            <a:srgbClr val="DFE3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DiagLbl115"/>
          <p:cNvSpPr txBox="1"/>
          <p:nvPr/>
        </p:nvSpPr>
        <p:spPr>
          <a:xfrm>
            <a:off x="889000" y="5067300"/>
            <a:ext cx="7048500" cy="228600"/>
          </a:xfrm>
          <a:prstGeom prst="rect">
            <a:avLst/>
          </a:prstGeom>
          <a:noFill/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-US" sz="1300" i="1" dirty="0">
                <a:solidFill>
                  <a:srgbClr val="2683C6"/>
                </a:solidFill>
              </a:rPr>
              <a:t>Sinks (where logs land)</a:t>
            </a:r>
          </a:p>
        </p:txBody>
      </p:sp>
      <p:sp>
        <p:nvSpPr>
          <p:cNvPr id="116" name="DiagBox116"/>
          <p:cNvSpPr/>
          <p:nvPr/>
        </p:nvSpPr>
        <p:spPr>
          <a:xfrm>
            <a:off x="889000" y="5295900"/>
            <a:ext cx="2095500" cy="571500"/>
          </a:xfrm>
          <a:prstGeom prst="roundRect">
            <a:avLst>
              <a:gd name="adj" fmla="val 20000"/>
            </a:avLst>
          </a:prstGeom>
          <a:solidFill>
            <a:srgbClr val="62A39F"/>
          </a:solidFill>
          <a:ln w="6350">
            <a:solidFill>
              <a:srgbClr val="62A39F"/>
            </a:solidFill>
          </a:ln>
        </p:spPr>
        <p:txBody>
          <a:bodyPr wrap="square" lIns="45720" tIns="36000" rIns="45720" bIns="36000" anchor="ctr" anchorCtr="1"/>
          <a:lstStyle/>
          <a:p>
            <a:pPr algn="ctr">
              <a:buNone/>
            </a:pPr>
            <a:r>
              <a:rPr lang="en-US" sz="1300" b="1" dirty="0">
                <a:solidFill>
                  <a:srgbClr val="0A1F2E"/>
                </a:solidFill>
              </a:rPr>
              <a:t>stdout / Debug</a:t>
            </a:r>
          </a:p>
        </p:txBody>
      </p:sp>
      <p:sp>
        <p:nvSpPr>
          <p:cNvPr id="117" name="DiagBox117"/>
          <p:cNvSpPr/>
          <p:nvPr/>
        </p:nvSpPr>
        <p:spPr>
          <a:xfrm>
            <a:off x="3200400" y="5295900"/>
            <a:ext cx="2095500" cy="571500"/>
          </a:xfrm>
          <a:prstGeom prst="roundRect">
            <a:avLst>
              <a:gd name="adj" fmla="val 20000"/>
            </a:avLst>
          </a:prstGeom>
          <a:solidFill>
            <a:srgbClr val="62A39F"/>
          </a:solidFill>
          <a:ln w="6350">
            <a:solidFill>
              <a:srgbClr val="62A39F"/>
            </a:solidFill>
          </a:ln>
        </p:spPr>
        <p:txBody>
          <a:bodyPr wrap="square" lIns="45720" tIns="36000" rIns="45720" bIns="36000" anchor="ctr" anchorCtr="1"/>
          <a:lstStyle/>
          <a:p>
            <a:pPr algn="ctr">
              <a:buNone/>
            </a:pPr>
            <a:r>
              <a:rPr lang="en-US" sz="1300" b="1" dirty="0">
                <a:solidFill>
                  <a:srgbClr val="0A1F2E"/>
                </a:solidFill>
              </a:rPr>
              <a:t>file.log / Seq UI</a:t>
            </a:r>
          </a:p>
        </p:txBody>
      </p:sp>
      <p:sp>
        <p:nvSpPr>
          <p:cNvPr id="118" name="DiagBox118"/>
          <p:cNvSpPr/>
          <p:nvPr/>
        </p:nvSpPr>
        <p:spPr>
          <a:xfrm>
            <a:off x="5524500" y="5295900"/>
            <a:ext cx="2413000" cy="571500"/>
          </a:xfrm>
          <a:prstGeom prst="roundRect">
            <a:avLst>
              <a:gd name="adj" fmla="val 20000"/>
            </a:avLst>
          </a:prstGeom>
          <a:solidFill>
            <a:srgbClr val="62A39F"/>
          </a:solidFill>
          <a:ln w="6350">
            <a:solidFill>
              <a:srgbClr val="62A39F"/>
            </a:solidFill>
          </a:ln>
        </p:spPr>
        <p:txBody>
          <a:bodyPr wrap="square" lIns="45720" tIns="36000" rIns="45720" bIns="36000" anchor="ctr" anchorCtr="1"/>
          <a:lstStyle/>
          <a:p>
            <a:pPr algn="ctr">
              <a:buNone/>
            </a:pPr>
            <a:r>
              <a:rPr lang="en-US" sz="1300" b="1" dirty="0">
                <a:solidFill>
                  <a:srgbClr val="0A1F2E"/>
                </a:solidFill>
              </a:rPr>
              <a:t>Azure Monitor</a:t>
            </a:r>
          </a:p>
        </p:txBody>
      </p:sp>
      <p:sp>
        <p:nvSpPr>
          <p:cNvPr id="119" name="DiagLbl119"/>
          <p:cNvSpPr txBox="1"/>
          <p:nvPr/>
        </p:nvSpPr>
        <p:spPr>
          <a:xfrm>
            <a:off x="889000" y="5994400"/>
            <a:ext cx="7048500" cy="279400"/>
          </a:xfrm>
          <a:prstGeom prst="rect">
            <a:avLst/>
          </a:prstGeom>
          <a:noFill/>
        </p:spPr>
        <p:txBody>
          <a:bodyPr wrap="square" lIns="0" tIns="0" rIns="0" bIns="0" anchor="ctr" anchorCtr="1"/>
          <a:lstStyle/>
          <a:p>
            <a:pPr algn="ctr">
              <a:buNone/>
            </a:pPr>
            <a:r>
              <a:rPr lang="en-US" sz="1300" i="1" dirty="0">
                <a:solidFill>
                  <a:srgbClr val="335B74"/>
                </a:solidFill>
              </a:rPr>
              <a:t>One log call → many providers → many destinations. Add/remove providers in Program.cs.</a:t>
            </a:r>
          </a:p>
        </p:txBody>
      </p:sp>
    </p:spTree>
    <p:extLst>
      <p:ext uri="{BB962C8B-B14F-4D97-AF65-F5344CB8AC3E}">
        <p14:creationId xmlns:p14="http://schemas.microsoft.com/office/powerpoint/2010/main" val="1236427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700" dirty="0"/>
              <a:t>Configure log levels per category in </a:t>
            </a:r>
            <a:r>
              <a:rPr lang="en-US" sz="1700" b="1" dirty="0">
                <a:latin typeface="Consolas"/>
              </a:rPr>
              <a:t>appsettings.json</a:t>
            </a:r>
            <a:r>
              <a:rPr lang="en-US" sz="1700" dirty="0"/>
              <a:t>: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"Logging": {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"LogLevel": {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  "Default": "Information",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  "Microsoft.AspNetCore": "Warning",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  "MyApp.Payments": "Debug"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} }</a:t>
            </a:r>
          </a:p>
          <a:p>
            <a:pPr>
              <a:buNone/>
            </a:pPr>
            <a:endParaRPr lang="en-US" sz="600"/>
          </a:p>
          <a:p>
            <a:pPr marL="342900" indent="-342900">
              <a:buFont typeface="Arial"/>
              <a:buChar char="•"/>
            </a:pPr>
            <a:r>
              <a:rPr lang="en-US" sz="1700" dirty="0"/>
              <a:t>Most-specific category wins (longest prefix match)</a:t>
            </a:r>
          </a:p>
          <a:p>
            <a:pPr marL="342900" indent="-342900">
              <a:buFont typeface="Arial"/>
              <a:buChar char="•"/>
            </a:pPr>
            <a:r>
              <a:rPr lang="en-US" sz="1700" dirty="0"/>
              <a:t>Reload-on-change supported with IOptionsMonitor</a:t>
            </a:r>
          </a:p>
          <a:p>
            <a:pPr>
              <a:buNone/>
            </a:pPr>
            <a:r>
              <a:rPr lang="en-US" sz="1500" i="1" dirty="0">
                <a:solidFill>
                  <a:srgbClr val="42BA97"/>
                </a:solidFill>
              </a:rPr>
              <a:t>💡 Tame noisy framework logs by setting Microsoft.* to Warning.</a:t>
            </a:r>
          </a:p>
        </p:txBody>
      </p:sp>
    </p:spTree>
    <p:extLst>
      <p:ext uri="{BB962C8B-B14F-4D97-AF65-F5344CB8AC3E}">
        <p14:creationId xmlns:p14="http://schemas.microsoft.com/office/powerpoint/2010/main" val="4084871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ILogger&lt;T&gt;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700" dirty="0"/>
              <a:t>Inject </a:t>
            </a:r>
            <a:r>
              <a:rPr lang="en-US" sz="1700" b="1" dirty="0">
                <a:latin typeface="Consolas"/>
              </a:rPr>
              <a:t>ILogger&lt;T&gt;</a:t>
            </a:r>
            <a:r>
              <a:rPr lang="en-US" sz="1700" dirty="0"/>
              <a:t> — category = T's full name.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public class OrderController(ILogger&lt;OrderController&gt; log) {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public IActionResult Get(int id) {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  log.LogInformation("Fetching order {OrderId}", id);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  try { ... }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  catch (Exception ex) { log.LogError(ex, "Failed {OrderId}", id); }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} }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700" b="1" dirty="0">
                <a:solidFill>
                  <a:srgbClr val="2683C6"/>
                </a:solidFill>
              </a:rPr>
              <a:t>Structured logging</a:t>
            </a:r>
            <a:r>
              <a:rPr lang="en-US" sz="1700" dirty="0"/>
              <a:t> — use </a:t>
            </a:r>
            <a:r>
              <a:rPr lang="en-US" sz="1700" dirty="0">
                <a:latin typeface="Consolas"/>
              </a:rPr>
              <a:t>{OrderId}</a:t>
            </a:r>
            <a:r>
              <a:rPr lang="en-US" sz="1700" dirty="0"/>
              <a:t>, not string interpolation. Properties become searchable in Seq/Splunk.</a:t>
            </a:r>
          </a:p>
        </p:txBody>
      </p:sp>
    </p:spTree>
    <p:extLst>
      <p:ext uri="{BB962C8B-B14F-4D97-AF65-F5344CB8AC3E}">
        <p14:creationId xmlns:p14="http://schemas.microsoft.com/office/powerpoint/2010/main" val="3202306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1306-5B6F-6FEF-DFA4-126F422CB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Log Levels Deep-Dive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39DDE-D6F8-765D-6944-B54B09F30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The Six Levels (least → most severe)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C7254E"/>
                </a:solidFill>
              </a:rPr>
              <a:t>Trace</a:t>
            </a:r>
            <a:r>
              <a:rPr lang="en-US" sz="1600" dirty="0"/>
              <a:t> — most verbose; method entry/exit, loop iterations (dev only)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C7254E"/>
                </a:solidFill>
              </a:rPr>
              <a:t>Debug</a:t>
            </a:r>
            <a:r>
              <a:rPr lang="en-US" sz="1600" dirty="0"/>
              <a:t> — diagnostic info useful while developing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C7254E"/>
                </a:solidFill>
              </a:rPr>
              <a:t>Information</a:t>
            </a:r>
            <a:r>
              <a:rPr lang="en-US" sz="1600" dirty="0"/>
              <a:t> — normal app flow ("User 42 logged in")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C7254E"/>
                </a:solidFill>
              </a:rPr>
              <a:t>Warning</a:t>
            </a:r>
            <a:r>
              <a:rPr lang="en-US" sz="1600" dirty="0"/>
              <a:t> — unexpected but recoverable ("retry succeeded after 2 attempts")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C7254E"/>
                </a:solidFill>
              </a:rPr>
              <a:t>Error</a:t>
            </a:r>
            <a:r>
              <a:rPr lang="en-US" sz="1600" dirty="0"/>
              <a:t> — current operation failed but app continues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solidFill>
                  <a:srgbClr val="C7254E"/>
                </a:solidFill>
              </a:rPr>
              <a:t>Critical</a:t>
            </a:r>
            <a:r>
              <a:rPr lang="en-US" sz="1600" dirty="0"/>
              <a:t> — app is going down (DB unreachable, out of memory)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Typical Defaults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Development → </a:t>
            </a:r>
            <a:r>
              <a:rPr lang="en-US" sz="1500" dirty="0">
                <a:latin typeface="Consolas"/>
              </a:rPr>
              <a:t>Debug</a:t>
            </a:r>
            <a:r>
              <a:rPr lang="en-US" sz="1500" dirty="0"/>
              <a:t>;  Production → </a:t>
            </a:r>
            <a:r>
              <a:rPr lang="en-US" sz="1500" dirty="0">
                <a:latin typeface="Consolas"/>
              </a:rPr>
              <a:t>Information</a:t>
            </a:r>
            <a:r>
              <a:rPr lang="en-US" sz="1500" dirty="0"/>
              <a:t> or </a:t>
            </a:r>
            <a:r>
              <a:rPr lang="en-US" sz="1500" dirty="0">
                <a:latin typeface="Consolas"/>
              </a:rPr>
              <a:t>Warning</a:t>
            </a:r>
          </a:p>
          <a:p>
            <a:pPr>
              <a:buNone/>
            </a:pPr>
            <a:r>
              <a:rPr lang="en-US" sz="1500" i="1" dirty="0">
                <a:solidFill>
                  <a:srgbClr val="42BA97"/>
                </a:solidFill>
              </a:rPr>
              <a:t>💡 Rule of thumb: if an on-call engineer should be paged, it's Error or Critical.</a:t>
            </a:r>
          </a:p>
        </p:txBody>
      </p:sp>
    </p:spTree>
    <p:extLst>
      <p:ext uri="{BB962C8B-B14F-4D97-AF65-F5344CB8AC3E}">
        <p14:creationId xmlns:p14="http://schemas.microsoft.com/office/powerpoint/2010/main" val="3039930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18AEE-5D1A-A942-7A90-C09617C0B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🔬 Lab 3: Structured Logging in a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CAD53-64BF-15FD-CD20-D7B8741D7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700" b="1" dirty="0">
                <a:solidFill>
                  <a:srgbClr val="2683C6"/>
                </a:solidFill>
              </a:rPr>
              <a:t>🎯 Goal</a:t>
            </a:r>
          </a:p>
          <a:p>
            <a:pPr>
              <a:buNone/>
            </a:pPr>
            <a:r>
              <a:rPr lang="en-US" sz="1600" dirty="0"/>
              <a:t>Inject </a:t>
            </a:r>
            <a:r>
              <a:rPr lang="en-US" sz="1600" dirty="0">
                <a:latin typeface="Consolas"/>
              </a:rPr>
              <a:t>ILogger&lt;T&gt;</a:t>
            </a:r>
            <a:r>
              <a:rPr lang="en-US" sz="1600" dirty="0"/>
              <a:t> into a controller and emit structured logs at three levels.</a:t>
            </a:r>
          </a:p>
          <a:p>
            <a:pPr>
              <a:buNone/>
            </a:pPr>
            <a:r>
              <a:rPr lang="en-US" sz="1700" b="1" dirty="0">
                <a:solidFill>
                  <a:srgbClr val="2683C6"/>
                </a:solidFill>
              </a:rPr>
              <a:t>Steps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500" dirty="0"/>
              <a:t>Add a constructor parameter </a:t>
            </a:r>
            <a:r>
              <a:rPr lang="en-US" sz="1500" dirty="0">
                <a:latin typeface="Consolas"/>
              </a:rPr>
              <a:t>ILogger&lt;ProductsController&gt; logger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500" dirty="0"/>
              <a:t>Inside </a:t>
            </a:r>
            <a:r>
              <a:rPr lang="en-US" sz="1500" dirty="0">
                <a:latin typeface="Consolas"/>
              </a:rPr>
              <a:t>GetById(int id)</a:t>
            </a:r>
            <a:r>
              <a:rPr lang="en-US" sz="1500" dirty="0"/>
              <a:t>, log structured messages: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logger.LogInformation("Fetching product {ProductId}", id);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logger.LogWarning("Product {ProductId} not found", id);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logger.LogError(ex, "Failed to load {ProductId}", id);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500" dirty="0"/>
              <a:t>Run the app — </a:t>
            </a:r>
            <a:r>
              <a:rPr lang="en-US" sz="1500" dirty="0">
                <a:latin typeface="Consolas"/>
              </a:rPr>
              <a:t>dotnet run</a:t>
            </a:r>
            <a:r>
              <a:rPr lang="en-US" sz="1500" dirty="0"/>
              <a:t> — and hit </a:t>
            </a:r>
            <a:r>
              <a:rPr lang="en-US" sz="1500" dirty="0">
                <a:latin typeface="Consolas"/>
              </a:rPr>
              <a:t>/api/products/1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500" dirty="0"/>
              <a:t>Confirm structured output in console — note the placeholder names</a:t>
            </a:r>
          </a:p>
          <a:p>
            <a:pPr>
              <a:buNone/>
            </a:pPr>
            <a:r>
              <a:rPr lang="en-US" sz="1700" b="1" dirty="0">
                <a:solidFill>
                  <a:srgbClr val="2683C6"/>
                </a:solidFill>
              </a:rPr>
              <a:t>🏆 Challenge</a:t>
            </a:r>
          </a:p>
          <a:p>
            <a:pPr>
              <a:buNone/>
            </a:pPr>
            <a:r>
              <a:rPr lang="en-US" sz="1500" dirty="0"/>
              <a:t>Wrap each request in a </a:t>
            </a:r>
            <a:r>
              <a:rPr lang="en-US" sz="1500" dirty="0">
                <a:latin typeface="Consolas"/>
              </a:rPr>
              <a:t>using (logger.BeginScope(...))</a:t>
            </a:r>
            <a:r>
              <a:rPr lang="en-US" sz="1500" dirty="0"/>
              <a:t> to attach a correlation ID.</a:t>
            </a:r>
          </a:p>
        </p:txBody>
      </p:sp>
    </p:spTree>
    <p:extLst>
      <p:ext uri="{BB962C8B-B14F-4D97-AF65-F5344CB8AC3E}">
        <p14:creationId xmlns:p14="http://schemas.microsoft.com/office/powerpoint/2010/main" val="3215085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17315-4E9C-C882-975E-D15FD1907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✅ Knowledge Check: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60F6F-9C02-A1E2-1180-860670B3C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28600" indent="-228600">
              <a:buFont typeface="Arial"/>
              <a:buAutoNum type="arabicPeriod"/>
            </a:pPr>
            <a:r>
              <a:rPr lang="en-US" sz="1700" b="1" dirty="0"/>
              <a:t>Which log level should you use for "User 42 logged in"?</a:t>
            </a:r>
          </a:p>
          <a:p>
            <a:pPr marL="457200" indent="0">
              <a:buNone/>
            </a:pPr>
            <a:r>
              <a:rPr lang="en-US" sz="1500" dirty="0"/>
              <a:t>(a) Trace   (b) Information   (c) Warning   (d) Critical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700" b="1" dirty="0"/>
              <a:t>What does {OrderId} in </a:t>
            </a:r>
            <a:r>
              <a:rPr lang="en-US" sz="1700" b="1" dirty="0">
                <a:latin typeface="Consolas"/>
              </a:rPr>
              <a:t>LogInformation("Order {OrderId}", id)</a:t>
            </a:r>
            <a:r>
              <a:rPr lang="en-US" sz="1700" b="1" dirty="0"/>
              <a:t> do?</a:t>
            </a:r>
          </a:p>
          <a:p>
            <a:pPr marL="457200" indent="0">
              <a:buNone/>
            </a:pPr>
            <a:r>
              <a:rPr lang="en-US" sz="1500" dirty="0"/>
              <a:t>(a) Pure string substitution   (b) Captures a named structured property</a:t>
            </a:r>
          </a:p>
          <a:p>
            <a:pPr marL="457200" indent="0">
              <a:buNone/>
            </a:pPr>
            <a:r>
              <a:rPr lang="en-US" sz="1500" dirty="0"/>
              <a:t>(c) Validates the value   (d) Encrypts the value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700" b="1" dirty="0"/>
              <a:t>Where do you configure log levels for production?</a:t>
            </a:r>
          </a:p>
          <a:p>
            <a:pPr marL="457200" indent="0">
              <a:buNone/>
            </a:pPr>
            <a:r>
              <a:rPr lang="en-US" sz="1500" dirty="0"/>
              <a:t>(a) Program.cs only   (b) appsettings.Production.json   (c) Environment variables   (d) Any of the above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700" b="1" dirty="0"/>
              <a:t>Critical-level logs should be used when…</a:t>
            </a:r>
          </a:p>
          <a:p>
            <a:pPr marL="457200" indent="0">
              <a:buNone/>
            </a:pPr>
            <a:r>
              <a:rPr lang="en-US" sz="1500" dirty="0"/>
              <a:t>(a) A request returns 404   (b) A retry succeeds</a:t>
            </a:r>
          </a:p>
          <a:p>
            <a:pPr marL="457200" indent="0">
              <a:buNone/>
            </a:pPr>
            <a:r>
              <a:rPr lang="en-US" sz="1500" dirty="0"/>
              <a:t>(c) The app is shutting down due to fatal error   (d) A debug breakpoint is hit</a:t>
            </a:r>
          </a:p>
          <a:p>
            <a:pPr>
              <a:buNone/>
            </a:pPr>
            <a:r>
              <a:rPr lang="en-US" sz="1400" i="1" dirty="0">
                <a:solidFill>
                  <a:srgbClr val="42BA97"/>
                </a:solidFill>
              </a:rPr>
              <a:t>Answers: 1-b, 2-b, 3-d, 4-c</a:t>
            </a:r>
          </a:p>
        </p:txBody>
      </p:sp>
    </p:spTree>
    <p:extLst>
      <p:ext uri="{BB962C8B-B14F-4D97-AF65-F5344CB8AC3E}">
        <p14:creationId xmlns:p14="http://schemas.microsoft.com/office/powerpoint/2010/main" val="1169333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441A-133C-F3BA-53A9-D38AEBEA5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💬 Discussion: Choosing Log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0245F-D99D-A92A-60CB-34D0B8656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700" b="1" dirty="0">
                <a:solidFill>
                  <a:srgbClr val="2683C6"/>
                </a:solidFill>
              </a:rPr>
              <a:t>Discuss in pairs or as a group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600" dirty="0"/>
              <a:t>A user uploads a 5MB image and your service rejects it (10MB limit). What level?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600" dirty="0"/>
              <a:t>Your background job catches an exception, retries 3 times, eventually succeeds. What do you log, and at what level(s)?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600" dirty="0"/>
              <a:t>Should you log every incoming HTTP request? What are the tradeoffs (cost, signal-to-noise, GDPR)?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600" dirty="0"/>
              <a:t>What information should </a:t>
            </a:r>
            <a:r>
              <a:rPr lang="en-US" sz="1600" b="1" dirty="0">
                <a:solidFill>
                  <a:srgbClr val="C7254E"/>
                </a:solidFill>
              </a:rPr>
              <a:t>never</a:t>
            </a:r>
            <a:r>
              <a:rPr lang="en-US" sz="1600" dirty="0"/>
              <a:t> appear in logs? (Passwords, tokens, PII…)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600" dirty="0"/>
              <a:t>How do correlation IDs help you debug a request that touches 5 microservices?</a:t>
            </a:r>
          </a:p>
          <a:p>
            <a:pPr>
              <a:buNone/>
            </a:pPr>
            <a:r>
              <a:rPr lang="en-US" sz="1500" i="1" dirty="0">
                <a:solidFill>
                  <a:srgbClr val="42BA97"/>
                </a:solidFill>
              </a:rPr>
              <a:t>⏱ 10 minutes — share one insight from your group.</a:t>
            </a:r>
          </a:p>
        </p:txBody>
      </p:sp>
    </p:spTree>
    <p:extLst>
      <p:ext uri="{BB962C8B-B14F-4D97-AF65-F5344CB8AC3E}">
        <p14:creationId xmlns:p14="http://schemas.microsoft.com/office/powerpoint/2010/main" val="3697035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23: ASP.NET Core Web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What is ASP.NET Core Web API?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A framework for building HTTP-based services using .NET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Returns </a:t>
            </a:r>
            <a:r>
              <a:rPr lang="en-US" sz="1700" b="1" dirty="0">
                <a:solidFill>
                  <a:srgbClr val="C7254E"/>
                </a:solidFill>
              </a:rPr>
              <a:t>data</a:t>
            </a:r>
            <a:r>
              <a:rPr lang="en-US" sz="1700" dirty="0"/>
              <a:t> (JSON / XML) — not HTML views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Cross-platform, runs on Windows, Linux, macOS, containers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Why build Web APIs?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Power mobile apps, SPAs (React/Angular), and microservices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Integrate systems across language, platform, and network boundaries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Expose business logic as reusable endpoints</a:t>
            </a:r>
          </a:p>
          <a:p>
            <a:pPr>
              <a:buNone/>
            </a:pPr>
            <a:r>
              <a:rPr lang="en-US" sz="1500" i="1" dirty="0">
                <a:solidFill>
                  <a:srgbClr val="42BA97"/>
                </a:solidFill>
              </a:rPr>
              <a:t>💡 In this module: REST principles, middleware pipeline, controllers, and your first endpoint.</a:t>
            </a:r>
          </a:p>
        </p:txBody>
      </p:sp>
    </p:spTree>
    <p:extLst>
      <p:ext uri="{BB962C8B-B14F-4D97-AF65-F5344CB8AC3E}">
        <p14:creationId xmlns:p14="http://schemas.microsoft.com/office/powerpoint/2010/main" val="1339099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D554-218C-6E00-D3FC-E49981B89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📊 HTTP Request Lifecycle</a:t>
            </a:r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96C3D868-EA6A-4002-991E-C84CABDC81F6}"/>
              </a:ext>
            </a:extLst>
          </p:cNvPr>
          <p:cNvSpPr/>
          <p:nvPr/>
        </p:nvSpPr>
        <p:spPr>
          <a:xfrm>
            <a:off x="698500" y="2286000"/>
            <a:ext cx="1206500" cy="952500"/>
          </a:xfrm>
          <a:prstGeom prst="pentagon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FFFFFF"/>
                </a:solidFill>
              </a:rPr>
              <a:t>Client
Browser / Mobile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21C32222-E504-4B87-B1B3-77B776A1BC66}"/>
              </a:ext>
            </a:extLst>
          </p:cNvPr>
          <p:cNvSpPr/>
          <p:nvPr/>
        </p:nvSpPr>
        <p:spPr>
          <a:xfrm>
            <a:off x="2006600" y="2286000"/>
            <a:ext cx="1206500" cy="952500"/>
          </a:xfrm>
          <a:prstGeom prst="pentagon">
            <a:avLst/>
          </a:prstGeom>
          <a:solidFill>
            <a:srgbClr val="1A5A8E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HTTPS Redirect</a:t>
            </a:r>
          </a:p>
          <a:p>
            <a:pPr algn="ctr">
              <a:buNone/>
            </a:pPr>
            <a:r>
              <a:rPr lang="en-US" sz="900" dirty="0">
                <a:solidFill>
                  <a:srgbClr val="FFFFFF"/>
                </a:solidFill>
              </a:rPr>
              <a:t>UseHttpsRedirection</a:t>
            </a:r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FD769BC0-59A6-4469-8CD7-785F6F9BDF7A}"/>
              </a:ext>
            </a:extLst>
          </p:cNvPr>
          <p:cNvSpPr/>
          <p:nvPr/>
        </p:nvSpPr>
        <p:spPr>
          <a:xfrm>
            <a:off x="3314700" y="2286000"/>
            <a:ext cx="1206500" cy="952500"/>
          </a:xfrm>
          <a:prstGeom prst="pentagon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0A1F2E"/>
                </a:solidFill>
              </a:rPr>
              <a:t>Authentication
UseAuthentication</a:t>
            </a: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1136F850-4E7F-4FE6-871C-9815F5D0C396}"/>
              </a:ext>
            </a:extLst>
          </p:cNvPr>
          <p:cNvSpPr/>
          <p:nvPr/>
        </p:nvSpPr>
        <p:spPr>
          <a:xfrm>
            <a:off x="4622800" y="2286000"/>
            <a:ext cx="1206500" cy="952500"/>
          </a:xfrm>
          <a:prstGeom prst="pentagon">
            <a:avLst/>
          </a:prstGeom>
          <a:solidFill>
            <a:srgbClr val="27CED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0A1F2E"/>
                </a:solidFill>
              </a:rPr>
              <a:t>Authorization
UseAuthorization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9B875667-4E47-4092-9CD5-FE5AF7DAAAF3}"/>
              </a:ext>
            </a:extLst>
          </p:cNvPr>
          <p:cNvSpPr/>
          <p:nvPr/>
        </p:nvSpPr>
        <p:spPr>
          <a:xfrm>
            <a:off x="5930900" y="2286000"/>
            <a:ext cx="1206500" cy="952500"/>
          </a:xfrm>
          <a:prstGeom prst="pentagon">
            <a:avLst/>
          </a:prstGeom>
          <a:solidFill>
            <a:srgbClr val="42BA9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100" b="1">
                <a:solidFill>
                  <a:srgbClr val="0A1F2E"/>
                </a:solidFill>
              </a:rPr>
              <a:t>Routing
UseRouting / MapControllers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DA41FF14-4860-496D-8C3E-D94FC55B97BB}"/>
              </a:ext>
            </a:extLst>
          </p:cNvPr>
          <p:cNvSpPr/>
          <p:nvPr/>
        </p:nvSpPr>
        <p:spPr>
          <a:xfrm>
            <a:off x="7239000" y="2286000"/>
            <a:ext cx="1206500" cy="952500"/>
          </a:xfrm>
          <a:prstGeom prst="pentagon">
            <a:avLst/>
          </a:prstGeom>
          <a:solidFill>
            <a:srgbClr val="285E3C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Controller</a:t>
            </a:r>
          </a:p>
          <a:p>
            <a:pPr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Action method runs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AB224594-5D0F-4B03-9C19-7FEA0B367A21}"/>
              </a:ext>
            </a:extLst>
          </p:cNvPr>
          <p:cNvSpPr/>
          <p:nvPr/>
        </p:nvSpPr>
        <p:spPr>
          <a:xfrm>
            <a:off x="698500" y="3873500"/>
            <a:ext cx="7747000" cy="508000"/>
          </a:xfrm>
          <a:prstGeom prst="leftArrow">
            <a:avLst/>
          </a:prstGeom>
          <a:solidFill>
            <a:srgbClr val="DFE3E5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335B74"/>
                </a:solidFill>
              </a:rPr>
              <a:t>Response flows back through middleware (in reverse)</a:t>
            </a:r>
            <a:endParaRPr lang="en-IN" sz="1400" b="1">
              <a:solidFill>
                <a:srgbClr val="335B7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C6D1AB-734B-43CF-A043-D0896B273887}"/>
              </a:ext>
            </a:extLst>
          </p:cNvPr>
          <p:cNvSpPr txBox="1"/>
          <p:nvPr/>
        </p:nvSpPr>
        <p:spPr>
          <a:xfrm>
            <a:off x="762000" y="4635500"/>
            <a:ext cx="762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335B74"/>
                </a:solidFill>
              </a:rPr>
              <a:t>Each middleware can: handle the request, modify it, or short-circuit.
Exception Handler should be FIRST so it can catch errors from anything downstream.
Static Files comes BEFORE Routing for fast asset delivery.</a:t>
            </a:r>
            <a:endParaRPr lang="en-IN" sz="1500">
              <a:solidFill>
                <a:srgbClr val="335B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083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RESTful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REST = Representational State Transfer</a:t>
            </a:r>
          </a:p>
          <a:p>
            <a:pPr>
              <a:buNone/>
            </a:pPr>
            <a:r>
              <a:rPr lang="en-US" sz="1600" dirty="0"/>
              <a:t>An architectural style for designing networked applications.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The Six REST Constraints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Client-Server</a:t>
            </a:r>
            <a:r>
              <a:rPr lang="en-US" sz="1600" dirty="0"/>
              <a:t> — separation of concerns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Stateless</a:t>
            </a:r>
            <a:r>
              <a:rPr lang="en-US" sz="1600" dirty="0"/>
              <a:t> — each request carries all info needed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Cacheable</a:t>
            </a:r>
            <a:r>
              <a:rPr lang="en-US" sz="1600" dirty="0"/>
              <a:t> — responses indicate cacheability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Uniform Interface</a:t>
            </a:r>
            <a:r>
              <a:rPr lang="en-US" sz="1600" dirty="0"/>
              <a:t> — resources + standard verbs (GET/POST/PUT/DELETE)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Layered System</a:t>
            </a:r>
            <a:r>
              <a:rPr lang="en-US" sz="1600" dirty="0"/>
              <a:t> — intermediaries are invisible to client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Code on Demand</a:t>
            </a:r>
            <a:r>
              <a:rPr lang="en-US" sz="1600" dirty="0"/>
              <a:t> (optional)</a:t>
            </a:r>
          </a:p>
          <a:p>
            <a:pPr>
              <a:buNone/>
            </a:pPr>
            <a:r>
              <a:rPr lang="en-US" sz="1500" i="1" dirty="0">
                <a:solidFill>
                  <a:srgbClr val="42BA97"/>
                </a:solidFill>
              </a:rPr>
              <a:t>💡 Stateless is the one that trips most newcomers up.</a:t>
            </a:r>
          </a:p>
        </p:txBody>
      </p:sp>
    </p:spTree>
    <p:extLst>
      <p:ext uri="{BB962C8B-B14F-4D97-AF65-F5344CB8AC3E}">
        <p14:creationId xmlns:p14="http://schemas.microsoft.com/office/powerpoint/2010/main" val="2125439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07B98-27CC-4939-3F21-F5C31363E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📊 REST Resource Model: Verbs × CRUD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A903E-855A-4574-94FD-54E95288E48D}"/>
              </a:ext>
            </a:extLst>
          </p:cNvPr>
          <p:cNvSpPr txBox="1"/>
          <p:nvPr/>
        </p:nvSpPr>
        <p:spPr>
          <a:xfrm>
            <a:off x="457200" y="2133600"/>
            <a:ext cx="822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335B74"/>
                </a:solidFill>
              </a:rPr>
              <a:t>Resource: /api/products  •  Each HTTP verb maps to a CRUD operation</a:t>
            </a:r>
            <a:endParaRPr lang="en-IN" sz="1400" i="1">
              <a:solidFill>
                <a:srgbClr val="335B74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6EB98B-DA21-4BD2-B212-79CBD970D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256176"/>
              </p:ext>
            </p:extLst>
          </p:nvPr>
        </p:nvGraphicFramePr>
        <p:xfrm>
          <a:off x="457200" y="2489200"/>
          <a:ext cx="82296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4844123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76317763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52713216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228419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solidFill>
                            <a:srgbClr val="FFFFFF"/>
                          </a:solidFill>
                        </a:rPr>
                        <a:t>HTTP Verb</a:t>
                      </a:r>
                    </a:p>
                  </a:txBody>
                  <a:tcPr anchor="ctr">
                    <a:solidFill>
                      <a:srgbClr val="335B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solidFill>
                            <a:srgbClr val="FFFFFF"/>
                          </a:solidFill>
                        </a:rPr>
                        <a:t>URL Pattern</a:t>
                      </a:r>
                    </a:p>
                  </a:txBody>
                  <a:tcPr anchor="ctr">
                    <a:solidFill>
                      <a:srgbClr val="335B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solidFill>
                            <a:srgbClr val="FFFFFF"/>
                          </a:solidFill>
                        </a:rPr>
                        <a:t>CRUD</a:t>
                      </a:r>
                    </a:p>
                  </a:txBody>
                  <a:tcPr anchor="ctr">
                    <a:solidFill>
                      <a:srgbClr val="335B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solidFill>
                            <a:srgbClr val="FFFFFF"/>
                          </a:solidFill>
                        </a:rPr>
                        <a:t>Typical Status</a:t>
                      </a:r>
                    </a:p>
                  </a:txBody>
                  <a:tcPr anchor="ctr">
                    <a:solidFill>
                      <a:srgbClr val="335B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72229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GET</a:t>
                      </a:r>
                    </a:p>
                  </a:txBody>
                  <a:tcPr anchor="ctr"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/>
                        <a:t>/api/products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/>
                        <a:t>Read 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/>
                        <a:t>200 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31692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GET</a:t>
                      </a:r>
                    </a:p>
                  </a:txBody>
                  <a:tcPr anchor="ctr">
                    <a:solidFill>
                      <a:srgbClr val="1CAD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/>
                        <a:t>/api/products/{id}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/>
                        <a:t>Read 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/>
                        <a:t>200 OK / 404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10065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POST</a:t>
                      </a:r>
                    </a:p>
                  </a:txBody>
                  <a:tcPr anchor="ctr">
                    <a:solidFill>
                      <a:srgbClr val="42BA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/>
                        <a:t>/api/products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/>
                        <a:t>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/>
                        <a:t>201 Created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96636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PUT</a:t>
                      </a:r>
                    </a:p>
                  </a:txBody>
                  <a:tcPr anchor="ctr">
                    <a:solidFill>
                      <a:srgbClr val="2683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/>
                        <a:t>/api/products/{id}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/>
                        <a:t>Update (full)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/>
                        <a:t>200 / 204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06915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DELETE</a:t>
                      </a:r>
                    </a:p>
                  </a:txBody>
                  <a:tcPr anchor="ctr">
                    <a:solidFill>
                      <a:srgbClr val="C725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/>
                        <a:t>/api/products/{id}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/>
                        <a:t>204 No 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65219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52BF2FF-DE83-483B-830A-1742A2A1D596}"/>
              </a:ext>
            </a:extLst>
          </p:cNvPr>
          <p:cNvSpPr txBox="1"/>
          <p:nvPr/>
        </p:nvSpPr>
        <p:spPr>
          <a:xfrm>
            <a:off x="457200" y="56642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42BA97"/>
                </a:solidFill>
              </a:rPr>
              <a:t>💡 Idempotency: GET/PUT/DELETE are safe to retry. POST is NOT.</a:t>
            </a:r>
            <a:endParaRPr lang="en-IN" sz="1500" i="1">
              <a:solidFill>
                <a:srgbClr val="42BA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90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API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Anatomy of a Web API Call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GET https://api.shop.com/products/42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Accept: application/json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Authorization: Bearer eyJhbGc...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Response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200 OK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{ "id": 42, "name": "Coffee", "price": 9.99 }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Key Characteristics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Language-agnostic — any client that speaks HTTP can call it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Versioned (e.g. </a:t>
            </a:r>
            <a:r>
              <a:rPr lang="en-US" sz="1600" dirty="0">
                <a:latin typeface="Consolas"/>
              </a:rPr>
              <a:t>/v1/products</a:t>
            </a:r>
            <a:r>
              <a:rPr lang="en-US" sz="1600" dirty="0"/>
              <a:t>) and discoverable via OpenAPI/Swagger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Secured with tokens (JWT, OAuth2), HTTPS, CORS policies</a:t>
            </a:r>
          </a:p>
        </p:txBody>
      </p:sp>
    </p:spTree>
    <p:extLst>
      <p:ext uri="{BB962C8B-B14F-4D97-AF65-F5344CB8AC3E}">
        <p14:creationId xmlns:p14="http://schemas.microsoft.com/office/powerpoint/2010/main" val="1724927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Service vs Web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Side-by-Side Comparison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Protocol</a:t>
            </a:r>
            <a:r>
              <a:rPr lang="en-US" sz="1600" dirty="0"/>
              <a:t> — Web Service: SOAP over HTTP/SMTP  |  Web API: HTTP only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Format</a:t>
            </a:r>
            <a:r>
              <a:rPr lang="en-US" sz="1600" dirty="0"/>
              <a:t> — SOAP: XML (verbose)  |  Web API: JSON, XML, custom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Contract</a:t>
            </a:r>
            <a:r>
              <a:rPr lang="en-US" sz="1600" dirty="0"/>
              <a:t> — SOAP: WSDL (strict)  |  Web API: OpenAPI/Swagger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Style</a:t>
            </a:r>
            <a:r>
              <a:rPr lang="en-US" sz="1600" dirty="0"/>
              <a:t> — SOAP: RPC-like operations  |  Web API: REST resources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Payload</a:t>
            </a:r>
            <a:r>
              <a:rPr lang="en-US" sz="1600" dirty="0"/>
              <a:t> — SOAP: heavier (envelope + headers)  |  Web API: lightweight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Caching</a:t>
            </a:r>
            <a:r>
              <a:rPr lang="en-US" sz="1600" dirty="0"/>
              <a:t> — SOAP: not native  |  Web API: HTTP cache headers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When to pick which?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SOAP: enterprise B2B, banking, formal contracts, WS-Security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Web API (REST): mobile, SPAs, microservices, public APIs — </a:t>
            </a:r>
            <a:r>
              <a:rPr lang="en-US" sz="1600" b="1" dirty="0">
                <a:solidFill>
                  <a:srgbClr val="42BA97"/>
                </a:solidFill>
              </a:rPr>
              <a:t>default choice today</a:t>
            </a:r>
          </a:p>
        </p:txBody>
      </p:sp>
    </p:spTree>
    <p:extLst>
      <p:ext uri="{BB962C8B-B14F-4D97-AF65-F5344CB8AC3E}">
        <p14:creationId xmlns:p14="http://schemas.microsoft.com/office/powerpoint/2010/main" val="2321386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8459A-8335-56D4-588E-1B0466C29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b="1" dirty="0"/>
              <a:t>🔬 Lab 4: Your First GET Endpoint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1012B-BF47-410F-4105-8299EAA91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700" b="1" dirty="0">
                <a:solidFill>
                  <a:srgbClr val="2683C6"/>
                </a:solidFill>
              </a:rPr>
              <a:t>🎯 Goal</a:t>
            </a:r>
          </a:p>
          <a:p>
            <a:pPr>
              <a:buNone/>
            </a:pPr>
            <a:r>
              <a:rPr lang="en-US" sz="1600" dirty="0"/>
              <a:t>Create a Web API project and expose a GET endpoint that returns a list of products.</a:t>
            </a:r>
          </a:p>
          <a:p>
            <a:pPr>
              <a:buNone/>
            </a:pPr>
            <a:r>
              <a:rPr lang="en-US" sz="1700" b="1" dirty="0">
                <a:solidFill>
                  <a:srgbClr val="2683C6"/>
                </a:solidFill>
              </a:rPr>
              <a:t>Steps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500" dirty="0">
                <a:latin typeface="Consolas"/>
              </a:rPr>
              <a:t>dotnet new webapi -n ShopApi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500" dirty="0"/>
              <a:t>Add a </a:t>
            </a:r>
            <a:r>
              <a:rPr lang="en-US" sz="1500" dirty="0">
                <a:latin typeface="Consolas"/>
              </a:rPr>
              <a:t>Product</a:t>
            </a:r>
            <a:r>
              <a:rPr lang="en-US" sz="1500" dirty="0"/>
              <a:t> model (Id, Name, Price)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500" dirty="0"/>
              <a:t>Add </a:t>
            </a:r>
            <a:r>
              <a:rPr lang="en-US" sz="1500" dirty="0">
                <a:latin typeface="Consolas"/>
              </a:rPr>
              <a:t>ProductsController</a:t>
            </a:r>
            <a:r>
              <a:rPr lang="en-US" sz="1500" dirty="0"/>
              <a:t> with </a:t>
            </a:r>
            <a:r>
              <a:rPr lang="en-US" sz="1500" dirty="0">
                <a:latin typeface="Consolas"/>
              </a:rPr>
              <a:t>[ApiController]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[HttpGet]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public IEnumerable&lt;Product&gt; GetAll() =&gt; _products;</a:t>
            </a:r>
          </a:p>
          <a:p>
            <a:pPr marL="285750" indent="-285750">
              <a:buFont typeface="Arial"/>
              <a:buAutoNum type="arabicPeriod" startAt="4"/>
            </a:pPr>
            <a:r>
              <a:rPr lang="en-US" sz="1500" dirty="0"/>
              <a:t>Run </a:t>
            </a:r>
            <a:r>
              <a:rPr lang="en-US" sz="1500" dirty="0">
                <a:latin typeface="Consolas"/>
              </a:rPr>
              <a:t>dotnet run</a:t>
            </a:r>
            <a:r>
              <a:rPr lang="en-US" sz="1500" dirty="0"/>
              <a:t>, browse </a:t>
            </a:r>
            <a:r>
              <a:rPr lang="en-US" sz="1500" dirty="0">
                <a:latin typeface="Consolas"/>
              </a:rPr>
              <a:t>/api/products</a:t>
            </a:r>
          </a:p>
          <a:p>
            <a:pPr>
              <a:buNone/>
            </a:pPr>
            <a:r>
              <a:rPr lang="en-US" sz="1500" b="1" dirty="0">
                <a:solidFill>
                  <a:srgbClr val="2683C6"/>
                </a:solidFill>
              </a:rPr>
              <a:t>🎯 Challenge: </a:t>
            </a:r>
            <a:r>
              <a:rPr lang="en-US" sz="1500" dirty="0"/>
              <a:t>Add </a:t>
            </a:r>
            <a:r>
              <a:rPr lang="en-US" sz="1500" dirty="0">
                <a:latin typeface="Consolas"/>
              </a:rPr>
              <a:t>GET /api/products/{id}</a:t>
            </a:r>
            <a:r>
              <a:rPr lang="en-US" sz="1500" dirty="0"/>
              <a:t> returning 404 if missing.</a:t>
            </a:r>
          </a:p>
        </p:txBody>
      </p:sp>
    </p:spTree>
    <p:extLst>
      <p:ext uri="{BB962C8B-B14F-4D97-AF65-F5344CB8AC3E}">
        <p14:creationId xmlns:p14="http://schemas.microsoft.com/office/powerpoint/2010/main" val="3088184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What is Middleware?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Software components assembled into a </a:t>
            </a:r>
            <a:r>
              <a:rPr lang="en-US" sz="1700" b="1" dirty="0"/>
              <a:t>request pipeline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Each component can: handle the request, pass it on, or short-circuit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Register Middleware (Program.cs)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var app = builder.Build();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app.UseHttpsRedirection();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app.UseAuthentication();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app.UseAuthorization();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app.MapControllers();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Common Built-in Middleware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Routing, Authentication, Authorization, CORS, Static Files, Exception Handler</a:t>
            </a:r>
          </a:p>
          <a:p>
            <a:pPr>
              <a:buNone/>
            </a:pPr>
            <a:r>
              <a:rPr lang="en-US" sz="1500" i="1" dirty="0">
                <a:solidFill>
                  <a:srgbClr val="42BA97"/>
                </a:solidFill>
              </a:rPr>
              <a:t>💡 Order matters — see the next slide for the pipeline diagram.</a:t>
            </a:r>
          </a:p>
        </p:txBody>
      </p:sp>
    </p:spTree>
    <p:extLst>
      <p:ext uri="{BB962C8B-B14F-4D97-AF65-F5344CB8AC3E}">
        <p14:creationId xmlns:p14="http://schemas.microsoft.com/office/powerpoint/2010/main" val="3603056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F94E5-625E-2230-5FEB-E04D065D5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Middleware Pipeline — Order Matters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016417-A7B5-49C3-8C44-1A0E651C9E78}"/>
              </a:ext>
            </a:extLst>
          </p:cNvPr>
          <p:cNvSpPr/>
          <p:nvPr/>
        </p:nvSpPr>
        <p:spPr>
          <a:xfrm>
            <a:off x="635000" y="2222500"/>
            <a:ext cx="3556000" cy="482600"/>
          </a:xfrm>
          <a:prstGeom prst="rect">
            <a:avLst/>
          </a:prstGeom>
          <a:solidFill>
            <a:srgbClr val="1F445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1. ExceptionHandler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8540B-48A4-4E21-A0DA-851E4E741510}"/>
              </a:ext>
            </a:extLst>
          </p:cNvPr>
          <p:cNvSpPr txBox="1"/>
          <p:nvPr/>
        </p:nvSpPr>
        <p:spPr>
          <a:xfrm>
            <a:off x="4343400" y="2273300"/>
            <a:ext cx="4064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300" i="1">
                <a:solidFill>
                  <a:srgbClr val="335B74"/>
                </a:solidFill>
              </a:rPr>
              <a:t>→ catches all downstream errors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A8CCB757-4AE7-45D2-A5CE-7354EC768213}"/>
              </a:ext>
            </a:extLst>
          </p:cNvPr>
          <p:cNvSpPr/>
          <p:nvPr/>
        </p:nvSpPr>
        <p:spPr>
          <a:xfrm>
            <a:off x="2311400" y="2679700"/>
            <a:ext cx="203200" cy="76200"/>
          </a:xfrm>
          <a:prstGeom prst="downArrow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255754-B0C1-4991-97F0-6AB82D5EA8AA}"/>
              </a:ext>
            </a:extLst>
          </p:cNvPr>
          <p:cNvSpPr/>
          <p:nvPr/>
        </p:nvSpPr>
        <p:spPr>
          <a:xfrm>
            <a:off x="635000" y="2755900"/>
            <a:ext cx="3556000" cy="482600"/>
          </a:xfrm>
          <a:prstGeom prst="rect">
            <a:avLst/>
          </a:prstGeom>
          <a:solidFill>
            <a:srgbClr val="1B5E8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2. HSTS / HTTPS Redirection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869E97-346F-4457-8CBF-ECD30813DBC2}"/>
              </a:ext>
            </a:extLst>
          </p:cNvPr>
          <p:cNvSpPr txBox="1"/>
          <p:nvPr/>
        </p:nvSpPr>
        <p:spPr>
          <a:xfrm>
            <a:off x="4343400" y="2806700"/>
            <a:ext cx="4064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300" i="1">
                <a:solidFill>
                  <a:srgbClr val="335B74"/>
                </a:solidFill>
              </a:rPr>
              <a:t>→ force secure transport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96EC7C2B-71F1-4BC3-98F6-00FD72B74EC6}"/>
              </a:ext>
            </a:extLst>
          </p:cNvPr>
          <p:cNvSpPr/>
          <p:nvPr/>
        </p:nvSpPr>
        <p:spPr>
          <a:xfrm>
            <a:off x="2311400" y="3213100"/>
            <a:ext cx="203200" cy="76200"/>
          </a:xfrm>
          <a:prstGeom prst="downArrow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1F3EAD-4156-4B53-A522-F003101E04BC}"/>
              </a:ext>
            </a:extLst>
          </p:cNvPr>
          <p:cNvSpPr/>
          <p:nvPr/>
        </p:nvSpPr>
        <p:spPr>
          <a:xfrm>
            <a:off x="635000" y="3289300"/>
            <a:ext cx="3556000" cy="482600"/>
          </a:xfrm>
          <a:prstGeom prst="rect">
            <a:avLst/>
          </a:prstGeom>
          <a:solidFill>
            <a:srgbClr val="0F7B85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3. Static Files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1345AA-8CF8-41B0-9DE8-43E182F4F273}"/>
              </a:ext>
            </a:extLst>
          </p:cNvPr>
          <p:cNvSpPr txBox="1"/>
          <p:nvPr/>
        </p:nvSpPr>
        <p:spPr>
          <a:xfrm>
            <a:off x="4343400" y="3340100"/>
            <a:ext cx="4064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300" i="1">
                <a:solidFill>
                  <a:srgbClr val="335B74"/>
                </a:solidFill>
              </a:rPr>
              <a:t>→ short-circuit before routing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15F5025-DE46-4394-8E88-D73BFEF27683}"/>
              </a:ext>
            </a:extLst>
          </p:cNvPr>
          <p:cNvSpPr/>
          <p:nvPr/>
        </p:nvSpPr>
        <p:spPr>
          <a:xfrm>
            <a:off x="2311400" y="3746500"/>
            <a:ext cx="203200" cy="76200"/>
          </a:xfrm>
          <a:prstGeom prst="downArrow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7E4F15-3AFB-45DB-B3BC-78B222CE231B}"/>
              </a:ext>
            </a:extLst>
          </p:cNvPr>
          <p:cNvSpPr/>
          <p:nvPr/>
        </p:nvSpPr>
        <p:spPr>
          <a:xfrm>
            <a:off x="635000" y="3822700"/>
            <a:ext cx="3556000" cy="482600"/>
          </a:xfrm>
          <a:prstGeom prst="rect">
            <a:avLst/>
          </a:prstGeom>
          <a:solidFill>
            <a:srgbClr val="1F5E4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4. Routing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605449-418B-408F-854C-2C3A0C034C48}"/>
              </a:ext>
            </a:extLst>
          </p:cNvPr>
          <p:cNvSpPr txBox="1"/>
          <p:nvPr/>
        </p:nvSpPr>
        <p:spPr>
          <a:xfrm>
            <a:off x="4343400" y="3873500"/>
            <a:ext cx="4064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300" i="1">
                <a:solidFill>
                  <a:srgbClr val="335B74"/>
                </a:solidFill>
              </a:rPr>
              <a:t>→ match URL → endpoint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A8E305A7-DB3E-48B4-9AC2-14CA42510AF4}"/>
              </a:ext>
            </a:extLst>
          </p:cNvPr>
          <p:cNvSpPr/>
          <p:nvPr/>
        </p:nvSpPr>
        <p:spPr>
          <a:xfrm>
            <a:off x="2311400" y="4279900"/>
            <a:ext cx="203200" cy="76200"/>
          </a:xfrm>
          <a:prstGeom prst="downArrow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65E141-3075-44AA-A253-CCD1645984AA}"/>
              </a:ext>
            </a:extLst>
          </p:cNvPr>
          <p:cNvSpPr/>
          <p:nvPr/>
        </p:nvSpPr>
        <p:spPr>
          <a:xfrm>
            <a:off x="635000" y="4356100"/>
            <a:ext cx="3556000" cy="482600"/>
          </a:xfrm>
          <a:prstGeom prst="rect">
            <a:avLst/>
          </a:prstGeom>
          <a:solidFill>
            <a:srgbClr val="1F4A2B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5. CORS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D5247E-32D7-4830-BA16-EFB2BCD10172}"/>
              </a:ext>
            </a:extLst>
          </p:cNvPr>
          <p:cNvSpPr txBox="1"/>
          <p:nvPr/>
        </p:nvSpPr>
        <p:spPr>
          <a:xfrm>
            <a:off x="4343400" y="4406900"/>
            <a:ext cx="4064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300" i="1">
                <a:solidFill>
                  <a:srgbClr val="335B74"/>
                </a:solidFill>
              </a:rPr>
              <a:t>→ between Routing &amp; Auth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8362C758-1C6B-42C3-9BF0-CAFF510557BE}"/>
              </a:ext>
            </a:extLst>
          </p:cNvPr>
          <p:cNvSpPr/>
          <p:nvPr/>
        </p:nvSpPr>
        <p:spPr>
          <a:xfrm>
            <a:off x="2311400" y="4813300"/>
            <a:ext cx="203200" cy="76200"/>
          </a:xfrm>
          <a:prstGeom prst="downArrow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BE35A6-2B68-4835-AA40-2B2C234D017A}"/>
              </a:ext>
            </a:extLst>
          </p:cNvPr>
          <p:cNvSpPr/>
          <p:nvPr/>
        </p:nvSpPr>
        <p:spPr>
          <a:xfrm>
            <a:off x="635000" y="4889500"/>
            <a:ext cx="3556000" cy="482600"/>
          </a:xfrm>
          <a:prstGeom prst="rect">
            <a:avLst/>
          </a:prstGeom>
          <a:solidFill>
            <a:srgbClr val="2E555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6. Authentication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7F3899-E0B9-4B6C-9AA7-D07E9503B7A6}"/>
              </a:ext>
            </a:extLst>
          </p:cNvPr>
          <p:cNvSpPr txBox="1"/>
          <p:nvPr/>
        </p:nvSpPr>
        <p:spPr>
          <a:xfrm>
            <a:off x="4343400" y="4940300"/>
            <a:ext cx="4064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300" i="1">
                <a:solidFill>
                  <a:srgbClr val="335B74"/>
                </a:solidFill>
              </a:rPr>
              <a:t>→ who are you?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7C7676CA-C6BB-4550-B72C-A2BA8591EFC6}"/>
              </a:ext>
            </a:extLst>
          </p:cNvPr>
          <p:cNvSpPr/>
          <p:nvPr/>
        </p:nvSpPr>
        <p:spPr>
          <a:xfrm>
            <a:off x="2311400" y="5346700"/>
            <a:ext cx="203200" cy="76200"/>
          </a:xfrm>
          <a:prstGeom prst="downArrow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E4EA68-7E19-4CCA-83B3-9B7DF3EA8730}"/>
              </a:ext>
            </a:extLst>
          </p:cNvPr>
          <p:cNvSpPr/>
          <p:nvPr/>
        </p:nvSpPr>
        <p:spPr>
          <a:xfrm>
            <a:off x="635000" y="5422900"/>
            <a:ext cx="3556000" cy="482600"/>
          </a:xfrm>
          <a:prstGeom prst="rect">
            <a:avLst/>
          </a:prstGeom>
          <a:solidFill>
            <a:srgbClr val="0D2E4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7. Authorization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9B4D4E-E052-43C5-88B1-C6BE610FBABF}"/>
              </a:ext>
            </a:extLst>
          </p:cNvPr>
          <p:cNvSpPr txBox="1"/>
          <p:nvPr/>
        </p:nvSpPr>
        <p:spPr>
          <a:xfrm>
            <a:off x="4343400" y="5473700"/>
            <a:ext cx="4064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300" i="1">
                <a:solidFill>
                  <a:srgbClr val="335B74"/>
                </a:solidFill>
              </a:rPr>
              <a:t>→ are you allowed?</a:t>
            </a: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A3A1C91-59B5-4F93-9776-75811CFBF946}"/>
              </a:ext>
            </a:extLst>
          </p:cNvPr>
          <p:cNvSpPr/>
          <p:nvPr/>
        </p:nvSpPr>
        <p:spPr>
          <a:xfrm>
            <a:off x="2311400" y="5880100"/>
            <a:ext cx="203200" cy="76200"/>
          </a:xfrm>
          <a:prstGeom prst="downArrow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DDF666-2CE5-462A-980D-C38DB2EA241F}"/>
              </a:ext>
            </a:extLst>
          </p:cNvPr>
          <p:cNvSpPr/>
          <p:nvPr/>
        </p:nvSpPr>
        <p:spPr>
          <a:xfrm>
            <a:off x="635000" y="5956300"/>
            <a:ext cx="3556000" cy="482600"/>
          </a:xfrm>
          <a:prstGeom prst="rect">
            <a:avLst/>
          </a:prstGeom>
          <a:solidFill>
            <a:srgbClr val="0E5A75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8. Endpoints (Controllers)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173AA0-0E78-4E9D-A048-8AD43C51EA68}"/>
              </a:ext>
            </a:extLst>
          </p:cNvPr>
          <p:cNvSpPr txBox="1"/>
          <p:nvPr/>
        </p:nvSpPr>
        <p:spPr>
          <a:xfrm>
            <a:off x="4343400" y="6007100"/>
            <a:ext cx="4064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300" i="1">
                <a:solidFill>
                  <a:srgbClr val="335B74"/>
                </a:solidFill>
              </a:rPr>
              <a:t>→ execute action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DBB7EA-CE7B-4C8C-84CF-ABB3917D2BCF}"/>
              </a:ext>
            </a:extLst>
          </p:cNvPr>
          <p:cNvSpPr txBox="1"/>
          <p:nvPr/>
        </p:nvSpPr>
        <p:spPr>
          <a:xfrm>
            <a:off x="457200" y="6477000"/>
            <a:ext cx="822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>
                <a:solidFill>
                  <a:srgbClr val="42BA97"/>
                </a:solidFill>
              </a:rPr>
              <a:t>💡 Order = order of app.UseXxx() calls in Program.cs. CORS belongs BETWEEN Routing and Authentication.</a:t>
            </a:r>
            <a:endParaRPr lang="en-IN" sz="1300" i="1">
              <a:solidFill>
                <a:srgbClr val="42BA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5229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BBAF3-8D62-F22E-8DBE-74AF8A2B2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b="1" dirty="0"/>
              <a:t>🔬 Lab 5: Custom 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7E60F-0CFA-CA96-AB70-4029DE6E4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700" b="1" dirty="0">
                <a:solidFill>
                  <a:srgbClr val="2683C6"/>
                </a:solidFill>
              </a:rPr>
              <a:t>🎯 Goal</a:t>
            </a:r>
          </a:p>
          <a:p>
            <a:pPr>
              <a:buNone/>
            </a:pPr>
            <a:r>
              <a:rPr lang="en-US" sz="1600" dirty="0"/>
              <a:t>Write middleware that logs every request's method, path, and duration.</a:t>
            </a:r>
          </a:p>
          <a:p>
            <a:pPr>
              <a:buNone/>
            </a:pPr>
            <a:r>
              <a:rPr lang="en-US" sz="1700" b="1" dirty="0">
                <a:solidFill>
                  <a:srgbClr val="2683C6"/>
                </a:solidFill>
              </a:rPr>
              <a:t>Code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app.Use(async (ctx, next) =&gt; {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  var sw = Stopwatch.StartNew();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  await next();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  logger.LogInformation("{Method} {Path} took {Ms}ms",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    ctx.Request.Method, ctx.Request.Path, sw.ElapsedMilliseconds);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});</a:t>
            </a:r>
          </a:p>
          <a:p>
            <a:pPr>
              <a:buNone/>
            </a:pPr>
            <a:r>
              <a:rPr lang="en-US" sz="1500" b="1" dirty="0">
                <a:solidFill>
                  <a:srgbClr val="2683C6"/>
                </a:solidFill>
              </a:rPr>
              <a:t>🎯 Challenge: </a:t>
            </a:r>
            <a:r>
              <a:rPr lang="en-US" sz="1500" dirty="0"/>
              <a:t>Refactor into a class with </a:t>
            </a:r>
            <a:r>
              <a:rPr lang="en-US" sz="1500" dirty="0">
                <a:latin typeface="Consolas"/>
              </a:rPr>
              <a:t>InvokeAsync</a:t>
            </a:r>
            <a:r>
              <a:rPr lang="en-US" sz="1500" dirty="0"/>
              <a:t> and register with </a:t>
            </a:r>
            <a:r>
              <a:rPr lang="en-US" sz="1500" dirty="0">
                <a:latin typeface="Consolas"/>
              </a:rPr>
              <a:t>UseMiddleware&lt;T&gt;()</a:t>
            </a:r>
            <a:r>
              <a:rPr lang="en-US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21895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Typical Web API Project Layout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MyApi/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  ├─ Program.cs         (entry, DI, middleware)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  ├─ appsettings.json   (config)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  ├─ Controllers/       (HTTP endpoints)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  ├─ Models/            (DTOs, entities)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  ├─ Services/          (business logic)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  └─ Data/              (DbContext, repos)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Role of Each Layer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Program.cs</a:t>
            </a:r>
            <a:r>
              <a:rPr lang="en-US" sz="1600" dirty="0"/>
              <a:t> — wires DI, configures middleware, starts host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Controllers</a:t>
            </a:r>
            <a:r>
              <a:rPr lang="en-US" sz="1600" dirty="0"/>
              <a:t> — thin: parse request, call service, shape response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Services</a:t>
            </a:r>
            <a:r>
              <a:rPr lang="en-US" sz="1600" dirty="0"/>
              <a:t> — business rules, validation, orchestration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Data</a:t>
            </a:r>
            <a:r>
              <a:rPr lang="en-US" sz="1600" dirty="0"/>
              <a:t> — persistence (EF Core, Dapper)</a:t>
            </a:r>
          </a:p>
        </p:txBody>
      </p:sp>
    </p:spTree>
    <p:extLst>
      <p:ext uri="{BB962C8B-B14F-4D97-AF65-F5344CB8AC3E}">
        <p14:creationId xmlns:p14="http://schemas.microsoft.com/office/powerpoint/2010/main" val="5620911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D9125-A398-7CFC-6EB2-296A8F47C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b="1" dirty="0"/>
              <a:t>Knowledge Check: Web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81F1A-ADB0-3AEA-091A-223F77AF6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AutoNum type="arabicPeriod"/>
            </a:pPr>
            <a:r>
              <a:rPr lang="en-US" sz="1700" b="1" dirty="0"/>
              <a:t>Which verb is idempotent but NOT safe?</a:t>
            </a:r>
          </a:p>
          <a:p>
            <a:pPr marL="571500" indent="0">
              <a:buNone/>
            </a:pPr>
            <a:r>
              <a:rPr lang="en-US" sz="1500" dirty="0"/>
              <a:t>(a) GET   (b) POST   (c) DELETE   (d) HEAD</a:t>
            </a:r>
          </a:p>
          <a:p>
            <a:pPr marL="285750" indent="-285750">
              <a:buFont typeface="Arial"/>
              <a:buAutoNum type="arabicPeriod" startAt="2"/>
            </a:pPr>
            <a:r>
              <a:rPr lang="en-US" sz="1700" b="1" dirty="0"/>
              <a:t>Middleware order — what runs first?</a:t>
            </a:r>
          </a:p>
          <a:p>
            <a:pPr marL="571500" indent="0">
              <a:buNone/>
            </a:pPr>
            <a:r>
              <a:rPr lang="en-US" sz="1500" dirty="0"/>
              <a:t>(a) Authorization   (b) Routing   (c) HTTPS redirection   (d) Endpoint</a:t>
            </a:r>
          </a:p>
          <a:p>
            <a:pPr marL="285750" indent="-285750">
              <a:buFont typeface="Arial"/>
              <a:buAutoNum type="arabicPeriod" startAt="3"/>
            </a:pPr>
            <a:r>
              <a:rPr lang="en-US" sz="1700" b="1" dirty="0"/>
              <a:t>Status code for a successful POST that creates a resource?</a:t>
            </a:r>
          </a:p>
          <a:p>
            <a:pPr marL="571500" indent="0">
              <a:buNone/>
            </a:pPr>
            <a:r>
              <a:rPr lang="en-US" sz="1500" dirty="0"/>
              <a:t>(a) 200 OK   (b) 201 Created   (c) 202 Accepted   (d) 204 No Content</a:t>
            </a:r>
          </a:p>
          <a:p>
            <a:pPr marL="285750" indent="-285750">
              <a:buFont typeface="Arial"/>
              <a:buAutoNum type="arabicPeriod" startAt="4"/>
            </a:pPr>
            <a:r>
              <a:rPr lang="en-US" sz="1700" b="1" dirty="0"/>
              <a:t>[ApiController] attribute provides:</a:t>
            </a:r>
          </a:p>
          <a:p>
            <a:pPr marL="571500" indent="0">
              <a:buNone/>
            </a:pPr>
            <a:r>
              <a:rPr lang="en-US" sz="1500" dirty="0"/>
              <a:t>(a) Automatic 400 on invalid model   (b) Attribute routing required   (c) Both</a:t>
            </a:r>
          </a:p>
          <a:p>
            <a:pPr>
              <a:buNone/>
            </a:pPr>
            <a:r>
              <a:rPr lang="en-US" sz="1400" i="1" dirty="0">
                <a:solidFill>
                  <a:srgbClr val="42BA97"/>
                </a:solidFill>
              </a:rPr>
              <a:t>Answers: 1-c  •  2-c  •  3-b  •  4-c</a:t>
            </a:r>
          </a:p>
        </p:txBody>
      </p:sp>
    </p:spTree>
    <p:extLst>
      <p:ext uri="{BB962C8B-B14F-4D97-AF65-F5344CB8AC3E}">
        <p14:creationId xmlns:p14="http://schemas.microsoft.com/office/powerpoint/2010/main" val="17439608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AC071-29D6-2FBA-C4E5-00711018B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b="1" dirty="0"/>
              <a:t>💬 Discussion: REST vs RPC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36340-494D-DCEE-1578-BB663025C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AutoNum type="arabicPeriod"/>
            </a:pPr>
            <a:r>
              <a:rPr lang="en-US" sz="1700" b="1" dirty="0"/>
              <a:t>When does REST feel awkward?</a:t>
            </a:r>
          </a:p>
          <a:p>
            <a:pPr marL="571500" indent="0">
              <a:buNone/>
            </a:pPr>
            <a:r>
              <a:rPr lang="en-US" sz="1500" dirty="0"/>
              <a:t>Think about actions that aren't naturally CRUD (e.g. "send email", "approve order", "calculate tax"). How would you model them?</a:t>
            </a:r>
          </a:p>
          <a:p>
            <a:pPr marL="285750" indent="-285750">
              <a:buFont typeface="Arial"/>
              <a:buAutoNum type="arabicPeriod" startAt="2"/>
            </a:pPr>
            <a:r>
              <a:rPr lang="en-US" sz="1700" b="1" dirty="0"/>
              <a:t>Versioning strategy</a:t>
            </a:r>
          </a:p>
          <a:p>
            <a:pPr marL="571500" indent="0">
              <a:buNone/>
            </a:pPr>
            <a:r>
              <a:rPr lang="en-US" sz="1500" dirty="0"/>
              <a:t>URL path (/v1/), header, or query string? What are the trade-offs for clients you don't control?</a:t>
            </a:r>
          </a:p>
          <a:p>
            <a:pPr marL="285750" indent="-285750">
              <a:buFont typeface="Arial"/>
              <a:buAutoNum type="arabicPeriod" startAt="3"/>
            </a:pPr>
            <a:r>
              <a:rPr lang="en-US" sz="1700" b="1" dirty="0"/>
              <a:t>Error responses</a:t>
            </a:r>
          </a:p>
          <a:p>
            <a:pPr marL="571500" indent="0">
              <a:buNone/>
            </a:pPr>
            <a:r>
              <a:rPr lang="en-US" sz="1500" dirty="0"/>
              <a:t>RFC 7807 Problem Details vs custom error envelope — which would you choose for your team?</a:t>
            </a:r>
          </a:p>
          <a:p>
            <a:pPr>
              <a:buNone/>
            </a:pPr>
            <a:r>
              <a:rPr lang="en-US" sz="1400" i="1" dirty="0">
                <a:solidFill>
                  <a:srgbClr val="42BA97"/>
                </a:solidFill>
              </a:rPr>
              <a:t>⏱ 15 minutes — pair up, then share one insight with the group.</a:t>
            </a:r>
          </a:p>
        </p:txBody>
      </p:sp>
    </p:spTree>
    <p:extLst>
      <p:ext uri="{BB962C8B-B14F-4D97-AF65-F5344CB8AC3E}">
        <p14:creationId xmlns:p14="http://schemas.microsoft.com/office/powerpoint/2010/main" val="37948444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24: Routing in Web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What is Routing?</a:t>
            </a:r>
          </a:p>
          <a:p>
            <a:pPr>
              <a:buNone/>
            </a:pPr>
            <a:r>
              <a:rPr lang="en-US" sz="1700" dirty="0"/>
              <a:t>The process of mapping an incoming HTTP request URL to a specific </a:t>
            </a:r>
            <a:r>
              <a:rPr lang="en-US" sz="1700" b="1" dirty="0">
                <a:solidFill>
                  <a:srgbClr val="C7254E"/>
                </a:solidFill>
              </a:rPr>
              <a:t>controller action</a:t>
            </a:r>
            <a:r>
              <a:rPr lang="en-US" sz="1700" dirty="0"/>
              <a:t>.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Example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GET /api/products/42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     ↓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ProductsController.GetById(42)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Two Routing Styles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Conventional</a:t>
            </a:r>
            <a:r>
              <a:rPr lang="en-US" sz="1600" dirty="0"/>
              <a:t> — centralized templates in Program.cs (common in MVC)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Attribute</a:t>
            </a:r>
            <a:r>
              <a:rPr lang="en-US" sz="1600" dirty="0"/>
              <a:t> — </a:t>
            </a:r>
            <a:r>
              <a:rPr lang="en-US" sz="1600" dirty="0">
                <a:latin typeface="Consolas"/>
              </a:rPr>
              <a:t>[Route]</a:t>
            </a:r>
            <a:r>
              <a:rPr lang="en-US" sz="1600" dirty="0"/>
              <a:t> on controller/action (standard for Web API)</a:t>
            </a:r>
          </a:p>
          <a:p>
            <a:pPr>
              <a:buNone/>
            </a:pPr>
            <a:r>
              <a:rPr lang="en-US" sz="1500" i="1" dirty="0">
                <a:solidFill>
                  <a:srgbClr val="42BA97"/>
                </a:solidFill>
              </a:rPr>
              <a:t>💡 We'll focus on attribute routing — it's the recommended approach for Web API.</a:t>
            </a:r>
          </a:p>
        </p:txBody>
      </p:sp>
    </p:spTree>
    <p:extLst>
      <p:ext uri="{BB962C8B-B14F-4D97-AF65-F5344CB8AC3E}">
        <p14:creationId xmlns:p14="http://schemas.microsoft.com/office/powerpoint/2010/main" val="2299564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EAFA-AC6D-21A5-9DB1-1C6B8458C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Conventional vs Attribute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56015-8DAA-F73E-8FC3-B7C56CB3F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Conventional Routing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app.MapControllerRoute(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name: "default",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pattern: "{controller=Home}/{action=Index}/{id?}");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Centralized template in </a:t>
            </a:r>
            <a:r>
              <a:rPr lang="en-US" sz="1500" dirty="0">
                <a:latin typeface="Consolas"/>
              </a:rPr>
              <a:t>Program.cs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Good for MVC apps with predictable URLs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Attribute Routing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[Route("api/[controller]")]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public class OrdersController : ControllerBase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Decentralized — each controller owns its URLs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Standard for Web APIs — clearer REST URLs and verb mapping</a:t>
            </a:r>
          </a:p>
          <a:p>
            <a:pPr>
              <a:buNone/>
            </a:pPr>
            <a:r>
              <a:rPr lang="en-US" sz="1500" i="1" dirty="0">
                <a:solidFill>
                  <a:srgbClr val="42BA97"/>
                </a:solidFill>
              </a:rPr>
              <a:t>💡 You can mix both — but pick one as the primary style per app.</a:t>
            </a:r>
          </a:p>
        </p:txBody>
      </p:sp>
    </p:spTree>
    <p:extLst>
      <p:ext uri="{BB962C8B-B14F-4D97-AF65-F5344CB8AC3E}">
        <p14:creationId xmlns:p14="http://schemas.microsoft.com/office/powerpoint/2010/main" val="7059456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and Action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How Action Selection Works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700" dirty="0"/>
              <a:t>Match URL pattern → find candidate routes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700" dirty="0"/>
              <a:t>Filter by HTTP verb (GET, POST, PUT, DELETE)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700" dirty="0"/>
              <a:t>Check route constraints (e.g. </a:t>
            </a:r>
            <a:r>
              <a:rPr lang="en-US" sz="1700" dirty="0">
                <a:latin typeface="Consolas"/>
              </a:rPr>
              <a:t>{id:int}</a:t>
            </a:r>
            <a:r>
              <a:rPr lang="en-US" sz="1700" dirty="0"/>
              <a:t>)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700" dirty="0"/>
              <a:t>Bind route values to action parameters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700" dirty="0"/>
              <a:t>Invoke the action method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When Multiple Routes Match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More specific routes win over generic ones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Ambiguous matches throw </a:t>
            </a:r>
            <a:r>
              <a:rPr lang="en-US" sz="1600" dirty="0">
                <a:latin typeface="Consolas"/>
              </a:rPr>
              <a:t>AmbiguousMatchException</a:t>
            </a:r>
          </a:p>
          <a:p>
            <a:pPr>
              <a:buNone/>
            </a:pPr>
            <a:r>
              <a:rPr lang="en-US" sz="1500" i="1" dirty="0">
                <a:solidFill>
                  <a:srgbClr val="42BA97"/>
                </a:solidFill>
              </a:rPr>
              <a:t>💡 Add constraints to disambiguate: GET /api/items/42 (int) vs /api/items/coffee (string).</a:t>
            </a:r>
          </a:p>
        </p:txBody>
      </p:sp>
    </p:spTree>
    <p:extLst>
      <p:ext uri="{BB962C8B-B14F-4D97-AF65-F5344CB8AC3E}">
        <p14:creationId xmlns:p14="http://schemas.microsoft.com/office/powerpoint/2010/main" val="21729993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Attribute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Attribute Routing Basics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Place </a:t>
            </a:r>
            <a:r>
              <a:rPr lang="en-US" sz="1600" dirty="0">
                <a:latin typeface="Consolas"/>
              </a:rPr>
              <a:t>[Route]</a:t>
            </a:r>
            <a:r>
              <a:rPr lang="en-US" sz="1600" dirty="0"/>
              <a:t> on the controller, verb attributes on actions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Use tokens: </a:t>
            </a:r>
            <a:r>
              <a:rPr lang="en-US" sz="1600" dirty="0">
                <a:latin typeface="Consolas"/>
              </a:rPr>
              <a:t>[controller]</a:t>
            </a:r>
            <a:r>
              <a:rPr lang="en-US" sz="1600" dirty="0"/>
              <a:t>, </a:t>
            </a:r>
            <a:r>
              <a:rPr lang="en-US" sz="1600" dirty="0">
                <a:latin typeface="Consolas"/>
              </a:rPr>
              <a:t>[action]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[ApiController]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[Route("api/[controller]")]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public class ProductsController : ControllerBase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{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    [HttpGet]            → GET  /api/products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    [HttpGet("{id:int}")] → GET  /api/products/42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    [HttpPost]           → POST /api/products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    [HttpPut("{id}")]    → PUT  /api/products/42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    [HttpDelete("{id}")] → DELETE /api/products/42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492483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41484-D436-ED77-88BC-EDFD6A10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Route Constraints &amp; 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55E02-1588-D623-7763-61F8BB26C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Route Tokens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latin typeface="Consolas"/>
              </a:rPr>
              <a:t>[controller]</a:t>
            </a:r>
            <a:r>
              <a:rPr lang="en-US" sz="1600" dirty="0"/>
              <a:t> — replaced with controller name (without "Controller")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latin typeface="Consolas"/>
              </a:rPr>
              <a:t>[action]</a:t>
            </a:r>
            <a:r>
              <a:rPr lang="en-US" sz="1600" dirty="0"/>
              <a:t> — replaced with action method name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Common Constraints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latin typeface="Consolas"/>
              </a:rPr>
              <a:t>{id:int}</a:t>
            </a:r>
            <a:r>
              <a:rPr lang="en-US" sz="1600" dirty="0"/>
              <a:t> — integer only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latin typeface="Consolas"/>
              </a:rPr>
              <a:t>{id:guid}</a:t>
            </a:r>
            <a:r>
              <a:rPr lang="en-US" sz="1600" dirty="0"/>
              <a:t> — GUID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latin typeface="Consolas"/>
              </a:rPr>
              <a:t>{name:alpha}</a:t>
            </a:r>
            <a:r>
              <a:rPr lang="en-US" sz="1600" dirty="0"/>
              <a:t> — letters only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latin typeface="Consolas"/>
              </a:rPr>
              <a:t>{id:min(1)}</a:t>
            </a:r>
            <a:r>
              <a:rPr lang="en-US" sz="1600" dirty="0"/>
              <a:t>, </a:t>
            </a:r>
            <a:r>
              <a:rPr lang="en-US" sz="1600" dirty="0">
                <a:latin typeface="Consolas"/>
              </a:rPr>
              <a:t>{name:length(2,50)}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latin typeface="Consolas"/>
              </a:rPr>
              <a:t>{id?}</a:t>
            </a:r>
            <a:r>
              <a:rPr lang="en-US" sz="1600" dirty="0"/>
              <a:t> — optional parameter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Example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[HttpGet("{id:int:min(1)}")]  // /api/products/42 ✓  /api/products/abc ✗</a:t>
            </a:r>
          </a:p>
          <a:p>
            <a:pPr>
              <a:buNone/>
            </a:pPr>
            <a:r>
              <a:rPr lang="en-US" sz="1500" i="1" dirty="0">
                <a:solidFill>
                  <a:srgbClr val="42BA97"/>
                </a:solidFill>
              </a:rPr>
              <a:t>💡 Constraints filter routes — they don't validate business rules. Still validate in code.</a:t>
            </a:r>
          </a:p>
        </p:txBody>
      </p:sp>
    </p:spTree>
    <p:extLst>
      <p:ext uri="{BB962C8B-B14F-4D97-AF65-F5344CB8AC3E}">
        <p14:creationId xmlns:p14="http://schemas.microsoft.com/office/powerpoint/2010/main" val="31562651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REST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The Full CRUD Pattern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[HttpGet]                    → List all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[HttpGet("{id:int}")]        → Get one  → 200 / 404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[HttpPost]                   → Create   → 201 + Location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[HttpPut("{id:int}")]        → Update   → 204 / 404</a:t>
            </a:r>
          </a:p>
          <a:p>
            <a:pPr>
              <a:buNone/>
            </a:pPr>
            <a:r>
              <a:rPr lang="en-US" sz="1500" dirty="0">
                <a:latin typeface="Consolas"/>
              </a:rPr>
              <a:t>[HttpDelete("{id:int}")]     → Delete   → 204 / 404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Best Practices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Return </a:t>
            </a:r>
            <a:r>
              <a:rPr lang="en-US" sz="1600" dirty="0">
                <a:latin typeface="Consolas"/>
              </a:rPr>
              <a:t>IActionResult</a:t>
            </a:r>
            <a:r>
              <a:rPr lang="en-US" sz="1600" dirty="0"/>
              <a:t> or </a:t>
            </a:r>
            <a:r>
              <a:rPr lang="en-US" sz="1600" dirty="0">
                <a:latin typeface="Consolas"/>
              </a:rPr>
              <a:t>ActionResult&lt;T&gt;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Use plural nouns: </a:t>
            </a:r>
            <a:r>
              <a:rPr lang="en-US" sz="1600" dirty="0">
                <a:latin typeface="Consolas"/>
              </a:rPr>
              <a:t>/api/products</a:t>
            </a:r>
            <a:r>
              <a:rPr lang="en-US" sz="1600" dirty="0"/>
              <a:t>, not </a:t>
            </a:r>
            <a:r>
              <a:rPr lang="en-US" sz="1600" dirty="0">
                <a:latin typeface="Consolas"/>
              </a:rPr>
              <a:t>/api/getProduct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Validate input with model annotations; </a:t>
            </a:r>
            <a:r>
              <a:rPr lang="en-US" sz="1600" dirty="0">
                <a:latin typeface="Consolas"/>
              </a:rPr>
              <a:t>[ApiController]</a:t>
            </a:r>
            <a:r>
              <a:rPr lang="en-US" sz="1600" dirty="0"/>
              <a:t> auto-returns 400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Document with Swagger / OpenAPI</a:t>
            </a:r>
          </a:p>
        </p:txBody>
      </p:sp>
    </p:spTree>
    <p:extLst>
      <p:ext uri="{BB962C8B-B14F-4D97-AF65-F5344CB8AC3E}">
        <p14:creationId xmlns:p14="http://schemas.microsoft.com/office/powerpoint/2010/main" val="36112573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DF9AD-4675-719D-4B07-9BC377B60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🔬 Lab 6 - CRUD REST API (Part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08E43-80B0-9787-6E6A-22DC1209A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1700" b="1" dirty="0">
                <a:solidFill>
                  <a:srgbClr val="2683C6"/>
                </a:solidFill>
              </a:rPr>
              <a:t>🎯 Goal: Build BooksController with GET + POST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500" dirty="0"/>
              <a:t>Create model </a:t>
            </a:r>
            <a:r>
              <a:rPr lang="en-US" sz="1500" dirty="0">
                <a:latin typeface="Consolas"/>
              </a:rPr>
              <a:t>Book.cs</a:t>
            </a:r>
            <a:r>
              <a:rPr lang="en-US" sz="1500" dirty="0"/>
              <a:t> with </a:t>
            </a:r>
            <a:r>
              <a:rPr lang="en-US" sz="1500" dirty="0">
                <a:latin typeface="Consolas"/>
              </a:rPr>
              <a:t>Id</a:t>
            </a:r>
            <a:r>
              <a:rPr lang="en-US" sz="1500" dirty="0"/>
              <a:t>, </a:t>
            </a:r>
            <a:r>
              <a:rPr lang="en-US" sz="1500" dirty="0">
                <a:latin typeface="Consolas"/>
              </a:rPr>
              <a:t>Title</a:t>
            </a:r>
            <a:r>
              <a:rPr lang="en-US" sz="1500" dirty="0"/>
              <a:t>, </a:t>
            </a:r>
            <a:r>
              <a:rPr lang="en-US" sz="1500" dirty="0">
                <a:latin typeface="Consolas"/>
              </a:rPr>
              <a:t>Author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500" dirty="0"/>
              <a:t>Create </a:t>
            </a:r>
            <a:r>
              <a:rPr lang="en-US" sz="1500" dirty="0">
                <a:latin typeface="Consolas"/>
              </a:rPr>
              <a:t>BooksController</a:t>
            </a:r>
            <a:r>
              <a:rPr lang="en-US" sz="1500" dirty="0"/>
              <a:t> with in-memory </a:t>
            </a:r>
            <a:r>
              <a:rPr lang="en-US" sz="1500" dirty="0">
                <a:latin typeface="Consolas"/>
              </a:rPr>
              <a:t>List&lt;Book&gt;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[ApiController]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[Route("api/[controller]")]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public class BooksController : ControllerBase {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static List&lt;Book&gt; _books = new();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[HttpGet] public IEnumerable&lt;Book&gt; GetAll() =&gt; _books;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[HttpPost] public IActionResult Create(Book b) {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  b.Id = _books.Count + 1; _books.Add(b);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  return CreatedAtAction(nameof(GetAll), new {id=b.Id}, b);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}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}</a:t>
            </a:r>
          </a:p>
          <a:p>
            <a:pPr marL="228600" indent="-228600">
              <a:buFont typeface="Arial"/>
              <a:buAutoNum type="arabicPeriod" startAt="3"/>
            </a:pPr>
            <a:r>
              <a:rPr lang="en-US" sz="1500" dirty="0"/>
              <a:t>Test in Swagger: POST a book, then GET to see it back</a:t>
            </a:r>
          </a:p>
        </p:txBody>
      </p:sp>
    </p:spTree>
    <p:extLst>
      <p:ext uri="{BB962C8B-B14F-4D97-AF65-F5344CB8AC3E}">
        <p14:creationId xmlns:p14="http://schemas.microsoft.com/office/powerpoint/2010/main" val="8897419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FA977-4754-D937-EA7A-CC2A3BD36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🔬 Lab </a:t>
            </a:r>
            <a:r>
              <a:rPr lang="en-US" sz="2800" b="1"/>
              <a:t>6 - </a:t>
            </a:r>
            <a:r>
              <a:rPr lang="en-US" sz="2800" b="1" dirty="0"/>
              <a:t>CRUD REST API (Part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DC2A6-1712-1036-8D17-41AA507BB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1700" b="1" dirty="0">
                <a:solidFill>
                  <a:srgbClr val="2683C6"/>
                </a:solidFill>
              </a:rPr>
              <a:t>🎯 Goal: Add GET-by-id, PUT, DELETE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[HttpGet("{id:int}")]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public ActionResult&lt;Book&gt; GetById(int id) {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var b = _books.FirstOrDefault(x =&gt; x.Id == id);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return b is null ? NotFound() : b;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}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[HttpPut("{id:int}")]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public IActionResult Update(int id, Book b) {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var existing = _books.FirstOrDefault(x =&gt; x.Id == id);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if (existing is null) return NotFound();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existing.Title = b.Title; existing.Author = b.Author;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return NoContent();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}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[HttpDelete("{id:int}")] // _books.RemoveAll(x =&gt; x.Id==id);</a:t>
            </a:r>
          </a:p>
          <a:p>
            <a:pPr>
              <a:buNone/>
            </a:pPr>
            <a:r>
              <a:rPr lang="en-US" sz="1500" b="1" dirty="0">
                <a:solidFill>
                  <a:srgbClr val="2683C6"/>
                </a:solidFill>
              </a:rPr>
              <a:t>🎯 Challenge:</a:t>
            </a:r>
            <a:r>
              <a:rPr lang="en-US" sz="1500" dirty="0"/>
              <a:t> Add a search endpoint </a:t>
            </a:r>
            <a:r>
              <a:rPr lang="en-US" sz="1500" dirty="0">
                <a:latin typeface="Consolas"/>
              </a:rPr>
              <a:t>GET /api/books/search?author=Smith</a:t>
            </a:r>
          </a:p>
        </p:txBody>
      </p:sp>
    </p:spTree>
    <p:extLst>
      <p:ext uri="{BB962C8B-B14F-4D97-AF65-F5344CB8AC3E}">
        <p14:creationId xmlns:p14="http://schemas.microsoft.com/office/powerpoint/2010/main" val="2412505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E32C-6284-3685-2179-83DC12734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Knowledge Check: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BD866-A916-F6F6-2149-601DB5569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Arial"/>
              <a:buAutoNum type="arabicPeriod"/>
            </a:pPr>
            <a:r>
              <a:rPr lang="en-US" sz="1700" b="1" dirty="0"/>
              <a:t>Which attribute restricts a route parameter to an integer?</a:t>
            </a:r>
          </a:p>
          <a:p>
            <a:pPr marL="457200">
              <a:buNone/>
            </a:pPr>
            <a:r>
              <a:rPr lang="en-US" sz="1500" dirty="0"/>
              <a:t>(a) </a:t>
            </a:r>
            <a:r>
              <a:rPr lang="en-US" sz="1500" dirty="0">
                <a:latin typeface="Consolas"/>
              </a:rPr>
              <a:t>{id:number}</a:t>
            </a:r>
            <a:r>
              <a:rPr lang="en-US" sz="1500" dirty="0"/>
              <a:t>   (b) </a:t>
            </a:r>
            <a:r>
              <a:rPr lang="en-US" sz="1500" dirty="0">
                <a:latin typeface="Consolas"/>
              </a:rPr>
              <a:t>{id:int}</a:t>
            </a:r>
            <a:r>
              <a:rPr lang="en-US" sz="1500" dirty="0"/>
              <a:t>   (c) </a:t>
            </a:r>
            <a:r>
              <a:rPr lang="en-US" sz="1500" dirty="0">
                <a:latin typeface="Consolas"/>
              </a:rPr>
              <a:t>{id:integer}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700" b="1" dirty="0"/>
              <a:t>What URL matches </a:t>
            </a:r>
            <a:r>
              <a:rPr lang="en-US" sz="1700" b="1" dirty="0">
                <a:latin typeface="Consolas"/>
              </a:rPr>
              <a:t>[Route("api/[controller]")]</a:t>
            </a:r>
            <a:r>
              <a:rPr lang="en-US" sz="1700" b="1" dirty="0"/>
              <a:t> on OrdersController?</a:t>
            </a:r>
          </a:p>
          <a:p>
            <a:pPr marL="457200">
              <a:buNone/>
            </a:pPr>
            <a:r>
              <a:rPr lang="en-US" sz="1500" dirty="0"/>
              <a:t>(a) </a:t>
            </a:r>
            <a:r>
              <a:rPr lang="en-US" sz="1500" dirty="0">
                <a:latin typeface="Consolas"/>
              </a:rPr>
              <a:t>/api/OrdersController</a:t>
            </a:r>
            <a:r>
              <a:rPr lang="en-US" sz="1500" dirty="0"/>
              <a:t>   (b) </a:t>
            </a:r>
            <a:r>
              <a:rPr lang="en-US" sz="1500" dirty="0">
                <a:latin typeface="Consolas"/>
              </a:rPr>
              <a:t>/api/orders</a:t>
            </a:r>
            <a:r>
              <a:rPr lang="en-US" sz="1500" dirty="0"/>
              <a:t>   (c) </a:t>
            </a:r>
            <a:r>
              <a:rPr lang="en-US" sz="1500" dirty="0">
                <a:latin typeface="Consolas"/>
              </a:rPr>
              <a:t>/orders/api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700" b="1" dirty="0"/>
              <a:t>What status code should POST /api/books return on success?</a:t>
            </a:r>
          </a:p>
          <a:p>
            <a:pPr marL="457200">
              <a:buNone/>
            </a:pPr>
            <a:r>
              <a:rPr lang="en-US" sz="1500" dirty="0"/>
              <a:t>(a) 200 OK   (b) 201 Created   (c) 204 No Content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700" b="1" dirty="0"/>
              <a:t>What happens when two routes match the same URL with same specificity?</a:t>
            </a:r>
          </a:p>
          <a:p>
            <a:pPr marL="457200">
              <a:buNone/>
            </a:pPr>
            <a:r>
              <a:rPr lang="en-US" sz="1500" dirty="0"/>
              <a:t>(a) First wins   (b) Last wins   (c) AmbiguousMatchException</a:t>
            </a:r>
          </a:p>
          <a:p>
            <a:pPr>
              <a:buNone/>
            </a:pPr>
            <a:r>
              <a:rPr lang="en-US" sz="1400" b="1" i="1" dirty="0">
                <a:solidFill>
                  <a:srgbClr val="42BA97"/>
                </a:solidFill>
              </a:rPr>
              <a:t>Answers: 1-b   2-b   3-b   4-c</a:t>
            </a:r>
          </a:p>
        </p:txBody>
      </p:sp>
    </p:spTree>
    <p:extLst>
      <p:ext uri="{BB962C8B-B14F-4D97-AF65-F5344CB8AC3E}">
        <p14:creationId xmlns:p14="http://schemas.microsoft.com/office/powerpoint/2010/main" val="42733121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507C-50C0-822F-53F3-303B97D2F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🎓 Course Recap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3CDFA-DE93-0EFD-56F8-8FAF314D5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What you learned</a:t>
            </a:r>
          </a:p>
          <a:p>
            <a:pPr marL="228600" indent="-228600">
              <a:buFont typeface="Arial"/>
              <a:buChar char="✓"/>
            </a:pPr>
            <a:r>
              <a:rPr lang="en-US" sz="1600" b="1" dirty="0"/>
              <a:t>Module 21:</a:t>
            </a:r>
            <a:r>
              <a:rPr lang="en-US" sz="1600" dirty="0"/>
              <a:t> Configuration providers, IConfiguration, Options pattern, precedence order</a:t>
            </a:r>
          </a:p>
          <a:p>
            <a:pPr marL="228600" indent="-228600">
              <a:buFont typeface="Arial"/>
              <a:buChar char="✓"/>
            </a:pPr>
            <a:r>
              <a:rPr lang="en-US" sz="1600" b="1" dirty="0"/>
              <a:t>Module 22:</a:t>
            </a:r>
            <a:r>
              <a:rPr lang="en-US" sz="1600" dirty="0"/>
              <a:t> ILogger, log levels, providers, structured logging</a:t>
            </a:r>
          </a:p>
          <a:p>
            <a:pPr marL="228600" indent="-228600">
              <a:buFont typeface="Arial"/>
              <a:buChar char="✓"/>
            </a:pPr>
            <a:r>
              <a:rPr lang="en-US" sz="1600" b="1" dirty="0"/>
              <a:t>Module 23:</a:t>
            </a:r>
            <a:r>
              <a:rPr lang="en-US" sz="1600" dirty="0"/>
              <a:t> REST principles, middleware pipeline, controllers, request lifecycle</a:t>
            </a:r>
          </a:p>
          <a:p>
            <a:pPr marL="228600" indent="-228600">
              <a:buFont typeface="Arial"/>
              <a:buChar char="✓"/>
            </a:pPr>
            <a:r>
              <a:rPr lang="en-US" sz="1600" b="1" dirty="0"/>
              <a:t>Module 24:</a:t>
            </a:r>
            <a:r>
              <a:rPr lang="en-US" sz="1600" dirty="0"/>
              <a:t> Attribute routing, constraints, full CRUD API</a:t>
            </a:r>
          </a:p>
          <a:p>
            <a:pPr>
              <a:buNone/>
            </a:pPr>
            <a:r>
              <a:rPr lang="en-US" sz="1800" b="1" dirty="0">
                <a:solidFill>
                  <a:srgbClr val="2683C6"/>
                </a:solidFill>
              </a:rPr>
              <a:t>💬 Final discussion — apply to your project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600" dirty="0"/>
              <a:t>Which configuration values in your app should move to user secrets or Key Vault?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600" dirty="0"/>
              <a:t>Identify one endpoint that violates REST conventions — how would you redesign it?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600" dirty="0"/>
              <a:t>Where would structured logging give your team the most operational value?</a:t>
            </a:r>
          </a:p>
          <a:p>
            <a:pPr>
              <a:buNone/>
            </a:pPr>
            <a:r>
              <a:rPr lang="en-US" sz="1800" b="1" dirty="0">
                <a:solidFill>
                  <a:srgbClr val="3E8853"/>
                </a:solidFill>
              </a:rPr>
              <a:t>📚 Next: Authentication &amp; Authorization, EF Core, Deployment</a:t>
            </a:r>
          </a:p>
        </p:txBody>
      </p:sp>
    </p:spTree>
    <p:extLst>
      <p:ext uri="{BB962C8B-B14F-4D97-AF65-F5344CB8AC3E}">
        <p14:creationId xmlns:p14="http://schemas.microsoft.com/office/powerpoint/2010/main" val="38291941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8CC3BD9-5B52-4BE4-AF31-5C0A6941FB8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2f39c32-cd02-4d58-99af-2d58ee05447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49</TotalTime>
  <Words>4073</Words>
  <Application>Microsoft Office PowerPoint</Application>
  <PresentationFormat>On-screen Show (4:3)</PresentationFormat>
  <Paragraphs>478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Consolas</vt:lpstr>
      <vt:lpstr>Tw Cen MT</vt:lpstr>
      <vt:lpstr>Tw Cen MT Condensed</vt:lpstr>
      <vt:lpstr>Wingdings 3</vt:lpstr>
      <vt:lpstr>Integral</vt:lpstr>
      <vt:lpstr>Module 21: Application Configuration</vt:lpstr>
      <vt:lpstr>Configuration Providers</vt:lpstr>
      <vt:lpstr>Configuration API</vt:lpstr>
      <vt:lpstr>🔬 Lab 1: Read Configuration in a Controller</vt:lpstr>
      <vt:lpstr>Options Pattern</vt:lpstr>
      <vt:lpstr>🔬 Lab 2: Bind Strongly-Typed Options</vt:lpstr>
      <vt:lpstr>Setting Files</vt:lpstr>
      <vt:lpstr>Order of Configuration</vt:lpstr>
      <vt:lpstr>Knowledge Check: Configuration</vt:lpstr>
      <vt:lpstr>💬 Discussion: Secrets in Production</vt:lpstr>
      <vt:lpstr>Module 22: Logging in .NET Core</vt:lpstr>
      <vt:lpstr>📊 Logging Architecture</vt:lpstr>
      <vt:lpstr>Logging Configuration</vt:lpstr>
      <vt:lpstr>ILogger&lt;T&gt; Interface</vt:lpstr>
      <vt:lpstr>Log Levels Deep-Dive</vt:lpstr>
      <vt:lpstr>🔬 Lab 3: Structured Logging in a Controller</vt:lpstr>
      <vt:lpstr>✅ Knowledge Check: Logging</vt:lpstr>
      <vt:lpstr>💬 Discussion: Choosing Log Levels</vt:lpstr>
      <vt:lpstr>Module 23: ASP.NET Core Web API</vt:lpstr>
      <vt:lpstr>📊 HTTP Request Lifecycle</vt:lpstr>
      <vt:lpstr>RESTful Applications</vt:lpstr>
      <vt:lpstr>📊 REST Resource Model: Verbs × CRUD</vt:lpstr>
      <vt:lpstr>Web API Application</vt:lpstr>
      <vt:lpstr>Web Service vs Web API</vt:lpstr>
      <vt:lpstr>🔬 Lab 4: Your First GET Endpoint</vt:lpstr>
      <vt:lpstr>Middleware</vt:lpstr>
      <vt:lpstr>Middleware Pipeline — Order Matters</vt:lpstr>
      <vt:lpstr>🔬 Lab 5: Custom Middleware</vt:lpstr>
      <vt:lpstr>Application Structure</vt:lpstr>
      <vt:lpstr>Knowledge Check: Web API</vt:lpstr>
      <vt:lpstr>💬 Discussion: REST vs RPC</vt:lpstr>
      <vt:lpstr>Module 24: Routing in Web API</vt:lpstr>
      <vt:lpstr>Conventional vs Attribute Routing</vt:lpstr>
      <vt:lpstr>Routing and Action Selection</vt:lpstr>
      <vt:lpstr>Attribute Routing</vt:lpstr>
      <vt:lpstr>Route Constraints &amp; Tokens</vt:lpstr>
      <vt:lpstr>Create REST API</vt:lpstr>
      <vt:lpstr>🔬 Lab 6 - CRUD REST API (Part 1)</vt:lpstr>
      <vt:lpstr>🔬 Lab 6 - CRUD REST API (Part 2)</vt:lpstr>
      <vt:lpstr>Knowledge Check: Routing</vt:lpstr>
      <vt:lpstr>🎓 Course Recap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10</cp:revision>
  <dcterms:created xsi:type="dcterms:W3CDTF">2013-01-27T09:14:16Z</dcterms:created>
  <dcterms:modified xsi:type="dcterms:W3CDTF">2026-05-27T09:02:36Z</dcterms:modified>
  <cp:category/>
</cp:coreProperties>
</file>