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sldIdLst>
    <p:sldId id="325" r:id="rId2"/>
    <p:sldId id="311" r:id="rId3"/>
    <p:sldId id="326" r:id="rId4"/>
    <p:sldId id="347" r:id="rId5"/>
    <p:sldId id="316" r:id="rId6"/>
    <p:sldId id="328" r:id="rId7"/>
    <p:sldId id="329" r:id="rId8"/>
    <p:sldId id="323" r:id="rId9"/>
    <p:sldId id="342" r:id="rId10"/>
    <p:sldId id="333" r:id="rId11"/>
    <p:sldId id="317" r:id="rId12"/>
    <p:sldId id="330" r:id="rId13"/>
    <p:sldId id="331" r:id="rId14"/>
    <p:sldId id="335" r:id="rId15"/>
    <p:sldId id="284" r:id="rId16"/>
    <p:sldId id="318" r:id="rId17"/>
    <p:sldId id="285" r:id="rId18"/>
    <p:sldId id="286" r:id="rId19"/>
    <p:sldId id="339" r:id="rId20"/>
    <p:sldId id="287" r:id="rId21"/>
    <p:sldId id="319" r:id="rId22"/>
    <p:sldId id="313" r:id="rId23"/>
    <p:sldId id="288" r:id="rId24"/>
    <p:sldId id="346" r:id="rId25"/>
    <p:sldId id="289" r:id="rId26"/>
    <p:sldId id="320" r:id="rId27"/>
    <p:sldId id="344" r:id="rId28"/>
    <p:sldId id="343" r:id="rId29"/>
    <p:sldId id="292" r:id="rId30"/>
    <p:sldId id="341" r:id="rId31"/>
    <p:sldId id="321" r:id="rId32"/>
    <p:sldId id="314" r:id="rId33"/>
    <p:sldId id="345" r:id="rId34"/>
    <p:sldId id="294" r:id="rId35"/>
    <p:sldId id="295" r:id="rId36"/>
    <p:sldId id="322" r:id="rId3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63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54397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64831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Freeform 10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02358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8096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1990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2264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2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096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1990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2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1990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5103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303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2599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8096" y="471509"/>
            <a:ext cx="329184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22960"/>
            <a:ext cx="4258818" cy="518464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96" y="2257506"/>
            <a:ext cx="329184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0313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8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9141714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7950" y="4960138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76605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75990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762000"/>
            <a:ext cx="1971675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1" y="762000"/>
            <a:ext cx="5686425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7543800" y="173563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02702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60B18"/>
            </a:gs>
            <a:gs pos="60000">
              <a:srgbClr val="0A0E1A"/>
            </a:gs>
            <a:gs pos="100000">
              <a:srgbClr val="0D1B2A"/>
            </a:gs>
          </a:gsLst>
          <a:lin ang="135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286000"/>
            <a:ext cx="7290055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8097" y="6470704"/>
            <a:ext cx="161560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2200" y="6470704"/>
            <a:ext cx="4426094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000" y="6470704"/>
            <a:ext cx="73025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715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1" name="CornerDot"/>
          <p:cNvSpPr/>
          <p:nvPr userDrawn="1"/>
        </p:nvSpPr>
        <p:spPr>
          <a:xfrm>
            <a:off x="8534400" y="6400800"/>
            <a:ext cx="457200" cy="457200"/>
          </a:xfrm>
          <a:prstGeom prst="ellipse">
            <a:avLst/>
          </a:prstGeom>
          <a:solidFill>
            <a:srgbClr val="00D9FF">
              <a:alpha val="20000"/>
            </a:srgbClr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8" name="DecoTopBar"/>
          <p:cNvSpPr>
            <a:spLocks noGrp="1"/>
          </p:cNvSpPr>
          <p:nvPr/>
        </p:nvSpPr>
        <p:spPr>
          <a:xfrm>
            <a:off x="0" y="0"/>
            <a:ext cx="9144000" cy="45720"/>
          </a:xfrm>
          <a:prstGeom prst="rect">
            <a:avLst/>
          </a:prstGeom>
          <a:gradFill>
            <a:gsLst>
              <a:gs pos="0">
                <a:srgbClr val="00D4FF"/>
              </a:gs>
              <a:gs pos="50000">
                <a:srgbClr val="7C3AED"/>
              </a:gs>
              <a:gs pos="100000">
                <a:srgbClr val="EC4899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02" name="DecoCircle1"/>
          <p:cNvSpPr>
            <a:spLocks noGrp="1"/>
          </p:cNvSpPr>
          <p:nvPr/>
        </p:nvSpPr>
        <p:spPr>
          <a:xfrm>
            <a:off x="8382960" y="5486400"/>
            <a:ext cx="304800" cy="304800"/>
          </a:xfrm>
          <a:prstGeom prst="ellipse">
            <a:avLst/>
          </a:prstGeom>
          <a:solidFill>
            <a:srgbClr val="00D4FF">
              <a:alpha val="1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03" name="DecoCircle2"/>
          <p:cNvSpPr>
            <a:spLocks noGrp="1"/>
          </p:cNvSpPr>
          <p:nvPr/>
        </p:nvSpPr>
        <p:spPr>
          <a:xfrm>
            <a:off x="8686368" y="5181600"/>
            <a:ext cx="228600" cy="228600"/>
          </a:xfrm>
          <a:prstGeom prst="ellipse">
            <a:avLst/>
          </a:prstGeom>
          <a:solidFill>
            <a:srgbClr val="7C3AED">
              <a:alpha val="20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04" name="DecoBottomLine"/>
          <p:cNvSpPr>
            <a:spLocks noGrp="1"/>
          </p:cNvSpPr>
          <p:nvPr/>
        </p:nvSpPr>
        <p:spPr>
          <a:xfrm>
            <a:off x="0" y="6820800"/>
            <a:ext cx="9144000" cy="228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823465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 cap="all" spc="10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000" kern="1200">
          <a:solidFill>
            <a:srgbClr val="CBD5E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600" kern="1200">
          <a:solidFill>
            <a:srgbClr val="E6EDF3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rgbClr val="E6EDF3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rgbClr val="E6EDF3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rgbClr val="E6EDF3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rgbClr val="E6EDF3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rgbClr val="E6EDF3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rgbClr val="E6EDF3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rgbClr val="E6EDF3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rgbClr val="E6EDF3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rgbClr val="E6EDF3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rgbClr val="E6EDF3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rgbClr val="E6EDF3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rgbClr val="E6EDF3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rgbClr val="E6EDF3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rgbClr val="E6EDF3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rgbClr val="E6EDF3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rgbClr val="E6EDF3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buNone/>
            </a:pPr>
            <a:r>
              <a:rPr lang="en-US" sz="4400" b="1" dirty="0">
                <a:solidFill>
                  <a:srgbClr val="FFFFFF"/>
                </a:solidFill>
              </a:rPr>
              <a:t>Module 25: Web API CRUD</a:t>
            </a:r>
          </a:p>
          <a:p>
            <a:pPr algn="ctr">
              <a:buNone/>
            </a:pPr>
            <a:r>
              <a:rPr lang="en-US" sz="2000" b="0" dirty="0">
                <a:solidFill>
                  <a:srgbClr val="00D4FF"/>
                </a:solidFill>
              </a:rPr>
              <a:t>Building RESTful APIs with ASP.NET Core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>
              <a:buNone/>
            </a:pPr>
            <a:r>
              <a:rPr lang="en-US" sz="1600" dirty="0">
                <a:solidFill>
                  <a:srgbClr val="94A3B8"/>
                </a:solidFill>
              </a:rPr>
              <a:t>📋 What you'll learn today</a:t>
            </a:r>
          </a:p>
          <a:p>
            <a:pPr algn="ctr">
              <a:buNone/>
            </a:pPr>
            <a:r>
              <a:rPr lang="en-US" sz="200" dirty="0"/>
              <a:t> </a:t>
            </a:r>
          </a:p>
          <a:p>
            <a:pPr algn="ctr">
              <a:buNone/>
            </a:pPr>
            <a:r>
              <a:rPr lang="en-US" sz="1500" dirty="0">
                <a:solidFill>
                  <a:srgbClr val="10B981"/>
                </a:solidFill>
              </a:rPr>
              <a:t>✓ GET · POST · PUT · PATCH · DELETE endpoints</a:t>
            </a:r>
          </a:p>
          <a:p>
            <a:pPr algn="ctr">
              <a:buNone/>
            </a:pPr>
            <a:r>
              <a:rPr lang="en-US" sz="1500" dirty="0">
                <a:solidFill>
                  <a:srgbClr val="10B981"/>
                </a:solidFill>
              </a:rPr>
              <a:t>✓ Validation, async patterns &amp; CORS</a:t>
            </a:r>
          </a:p>
          <a:p>
            <a:pPr algn="ctr">
              <a:buNone/>
            </a:pPr>
            <a:r>
              <a:rPr lang="en-US" sz="1500" dirty="0">
                <a:solidFill>
                  <a:srgbClr val="10B981"/>
                </a:solidFill>
              </a:rPr>
              <a:t>✓ Error handling, logging &amp; middleware</a:t>
            </a:r>
          </a:p>
          <a:p>
            <a:pPr algn="ctr">
              <a:buNone/>
            </a:pPr>
            <a:r>
              <a:rPr lang="en-US" sz="1500" dirty="0">
                <a:solidFill>
                  <a:srgbClr val="10B981"/>
                </a:solidFill>
              </a:rPr>
              <a:t>✓ JWT authentication &amp; role-based authorization</a:t>
            </a:r>
          </a:p>
          <a:p>
            <a:pPr algn="ctr">
              <a:buNone/>
            </a:pPr>
            <a:r>
              <a:rPr lang="en-US" sz="1500" dirty="0">
                <a:solidFill>
                  <a:srgbClr val="10B981"/>
                </a:solidFill>
              </a:rPr>
              <a:t>✓ 7 hands-on labs throughout the session</a:t>
            </a:r>
          </a:p>
          <a:p>
            <a:pPr algn="ctr">
              <a:buNone/>
            </a:pPr>
            <a:r>
              <a:rPr lang="en-US" sz="200" dirty="0"/>
              <a:t> </a:t>
            </a:r>
          </a:p>
          <a:p>
            <a:pPr algn="ctr">
              <a:buNone/>
            </a:pPr>
            <a:r>
              <a:rPr lang="en-US" sz="1300" dirty="0">
                <a:solidFill>
                  <a:srgbClr val="475569"/>
                </a:solidFill>
              </a:rPr>
              <a:t>Duration: ~3 hrs  |  7 Labs  |  Theory + Practical</a:t>
            </a:r>
          </a:p>
        </p:txBody>
      </p:sp>
      <p:sp>
        <p:nvSpPr>
          <p:cNvPr id="10" name="CodeBadge"/>
          <p:cNvSpPr>
            <a:spLocks noGrp="1"/>
          </p:cNvSpPr>
          <p:nvPr/>
        </p:nvSpPr>
        <p:spPr>
          <a:xfrm>
            <a:off x="5940000" y="3200000"/>
            <a:ext cx="2800000" cy="58000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19050">
            <a:solidFill>
              <a:srgbClr val="00D4FF"/>
            </a:solidFill>
          </a:ln>
        </p:spPr>
        <p:txBody>
          <a:bodyPr lIns="91440" tIns="45720" rIns="91440" bIns="45720"/>
          <a:lstStyle/>
          <a:p>
            <a:pPr algn="l">
              <a:buNone/>
            </a:pPr>
            <a:r>
              <a:rPr lang="en-US" sz="1100" dirty="0">
                <a:solidFill>
                  <a:srgbClr val="7C3AED"/>
                </a:solidFill>
              </a:rPr>
              <a:t>[ApiController]</a:t>
            </a:r>
          </a:p>
          <a:p>
            <a:pPr algn="l">
              <a:buNone/>
            </a:pPr>
            <a:r>
              <a:rPr lang="en-US" sz="1100" dirty="0">
                <a:solidFill>
                  <a:srgbClr val="00D4FF"/>
                </a:solidFill>
              </a:rPr>
              <a:t>[Route("api/[controller]")]</a:t>
            </a:r>
          </a:p>
          <a:p>
            <a:pPr algn="l">
              <a:buNone/>
            </a:pPr>
            <a:r>
              <a:rPr lang="en-US" sz="1100" dirty="0">
                <a:solidFill>
                  <a:srgbClr val="10B981"/>
                </a:solidFill>
              </a:rPr>
              <a:t>public class ProductsController</a:t>
            </a:r>
          </a:p>
        </p:txBody>
      </p:sp>
    </p:spTree>
    <p:extLst>
      <p:ext uri="{BB962C8B-B14F-4D97-AF65-F5344CB8AC3E}">
        <p14:creationId xmlns:p14="http://schemas.microsoft.com/office/powerpoint/2010/main" val="3966728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BA741-04A7-61CE-6571-D4E67651F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HTTP Request Lifecycle</a:t>
            </a:r>
          </a:p>
        </p:txBody>
      </p:sp>
      <p:sp>
        <p:nvSpPr>
          <p:cNvPr id="1000" name="Box1000"/>
          <p:cNvSpPr/>
          <p:nvPr/>
        </p:nvSpPr>
        <p:spPr>
          <a:xfrm>
            <a:off x="266700" y="2794000"/>
            <a:ext cx="1397000" cy="889000"/>
          </a:xfrm>
          <a:prstGeom prst="roundRect">
            <a:avLst>
              <a:gd name="adj" fmla="val 16667"/>
            </a:avLst>
          </a:prstGeom>
          <a:solidFill>
            <a:srgbClr val="161B22"/>
          </a:solidFill>
          <a:ln w="12700">
            <a:solidFill>
              <a:srgbClr val="00D9FF"/>
            </a:solidFill>
          </a:ln>
        </p:spPr>
        <p:txBody>
          <a:bodyPr wrap="square" lIns="36000" tIns="36000" rIns="36000" bIns="36000" anchor="ctr" anchorCtr="1"/>
          <a:lstStyle/>
          <a:p>
            <a:pPr algn="ctr">
              <a:buNone/>
            </a:pPr>
            <a:r>
              <a:rPr lang="en-US" sz="1100" b="1" dirty="0">
                <a:solidFill>
                  <a:srgbClr val="00D9FF"/>
                </a:solidFill>
              </a:rPr>
              <a:t>CLIENT</a:t>
            </a:r>
          </a:p>
        </p:txBody>
      </p:sp>
      <p:sp>
        <p:nvSpPr>
          <p:cNvPr id="1001" name="Lbl1001"/>
          <p:cNvSpPr txBox="1"/>
          <p:nvPr/>
        </p:nvSpPr>
        <p:spPr>
          <a:xfrm>
            <a:off x="203200" y="3784600"/>
            <a:ext cx="1524000" cy="762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buNone/>
            </a:pPr>
            <a:r>
              <a:rPr lang="en-US" sz="900" dirty="0">
                <a:solidFill>
                  <a:srgbClr val="C9D1D9"/>
                </a:solidFill>
              </a:rPr>
              <a:t>Browser / app sends HTTP request</a:t>
            </a:r>
          </a:p>
        </p:txBody>
      </p:sp>
      <p:sp>
        <p:nvSpPr>
          <p:cNvPr id="1002" name="Arrow1002"/>
          <p:cNvSpPr/>
          <p:nvPr/>
        </p:nvSpPr>
        <p:spPr>
          <a:xfrm>
            <a:off x="1727200" y="3048000"/>
            <a:ext cx="279400" cy="381000"/>
          </a:xfrm>
          <a:prstGeom prst="rightArrow">
            <a:avLst/>
          </a:prstGeom>
          <a:noFill/>
          <a:ln w="25400">
            <a:solidFill>
              <a:srgbClr val="39FF1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03" name="Box1003"/>
          <p:cNvSpPr/>
          <p:nvPr/>
        </p:nvSpPr>
        <p:spPr>
          <a:xfrm>
            <a:off x="2070100" y="2794000"/>
            <a:ext cx="1397000" cy="889000"/>
          </a:xfrm>
          <a:prstGeom prst="roundRect">
            <a:avLst>
              <a:gd name="adj" fmla="val 16667"/>
            </a:avLst>
          </a:prstGeom>
          <a:solidFill>
            <a:srgbClr val="161B22"/>
          </a:solidFill>
          <a:ln w="12700">
            <a:solidFill>
              <a:srgbClr val="00D9FF"/>
            </a:solidFill>
          </a:ln>
        </p:spPr>
        <p:txBody>
          <a:bodyPr wrap="square" lIns="36000" tIns="36000" rIns="36000" bIns="36000" anchor="ctr" anchorCtr="1"/>
          <a:lstStyle/>
          <a:p>
            <a:pPr algn="ctr">
              <a:buNone/>
            </a:pPr>
            <a:r>
              <a:rPr lang="en-US" sz="1100" b="1" dirty="0">
                <a:solidFill>
                  <a:srgbClr val="00D9FF"/>
                </a:solidFill>
              </a:rPr>
              <a:t>ROUTING</a:t>
            </a:r>
          </a:p>
        </p:txBody>
      </p:sp>
      <p:sp>
        <p:nvSpPr>
          <p:cNvPr id="1004" name="Lbl1004"/>
          <p:cNvSpPr txBox="1"/>
          <p:nvPr/>
        </p:nvSpPr>
        <p:spPr>
          <a:xfrm>
            <a:off x="2006600" y="3784600"/>
            <a:ext cx="1524000" cy="762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buNone/>
            </a:pPr>
            <a:r>
              <a:rPr lang="en-US" sz="900" dirty="0">
                <a:solidFill>
                  <a:srgbClr val="C9D1D9"/>
                </a:solidFill>
              </a:rPr>
              <a:t>Matches URL to endpoint</a:t>
            </a:r>
          </a:p>
        </p:txBody>
      </p:sp>
      <p:sp>
        <p:nvSpPr>
          <p:cNvPr id="1005" name="Arrow1005"/>
          <p:cNvSpPr/>
          <p:nvPr/>
        </p:nvSpPr>
        <p:spPr>
          <a:xfrm>
            <a:off x="3530600" y="3048000"/>
            <a:ext cx="279400" cy="381000"/>
          </a:xfrm>
          <a:prstGeom prst="rightArrow">
            <a:avLst/>
          </a:prstGeom>
          <a:noFill/>
          <a:ln w="25400">
            <a:solidFill>
              <a:srgbClr val="39FF1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06" name="Box1006"/>
          <p:cNvSpPr/>
          <p:nvPr/>
        </p:nvSpPr>
        <p:spPr>
          <a:xfrm>
            <a:off x="3873500" y="2794000"/>
            <a:ext cx="1397000" cy="889000"/>
          </a:xfrm>
          <a:prstGeom prst="roundRect">
            <a:avLst>
              <a:gd name="adj" fmla="val 16667"/>
            </a:avLst>
          </a:prstGeom>
          <a:solidFill>
            <a:srgbClr val="161B22"/>
          </a:solidFill>
          <a:ln w="12700">
            <a:solidFill>
              <a:srgbClr val="00D9FF"/>
            </a:solidFill>
          </a:ln>
        </p:spPr>
        <p:txBody>
          <a:bodyPr wrap="square" lIns="36000" tIns="36000" rIns="36000" bIns="36000" anchor="ctr" anchorCtr="1"/>
          <a:lstStyle/>
          <a:p>
            <a:pPr algn="ctr">
              <a:buNone/>
            </a:pPr>
            <a:r>
              <a:rPr lang="en-US" sz="1100" b="1" dirty="0">
                <a:solidFill>
                  <a:srgbClr val="00D9FF"/>
                </a:solidFill>
              </a:rPr>
              <a:t>MIDDLEWARE</a:t>
            </a:r>
          </a:p>
        </p:txBody>
      </p:sp>
      <p:sp>
        <p:nvSpPr>
          <p:cNvPr id="1007" name="Lbl1007"/>
          <p:cNvSpPr txBox="1"/>
          <p:nvPr/>
        </p:nvSpPr>
        <p:spPr>
          <a:xfrm>
            <a:off x="3810000" y="3784600"/>
            <a:ext cx="1524000" cy="762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buNone/>
            </a:pPr>
            <a:r>
              <a:rPr lang="en-US" sz="900" dirty="0">
                <a:solidFill>
                  <a:srgbClr val="C9D1D9"/>
                </a:solidFill>
              </a:rPr>
              <a:t>Auth, CORS, logging</a:t>
            </a:r>
          </a:p>
        </p:txBody>
      </p:sp>
      <p:sp>
        <p:nvSpPr>
          <p:cNvPr id="1008" name="Arrow1008"/>
          <p:cNvSpPr/>
          <p:nvPr/>
        </p:nvSpPr>
        <p:spPr>
          <a:xfrm>
            <a:off x="5334000" y="3048000"/>
            <a:ext cx="279400" cy="381000"/>
          </a:xfrm>
          <a:prstGeom prst="rightArrow">
            <a:avLst/>
          </a:prstGeom>
          <a:noFill/>
          <a:ln w="25400">
            <a:solidFill>
              <a:srgbClr val="39FF1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09" name="Box1009"/>
          <p:cNvSpPr/>
          <p:nvPr/>
        </p:nvSpPr>
        <p:spPr>
          <a:xfrm>
            <a:off x="5676900" y="2794000"/>
            <a:ext cx="1397000" cy="889000"/>
          </a:xfrm>
          <a:prstGeom prst="roundRect">
            <a:avLst>
              <a:gd name="adj" fmla="val 16667"/>
            </a:avLst>
          </a:prstGeom>
          <a:solidFill>
            <a:srgbClr val="161B22"/>
          </a:solidFill>
          <a:ln w="12700">
            <a:solidFill>
              <a:srgbClr val="00D9FF"/>
            </a:solidFill>
          </a:ln>
        </p:spPr>
        <p:txBody>
          <a:bodyPr wrap="square" lIns="36000" tIns="36000" rIns="36000" bIns="36000" anchor="ctr" anchorCtr="1"/>
          <a:lstStyle/>
          <a:p>
            <a:pPr algn="ctr">
              <a:buNone/>
            </a:pPr>
            <a:r>
              <a:rPr lang="en-US" sz="1100" b="1" dirty="0">
                <a:solidFill>
                  <a:srgbClr val="00D9FF"/>
                </a:solidFill>
              </a:rPr>
              <a:t>CONTROLLER</a:t>
            </a:r>
          </a:p>
        </p:txBody>
      </p:sp>
      <p:sp>
        <p:nvSpPr>
          <p:cNvPr id="1010" name="Lbl1010"/>
          <p:cNvSpPr txBox="1"/>
          <p:nvPr/>
        </p:nvSpPr>
        <p:spPr>
          <a:xfrm>
            <a:off x="5613400" y="3784600"/>
            <a:ext cx="1524000" cy="762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buNone/>
            </a:pPr>
            <a:r>
              <a:rPr lang="en-US" sz="900" dirty="0">
                <a:solidFill>
                  <a:srgbClr val="C9D1D9"/>
                </a:solidFill>
              </a:rPr>
              <a:t>Action runs, returns IActionResult</a:t>
            </a:r>
          </a:p>
        </p:txBody>
      </p:sp>
      <p:sp>
        <p:nvSpPr>
          <p:cNvPr id="1011" name="Arrow1011"/>
          <p:cNvSpPr/>
          <p:nvPr/>
        </p:nvSpPr>
        <p:spPr>
          <a:xfrm>
            <a:off x="7137400" y="3048000"/>
            <a:ext cx="279400" cy="381000"/>
          </a:xfrm>
          <a:prstGeom prst="rightArrow">
            <a:avLst/>
          </a:prstGeom>
          <a:noFill/>
          <a:ln w="25400">
            <a:solidFill>
              <a:srgbClr val="39FF1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12" name="Box1012"/>
          <p:cNvSpPr/>
          <p:nvPr/>
        </p:nvSpPr>
        <p:spPr>
          <a:xfrm>
            <a:off x="7480300" y="2794000"/>
            <a:ext cx="1397000" cy="889000"/>
          </a:xfrm>
          <a:prstGeom prst="roundRect">
            <a:avLst>
              <a:gd name="adj" fmla="val 16667"/>
            </a:avLst>
          </a:prstGeom>
          <a:solidFill>
            <a:srgbClr val="161B22"/>
          </a:solidFill>
          <a:ln w="12700">
            <a:solidFill>
              <a:srgbClr val="00D9FF"/>
            </a:solidFill>
          </a:ln>
        </p:spPr>
        <p:txBody>
          <a:bodyPr wrap="square" lIns="36000" tIns="36000" rIns="36000" bIns="36000" anchor="ctr" anchorCtr="1"/>
          <a:lstStyle/>
          <a:p>
            <a:pPr algn="ctr">
              <a:buNone/>
            </a:pPr>
            <a:r>
              <a:rPr lang="en-US" sz="1100" b="1" dirty="0">
                <a:solidFill>
                  <a:srgbClr val="00D9FF"/>
                </a:solidFill>
              </a:rPr>
              <a:t>RESPONSE</a:t>
            </a:r>
          </a:p>
        </p:txBody>
      </p:sp>
      <p:sp>
        <p:nvSpPr>
          <p:cNvPr id="1013" name="Lbl1013"/>
          <p:cNvSpPr txBox="1"/>
          <p:nvPr/>
        </p:nvSpPr>
        <p:spPr>
          <a:xfrm>
            <a:off x="7416800" y="3784600"/>
            <a:ext cx="1524000" cy="762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buNone/>
            </a:pPr>
            <a:r>
              <a:rPr lang="en-US" sz="900" dirty="0">
                <a:solidFill>
                  <a:srgbClr val="C9D1D9"/>
                </a:solidFill>
              </a:rPr>
              <a:t>Status code + body back to client</a:t>
            </a:r>
          </a:p>
        </p:txBody>
      </p:sp>
      <p:sp>
        <p:nvSpPr>
          <p:cNvPr id="1014" name="Lbl1014"/>
          <p:cNvSpPr txBox="1"/>
          <p:nvPr/>
        </p:nvSpPr>
        <p:spPr>
          <a:xfrm>
            <a:off x="762000" y="5207000"/>
            <a:ext cx="7620000" cy="762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buNone/>
            </a:pPr>
            <a:r>
              <a:rPr lang="en-US" sz="1200" dirty="0">
                <a:solidFill>
                  <a:srgbClr val="BD93F9"/>
                </a:solidFill>
              </a:rPr>
              <a:t>Each request flows L→R; the response flows R→L through the same middleware in reverse.</a:t>
            </a:r>
          </a:p>
        </p:txBody>
      </p:sp>
      <p:sp>
        <p:nvSpPr>
          <p:cNvPr id="1015" name="Chip0"/>
          <p:cNvSpPr/>
          <p:nvPr/>
        </p:nvSpPr>
        <p:spPr>
          <a:xfrm>
            <a:off x="6096000" y="2095500"/>
            <a:ext cx="571500" cy="279400"/>
          </a:xfrm>
          <a:prstGeom prst="roundRect">
            <a:avLst>
              <a:gd name="adj" fmla="val 50000"/>
            </a:avLst>
          </a:prstGeom>
          <a:solidFill>
            <a:srgbClr val="39FF14"/>
          </a:solidFill>
          <a:ln>
            <a:noFill/>
          </a:ln>
        </p:spPr>
        <p:txBody>
          <a:bodyPr lIns="0" tIns="0" rIns="0" bIns="0" anchor="ctr" anchorCtr="1"/>
          <a:lstStyle/>
          <a:p>
            <a:pPr algn="ctr">
              <a:buNone/>
            </a:pPr>
            <a:r>
              <a:rPr lang="en-US" sz="900" b="1" dirty="0">
                <a:solidFill>
                  <a:srgbClr val="0D1117"/>
                </a:solidFill>
              </a:rPr>
              <a:t>GET</a:t>
            </a:r>
          </a:p>
        </p:txBody>
      </p:sp>
      <p:sp>
        <p:nvSpPr>
          <p:cNvPr id="1016" name="Chip1"/>
          <p:cNvSpPr/>
          <p:nvPr/>
        </p:nvSpPr>
        <p:spPr>
          <a:xfrm>
            <a:off x="6731000" y="2095500"/>
            <a:ext cx="571500" cy="279400"/>
          </a:xfrm>
          <a:prstGeom prst="roundRect">
            <a:avLst>
              <a:gd name="adj" fmla="val 50000"/>
            </a:avLst>
          </a:prstGeom>
          <a:solidFill>
            <a:srgbClr val="00D9FF"/>
          </a:solidFill>
          <a:ln>
            <a:noFill/>
          </a:ln>
        </p:spPr>
        <p:txBody>
          <a:bodyPr lIns="0" tIns="0" rIns="0" bIns="0" anchor="ctr" anchorCtr="1"/>
          <a:lstStyle/>
          <a:p>
            <a:pPr algn="ctr">
              <a:buNone/>
            </a:pPr>
            <a:r>
              <a:rPr lang="en-US" sz="900" b="1" dirty="0">
                <a:solidFill>
                  <a:srgbClr val="0D1117"/>
                </a:solidFill>
              </a:rPr>
              <a:t>POST</a:t>
            </a:r>
          </a:p>
        </p:txBody>
      </p:sp>
      <p:sp>
        <p:nvSpPr>
          <p:cNvPr id="1017" name="Chip2"/>
          <p:cNvSpPr/>
          <p:nvPr/>
        </p:nvSpPr>
        <p:spPr>
          <a:xfrm>
            <a:off x="7366000" y="2095500"/>
            <a:ext cx="571500" cy="279400"/>
          </a:xfrm>
          <a:prstGeom prst="roundRect">
            <a:avLst>
              <a:gd name="adj" fmla="val 50000"/>
            </a:avLst>
          </a:prstGeom>
          <a:solidFill>
            <a:srgbClr val="FFB86C"/>
          </a:solidFill>
          <a:ln>
            <a:noFill/>
          </a:ln>
        </p:spPr>
        <p:txBody>
          <a:bodyPr lIns="0" tIns="0" rIns="0" bIns="0" anchor="ctr" anchorCtr="1"/>
          <a:lstStyle/>
          <a:p>
            <a:pPr algn="ctr">
              <a:buNone/>
            </a:pPr>
            <a:r>
              <a:rPr lang="en-US" sz="900" b="1" dirty="0">
                <a:solidFill>
                  <a:srgbClr val="0D1117"/>
                </a:solidFill>
              </a:rPr>
              <a:t>PUT</a:t>
            </a:r>
          </a:p>
        </p:txBody>
      </p:sp>
      <p:sp>
        <p:nvSpPr>
          <p:cNvPr id="1018" name="Chip3"/>
          <p:cNvSpPr/>
          <p:nvPr/>
        </p:nvSpPr>
        <p:spPr>
          <a:xfrm>
            <a:off x="8001000" y="2095500"/>
            <a:ext cx="571500" cy="279400"/>
          </a:xfrm>
          <a:prstGeom prst="roundRect">
            <a:avLst>
              <a:gd name="adj" fmla="val 50000"/>
            </a:avLst>
          </a:prstGeom>
          <a:solidFill>
            <a:srgbClr val="FF79C6"/>
          </a:solidFill>
          <a:ln>
            <a:noFill/>
          </a:ln>
        </p:spPr>
        <p:txBody>
          <a:bodyPr lIns="0" tIns="0" rIns="0" bIns="0" anchor="ctr" anchorCtr="1"/>
          <a:lstStyle/>
          <a:p>
            <a:pPr algn="ctr">
              <a:buNone/>
            </a:pPr>
            <a:r>
              <a:rPr lang="en-US" sz="900" b="1" dirty="0">
                <a:solidFill>
                  <a:srgbClr val="0D1117"/>
                </a:solidFill>
              </a:rPr>
              <a:t>DELETE</a:t>
            </a:r>
          </a:p>
        </p:txBody>
      </p:sp>
    </p:spTree>
    <p:extLst>
      <p:ext uri="{BB962C8B-B14F-4D97-AF65-F5344CB8AC3E}">
        <p14:creationId xmlns:p14="http://schemas.microsoft.com/office/powerpoint/2010/main" val="22021401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Retrieval Operations (GET)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sz="1500" b="1" dirty="0">
                <a:solidFill>
                  <a:srgbClr val="00D4FF"/>
                </a:solidFill>
              </a:rPr>
              <a:t>🔍 Purpose</a:t>
            </a:r>
            <a:r>
              <a:rPr lang="en-US" sz="1400" dirty="0">
                <a:solidFill>
                  <a:srgbClr val="CBD5E1"/>
                </a:solidFill>
              </a:rPr>
              <a:t>  Safe &amp; idempotent — never modifies server state</a:t>
            </a:r>
          </a:p>
          <a:p>
            <a:pPr>
              <a:buNone/>
            </a:pPr>
            <a:r>
              <a:rPr lang="en-US" sz="1500" b="1" dirty="0">
                <a:solidFill>
                  <a:srgbClr val="00D4FF"/>
                </a:solidFill>
              </a:rPr>
              <a:t>📍 Routes</a:t>
            </a:r>
            <a:r>
              <a:rPr lang="en-US" sz="1400" dirty="0">
                <a:solidFill>
                  <a:srgbClr val="CBD5E1"/>
                </a:solidFill>
              </a:rPr>
              <a:t>  GET /api/products  (list)  ·  GET /api/products/{id}  (single)</a:t>
            </a:r>
          </a:p>
          <a:p>
            <a:pPr>
              <a:buNone/>
            </a:pPr>
            <a:r>
              <a:rPr lang="en-US" sz="1500" b="1" dirty="0">
                <a:solidFill>
                  <a:srgbClr val="00D4FF"/>
                </a:solidFill>
              </a:rPr>
              <a:t>✅ Return types</a:t>
            </a:r>
            <a:r>
              <a:rPr lang="en-US" sz="1400" dirty="0">
                <a:solidFill>
                  <a:srgbClr val="CBD5E1"/>
                </a:solidFill>
              </a:rPr>
              <a:t>  Ok(data), NotFound(), ActionResult&lt;T&gt;</a:t>
            </a:r>
          </a:p>
          <a:p>
            <a:pPr>
              <a:buNone/>
            </a:pPr>
            <a:r>
              <a:rPr lang="en-US" sz="1500" b="1" dirty="0">
                <a:solidFill>
                  <a:srgbClr val="00D4FF"/>
                </a:solidFill>
              </a:rPr>
              <a:t>📶 Status codes</a:t>
            </a:r>
            <a:r>
              <a:rPr lang="en-US" sz="1400" dirty="0">
                <a:solidFill>
                  <a:srgbClr val="CBD5E1"/>
                </a:solidFill>
              </a:rPr>
              <a:t>  200 OK · 404 Not Found · 304 Not Modified</a:t>
            </a:r>
          </a:p>
          <a:p>
            <a:pPr>
              <a:buNone/>
            </a:pPr>
            <a:r>
              <a:rPr lang="en-US" sz="1500" b="1" dirty="0">
                <a:solidFill>
                  <a:srgbClr val="10B981"/>
                </a:solidFill>
              </a:rPr>
              <a:t>💡 Pro Tips</a:t>
            </a:r>
          </a:p>
          <a:p>
            <a:pPr marL="228600" indent="-228600">
              <a:buChar char="▸"/>
            </a:pPr>
            <a:r>
              <a:rPr lang="en-US" sz="1300" dirty="0">
                <a:solidFill>
                  <a:srgbClr val="94A3B8"/>
                </a:solidFill>
              </a:rPr>
              <a:t>Add ?page=1&amp;size=20 for pagination; use IQueryable&lt;T&gt; for deferred SQL</a:t>
            </a:r>
          </a:p>
          <a:p>
            <a:pPr marL="228600" indent="-228600">
              <a:buChar char="▸"/>
            </a:pPr>
            <a:r>
              <a:rPr lang="en-US" sz="1300" dirty="0">
                <a:solidFill>
                  <a:srgbClr val="94A3B8"/>
                </a:solidFill>
              </a:rPr>
              <a:t>Use [ResponseCache] or ETag headers to reduce redundant DB calls</a:t>
            </a:r>
          </a:p>
          <a:p>
            <a:pPr marL="228600" indent="-228600">
              <a:buChar char="▸"/>
            </a:pPr>
            <a:r>
              <a:rPr lang="en-US" sz="1300" dirty="0">
                <a:solidFill>
                  <a:srgbClr val="94A3B8"/>
                </a:solidFill>
              </a:rPr>
              <a:t>Always use async/await with ToListAsync() — avoids thread blocking</a:t>
            </a:r>
          </a:p>
        </p:txBody>
      </p:sp>
      <p:sp>
        <p:nvSpPr>
          <p:cNvPr id="20" name="CodeBox"/>
          <p:cNvSpPr>
            <a:spLocks noGrp="1"/>
          </p:cNvSpPr>
          <p:nvPr/>
        </p:nvSpPr>
        <p:spPr>
          <a:xfrm>
            <a:off x="3600000" y="914400"/>
            <a:ext cx="5100000" cy="440000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12700">
            <a:solidFill>
              <a:srgbClr val="1E3A5F"/>
            </a:solidFill>
          </a:ln>
        </p:spPr>
        <p:txBody>
          <a:bodyPr lIns="182880" tIns="182880" rIns="182880" bIns="182880"/>
          <a:lstStyle/>
          <a:p>
            <a:pPr>
              <a:buNone/>
            </a:pPr>
            <a:r>
              <a:rPr lang="en-US" sz="1100" dirty="0">
                <a:solidFill>
                  <a:srgbClr val="64748B"/>
                </a:solidFill>
              </a:rPr>
              <a:t>// GET: api/products</a:t>
            </a:r>
          </a:p>
          <a:p>
            <a:pPr>
              <a:buNone/>
            </a:pPr>
            <a:r>
              <a:rPr lang="en-US" sz="1100" dirty="0">
                <a:solidFill>
                  <a:srgbClr val="7C3AED"/>
                </a:solidFill>
              </a:rPr>
              <a:t>[HttpGet]</a:t>
            </a:r>
          </a:p>
          <a:p>
            <a:pPr>
              <a:buNone/>
            </a:pPr>
            <a:r>
              <a:rPr lang="en-US" sz="1100" dirty="0">
                <a:solidFill>
                  <a:srgbClr val="00D4FF"/>
                </a:solidFill>
              </a:rPr>
              <a:t>public async Task&lt;ActionResult&lt;IEnumerable&lt;Product&gt;&gt;&gt;</a:t>
            </a:r>
          </a:p>
          <a:p>
            <a:pPr>
              <a:buNone/>
            </a:pPr>
            <a:r>
              <a:rPr lang="en-US" sz="1100" dirty="0">
                <a:solidFill>
                  <a:srgbClr val="FFFFFF"/>
                </a:solidFill>
              </a:rPr>
              <a:t>    GetAll([FromQuery] int page = 1, int size = 20)</a:t>
            </a:r>
          </a:p>
          <a:p>
            <a:pPr>
              <a:buNone/>
            </a:pPr>
            <a:r>
              <a:rPr lang="en-US" sz="1100" dirty="0">
                <a:solidFill>
                  <a:srgbClr val="FFFFFF"/>
                </a:solidFill>
              </a:rPr>
              <a:t>{</a:t>
            </a:r>
          </a:p>
          <a:p>
            <a:pPr>
              <a:buNone/>
            </a:pPr>
            <a:r>
              <a:rPr lang="en-US" sz="1100" dirty="0">
                <a:solidFill>
                  <a:srgbClr val="94A3B8"/>
                </a:solidFill>
              </a:rPr>
              <a:t>    var items = await _repo.GetPagedAsync(page, size);</a:t>
            </a:r>
          </a:p>
          <a:p>
            <a:pPr>
              <a:buNone/>
            </a:pPr>
            <a:r>
              <a:rPr lang="en-US" sz="1100" dirty="0">
                <a:solidFill>
                  <a:srgbClr val="10B981"/>
                </a:solidFill>
              </a:rPr>
              <a:t>    return Ok(items);  // 200 OK</a:t>
            </a:r>
          </a:p>
          <a:p>
            <a:pPr>
              <a:buNone/>
            </a:pPr>
            <a:r>
              <a:rPr lang="en-US" sz="1100" dirty="0">
                <a:solidFill>
                  <a:srgbClr val="FFFFFF"/>
                </a:solidFill>
              </a:rPr>
              <a:t>}</a:t>
            </a:r>
          </a:p>
          <a:p>
            <a:pPr>
              <a:buNone/>
            </a:pPr>
            <a:r>
              <a:rPr lang="en-US" sz="200" dirty="0"/>
              <a:t> </a:t>
            </a:r>
          </a:p>
          <a:p>
            <a:pPr>
              <a:buNone/>
            </a:pPr>
            <a:r>
              <a:rPr lang="en-US" sz="1100" dirty="0">
                <a:solidFill>
                  <a:srgbClr val="7C3AED"/>
                </a:solidFill>
              </a:rPr>
              <a:t>[HttpGet("{id}")]</a:t>
            </a:r>
          </a:p>
          <a:p>
            <a:pPr>
              <a:buNone/>
            </a:pPr>
            <a:r>
              <a:rPr lang="en-US" sz="1100" dirty="0">
                <a:solidFill>
                  <a:srgbClr val="00D4FF"/>
                </a:solidFill>
              </a:rPr>
              <a:t>public async Task&lt;ActionResult&lt;Product&gt;&gt; GetById(int id)</a:t>
            </a:r>
          </a:p>
          <a:p>
            <a:pPr>
              <a:buNone/>
            </a:pPr>
            <a:r>
              <a:rPr lang="en-US" sz="1100" dirty="0">
                <a:solidFill>
                  <a:srgbClr val="FFFFFF"/>
                </a:solidFill>
              </a:rPr>
              <a:t>{</a:t>
            </a:r>
          </a:p>
          <a:p>
            <a:pPr>
              <a:buNone/>
            </a:pPr>
            <a:r>
              <a:rPr lang="en-US" sz="1100" dirty="0">
                <a:solidFill>
                  <a:srgbClr val="94A3B8"/>
                </a:solidFill>
              </a:rPr>
              <a:t>    var item = await _repo.FindAsync(id);</a:t>
            </a:r>
          </a:p>
          <a:p>
            <a:pPr>
              <a:buNone/>
            </a:pPr>
            <a:r>
              <a:rPr lang="en-US" sz="1100" dirty="0">
                <a:solidFill>
                  <a:srgbClr val="F59E0B"/>
                </a:solidFill>
              </a:rPr>
              <a:t>    if (item is null) return NotFound();  // 404</a:t>
            </a:r>
          </a:p>
          <a:p>
            <a:pPr>
              <a:buNone/>
            </a:pPr>
            <a:r>
              <a:rPr lang="en-US" sz="1100" dirty="0">
                <a:solidFill>
                  <a:srgbClr val="10B981"/>
                </a:solidFill>
              </a:rPr>
              <a:t>    return Ok(item);  // 200</a:t>
            </a:r>
          </a:p>
          <a:p>
            <a:pPr>
              <a:buNone/>
            </a:pPr>
            <a:r>
              <a:rPr lang="en-US" sz="1100" dirty="0">
                <a:solidFill>
                  <a:srgbClr val="FFFFFF"/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6238863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84200"/>
            <a:ext cx="3149600" cy="14986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200" b="1" dirty="0">
                <a:solidFill>
                  <a:srgbClr val="FFFFFF"/>
                </a:solidFill>
              </a:rPr>
              <a:t>Create Operations (POST)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184400"/>
            <a:ext cx="3149600" cy="4038600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sz="1500" b="1" dirty="0">
                <a:solidFill>
                  <a:srgbClr val="00D4FF"/>
                </a:solidFill>
              </a:rPr>
              <a:t>📥 Purpose</a:t>
            </a:r>
            <a:r>
              <a:rPr lang="en-US" sz="1400" dirty="0">
                <a:solidFill>
                  <a:srgbClr val="CBD5E1"/>
                </a:solidFill>
              </a:rPr>
              <a:t>  Create new resource — NOT idempotent (each call creates a new record)</a:t>
            </a:r>
          </a:p>
          <a:p>
            <a:pPr>
              <a:buNone/>
            </a:pPr>
            <a:r>
              <a:rPr lang="en-US" sz="1500" b="1" dirty="0">
                <a:solidFill>
                  <a:srgbClr val="00D4FF"/>
                </a:solidFill>
              </a:rPr>
              <a:t>📍 Route</a:t>
            </a:r>
            <a:r>
              <a:rPr lang="en-US" sz="1400" dirty="0">
                <a:solidFill>
                  <a:srgbClr val="CBD5E1"/>
                </a:solidFill>
              </a:rPr>
              <a:t>  POST /api/products  with JSON body (Content-Type: application/json)</a:t>
            </a:r>
          </a:p>
          <a:p>
            <a:pPr>
              <a:buNone/>
            </a:pPr>
            <a:r>
              <a:rPr lang="en-US" sz="1500" b="1" dirty="0">
                <a:solidFill>
                  <a:srgbClr val="00D4FF"/>
                </a:solidFill>
              </a:rPr>
              <a:t>🔗 Model Binding</a:t>
            </a:r>
            <a:r>
              <a:rPr lang="en-US" sz="1400" dirty="0">
                <a:solidFill>
                  <a:srgbClr val="CBD5E1"/>
                </a:solidFill>
              </a:rPr>
              <a:t>  [FromBody] auto-deserializes JSON → C# DTO</a:t>
            </a:r>
          </a:p>
          <a:p>
            <a:pPr>
              <a:buNone/>
            </a:pPr>
            <a:r>
              <a:rPr lang="en-US" sz="1500" b="1" dirty="0">
                <a:solidFill>
                  <a:srgbClr val="00D4FF"/>
                </a:solidFill>
              </a:rPr>
              <a:t>✅ Response</a:t>
            </a:r>
            <a:r>
              <a:rPr lang="en-US" sz="1400" dirty="0">
                <a:solidFill>
                  <a:srgbClr val="CBD5E1"/>
                </a:solidFill>
              </a:rPr>
              <a:t>  201 Created + Location header pointing to new resource</a:t>
            </a:r>
          </a:p>
          <a:p>
            <a:pPr>
              <a:buNone/>
            </a:pPr>
            <a:r>
              <a:rPr lang="en-US" sz="1500" b="1" dirty="0">
                <a:solidFill>
                  <a:srgbClr val="10B981"/>
                </a:solidFill>
              </a:rPr>
              <a:t>🛡️ Validation pattern</a:t>
            </a:r>
          </a:p>
          <a:p>
            <a:pPr marL="228600" indent="-228600">
              <a:buChar char="▸"/>
            </a:pPr>
            <a:r>
              <a:rPr lang="en-US" sz="1300" dirty="0">
                <a:solidFill>
                  <a:srgbClr val="94A3B8"/>
                </a:solidFill>
              </a:rPr>
              <a:t>Use DTOs (never expose EF entities directly) to prevent over-posting</a:t>
            </a:r>
          </a:p>
          <a:p>
            <a:pPr marL="228600" indent="-228600">
              <a:buChar char="▸"/>
            </a:pPr>
            <a:r>
              <a:rPr lang="en-US" sz="1300" dirty="0">
                <a:solidFill>
                  <a:srgbClr val="94A3B8"/>
                </a:solidFill>
              </a:rPr>
              <a:t>Data annotations: [Required], [StringLength(100)], [Range(0, 9999)]</a:t>
            </a:r>
          </a:p>
          <a:p>
            <a:pPr marL="228600" indent="-228600">
              <a:buChar char="▸"/>
            </a:pPr>
            <a:r>
              <a:rPr lang="en-US" sz="1300" dirty="0">
                <a:solidFill>
                  <a:srgbClr val="94A3B8"/>
                </a:solidFill>
              </a:rPr>
              <a:t>[ApiController] automatically returns 400 Bad Request on invalid ModelState</a:t>
            </a:r>
          </a:p>
        </p:txBody>
      </p:sp>
      <p:sp>
        <p:nvSpPr>
          <p:cNvPr id="20" name="CodeBox"/>
          <p:cNvSpPr>
            <a:spLocks noGrp="1"/>
          </p:cNvSpPr>
          <p:nvPr/>
        </p:nvSpPr>
        <p:spPr>
          <a:xfrm>
            <a:off x="3759200" y="457200"/>
            <a:ext cx="5003800" cy="576580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12700">
            <a:solidFill>
              <a:srgbClr val="1E3A5F"/>
            </a:solidFill>
          </a:ln>
        </p:spPr>
        <p:txBody>
          <a:bodyPr lIns="182880" tIns="182880" rIns="182880" bIns="182880"/>
          <a:lstStyle/>
          <a:p>
            <a:pPr>
              <a:buNone/>
            </a:pPr>
            <a:r>
              <a:rPr lang="en-US" sz="1100" dirty="0">
                <a:solidFill>
                  <a:srgbClr val="7C3AED"/>
                </a:solidFill>
              </a:rPr>
              <a:t>[HttpPost]</a:t>
            </a:r>
          </a:p>
          <a:p>
            <a:pPr>
              <a:buNone/>
            </a:pPr>
            <a:r>
              <a:rPr lang="en-US" sz="1100" dirty="0">
                <a:solidFill>
                  <a:srgbClr val="00D4FF"/>
                </a:solidFill>
              </a:rPr>
              <a:t>public async Task&lt;ActionResult&lt;Product&gt;&gt;</a:t>
            </a:r>
          </a:p>
          <a:p>
            <a:pPr>
              <a:buNone/>
            </a:pPr>
            <a:r>
              <a:rPr lang="en-US" sz="1100" dirty="0">
                <a:solidFill>
                  <a:srgbClr val="FFFFFF"/>
                </a:solidFill>
              </a:rPr>
              <a:t>    Create([FromBody] CreateProductDto dto)</a:t>
            </a:r>
          </a:p>
          <a:p>
            <a:pPr>
              <a:buNone/>
            </a:pPr>
            <a:r>
              <a:rPr lang="en-US" sz="1100" dirty="0">
                <a:solidFill>
                  <a:srgbClr val="FFFFFF"/>
                </a:solidFill>
              </a:rPr>
              <a:t>{</a:t>
            </a:r>
          </a:p>
          <a:p>
            <a:pPr>
              <a:buNone/>
            </a:pPr>
            <a:r>
              <a:rPr lang="en-US" sz="1100" dirty="0">
                <a:solidFill>
                  <a:srgbClr val="64748B"/>
                </a:solidFill>
              </a:rPr>
              <a:t>    // ModelState auto-validated by [ApiController]</a:t>
            </a:r>
          </a:p>
          <a:p>
            <a:pPr>
              <a:buNone/>
            </a:pPr>
            <a:r>
              <a:rPr lang="en-US" sz="1100" dirty="0">
                <a:solidFill>
                  <a:srgbClr val="94A3B8"/>
                </a:solidFill>
              </a:rPr>
              <a:t>    var product = _mapper.Map&lt;Product&gt;(dto);</a:t>
            </a:r>
          </a:p>
          <a:p>
            <a:pPr>
              <a:buNone/>
            </a:pPr>
            <a:r>
              <a:rPr lang="en-US" sz="1100" dirty="0">
                <a:solidFill>
                  <a:srgbClr val="94A3B8"/>
                </a:solidFill>
              </a:rPr>
              <a:t>    await _repo.AddAsync(product);</a:t>
            </a:r>
          </a:p>
          <a:p>
            <a:pPr>
              <a:buNone/>
            </a:pPr>
            <a:r>
              <a:rPr lang="en-US" sz="1100" dirty="0">
                <a:solidFill>
                  <a:srgbClr val="94A3B8"/>
                </a:solidFill>
              </a:rPr>
              <a:t>    await _repo.SaveChangesAsync();</a:t>
            </a:r>
          </a:p>
          <a:p>
            <a:pPr>
              <a:buNone/>
            </a:pPr>
            <a:r>
              <a:rPr lang="en-US" sz="1100" dirty="0">
                <a:solidFill>
                  <a:srgbClr val="10B981"/>
                </a:solidFill>
              </a:rPr>
              <a:t>    return CreatedAtAction(</a:t>
            </a:r>
          </a:p>
          <a:p>
            <a:pPr>
              <a:buNone/>
            </a:pPr>
            <a:r>
              <a:rPr lang="en-US" sz="1100" dirty="0">
                <a:solidFill>
                  <a:srgbClr val="10B981"/>
                </a:solidFill>
              </a:rPr>
              <a:t>        nameof(GetById),</a:t>
            </a:r>
          </a:p>
          <a:p>
            <a:pPr>
              <a:buNone/>
            </a:pPr>
            <a:r>
              <a:rPr lang="en-US" sz="1100" dirty="0">
                <a:solidFill>
                  <a:srgbClr val="10B981"/>
                </a:solidFill>
              </a:rPr>
              <a:t>        new { id = product.Id },</a:t>
            </a:r>
          </a:p>
          <a:p>
            <a:pPr>
              <a:buNone/>
            </a:pPr>
            <a:r>
              <a:rPr lang="en-US" sz="1100" dirty="0">
                <a:solidFill>
                  <a:srgbClr val="10B981"/>
                </a:solidFill>
              </a:rPr>
              <a:t>        product);  // 201 + Location header</a:t>
            </a:r>
          </a:p>
          <a:p>
            <a:pPr>
              <a:buNone/>
            </a:pPr>
            <a:r>
              <a:rPr lang="en-US" sz="1100" dirty="0">
                <a:solidFill>
                  <a:srgbClr val="FFFFFF"/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9313784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7E8CD-388A-C05F-85DA-CF048F1E1B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 1: First Endpoints</a:t>
            </a:r>
          </a:p>
        </p:txBody>
      </p:sp>
      <p:sp>
        <p:nvSpPr>
          <p:cNvPr id="2000" name="Pill"/>
          <p:cNvSpPr/>
          <p:nvPr/>
        </p:nvSpPr>
        <p:spPr>
          <a:xfrm>
            <a:off x="7112000" y="635000"/>
            <a:ext cx="1143000" cy="355600"/>
          </a:xfrm>
          <a:prstGeom prst="roundRect">
            <a:avLst>
              <a:gd name="adj" fmla="val 50000"/>
            </a:avLst>
          </a:prstGeom>
          <a:solidFill>
            <a:srgbClr val="39FF14"/>
          </a:solidFill>
          <a:ln>
            <a:noFill/>
          </a:ln>
        </p:spPr>
        <p:txBody>
          <a:bodyPr lIns="36000" tIns="0" rIns="36000" bIns="0" anchor="ctr" anchorCtr="1"/>
          <a:lstStyle/>
          <a:p>
            <a:pPr algn="ctr">
              <a:buNone/>
            </a:pPr>
            <a:r>
              <a:rPr lang="en-US" sz="1100" b="1" dirty="0">
                <a:solidFill>
                  <a:srgbClr val="0D1117"/>
                </a:solidFill>
              </a:rPr>
              <a:t>🧪 LAB 01</a:t>
            </a:r>
          </a:p>
        </p:txBody>
      </p:sp>
      <p:sp>
        <p:nvSpPr>
          <p:cNvPr id="2001" name="Pill"/>
          <p:cNvSpPr/>
          <p:nvPr/>
        </p:nvSpPr>
        <p:spPr>
          <a:xfrm>
            <a:off x="7112000" y="1041400"/>
            <a:ext cx="1143000" cy="279400"/>
          </a:xfrm>
          <a:prstGeom prst="roundRect">
            <a:avLst>
              <a:gd name="adj" fmla="val 50000"/>
            </a:avLst>
          </a:prstGeom>
          <a:solidFill>
            <a:srgbClr val="161B22"/>
          </a:solidFill>
          <a:ln>
            <a:noFill/>
          </a:ln>
        </p:spPr>
        <p:txBody>
          <a:bodyPr lIns="36000" tIns="0" rIns="36000" bIns="0" anchor="ctr" anchorCtr="1"/>
          <a:lstStyle/>
          <a:p>
            <a:pPr algn="ctr">
              <a:buNone/>
            </a:pPr>
            <a:r>
              <a:rPr lang="en-US" sz="900" b="1" dirty="0">
                <a:solidFill>
                  <a:srgbClr val="39FF14"/>
                </a:solidFill>
              </a:rPr>
              <a:t>⏱ 5–10 min</a:t>
            </a:r>
          </a:p>
        </p:txBody>
      </p:sp>
      <p:sp>
        <p:nvSpPr>
          <p:cNvPr id="2002" name="Card"/>
          <p:cNvSpPr/>
          <p:nvPr/>
        </p:nvSpPr>
        <p:spPr>
          <a:xfrm>
            <a:off x="508000" y="2222500"/>
            <a:ext cx="3937000" cy="28575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2700">
            <a:solidFill>
              <a:srgbClr val="39FF1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03" name="Text"/>
          <p:cNvSpPr txBox="1"/>
          <p:nvPr/>
        </p:nvSpPr>
        <p:spPr>
          <a:xfrm>
            <a:off x="698500" y="2387600"/>
            <a:ext cx="3619500" cy="3429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400" b="1" dirty="0">
                <a:solidFill>
                  <a:srgbClr val="39FF14"/>
                </a:solidFill>
              </a:rPr>
              <a:t>🎯 GOAL</a:t>
            </a:r>
          </a:p>
          <a:p>
            <a:pPr>
              <a:buNone/>
            </a:pPr>
            <a:r>
              <a:rPr lang="en-US" sz="1200" dirty="0">
                <a:solidFill>
                  <a:srgbClr val="E6EDF3"/>
                </a:solidFill>
              </a:rPr>
              <a:t>Build a WeatherController with two endpoints — one to fetch all forecasts and one to add a new forecast.</a:t>
            </a:r>
          </a:p>
          <a:p>
            <a:pPr>
              <a:buNone/>
            </a:pPr>
            <a:r>
              <a:rPr lang="en-US" sz="1400" b="1" dirty="0">
                <a:solidFill>
                  <a:srgbClr val="00D9FF"/>
                </a:solidFill>
              </a:rPr>
              <a:t>📦 YOU NEED</a:t>
            </a:r>
          </a:p>
          <a:p>
            <a:pPr marL="171450" indent="-171450">
              <a:buFont typeface="Arial"/>
              <a:buChar char="•"/>
            </a:pPr>
            <a:r>
              <a:rPr lang="en-US" sz="1200" dirty="0">
                <a:solidFill>
                  <a:srgbClr val="C9D1D9"/>
                </a:solidFill>
              </a:rPr>
              <a:t>.NET 8 SDK installed</a:t>
            </a:r>
          </a:p>
          <a:p>
            <a:pPr marL="171450" indent="-171450">
              <a:buFont typeface="Arial"/>
              <a:buChar char="•"/>
            </a:pPr>
            <a:r>
              <a:rPr lang="en-US" sz="1200" dirty="0">
                <a:solidFill>
                  <a:srgbClr val="C9D1D9"/>
                </a:solidFill>
              </a:rPr>
              <a:t>VS Code or Visual Studio</a:t>
            </a:r>
          </a:p>
          <a:p>
            <a:pPr marL="171450" indent="-171450">
              <a:buFont typeface="Arial"/>
              <a:buChar char="•"/>
            </a:pPr>
            <a:r>
              <a:rPr lang="en-US" sz="1200" dirty="0">
                <a:solidFill>
                  <a:srgbClr val="C9D1D9"/>
                </a:solidFill>
              </a:rPr>
              <a:t>Postman or curl</a:t>
            </a:r>
          </a:p>
        </p:txBody>
      </p:sp>
      <p:sp>
        <p:nvSpPr>
          <p:cNvPr id="2004" name="Card"/>
          <p:cNvSpPr/>
          <p:nvPr/>
        </p:nvSpPr>
        <p:spPr>
          <a:xfrm>
            <a:off x="4699000" y="2222500"/>
            <a:ext cx="3937000" cy="28575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2700">
            <a:solidFill>
              <a:srgbClr val="00D9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05" name="Text"/>
          <p:cNvSpPr txBox="1"/>
          <p:nvPr/>
        </p:nvSpPr>
        <p:spPr>
          <a:xfrm>
            <a:off x="4889500" y="2387600"/>
            <a:ext cx="3619500" cy="3429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buNone/>
            </a:pPr>
            <a:r>
              <a:rPr lang="en-US" sz="1400" b="1" dirty="0">
                <a:solidFill>
                  <a:srgbClr val="00D9FF"/>
                </a:solidFill>
              </a:rPr>
              <a:t>👩‍💻 STEPS</a:t>
            </a:r>
          </a:p>
          <a:p>
            <a:pPr marL="228600" indent="-228600">
              <a:buAutoNum type="arabicPeriod"/>
            </a:pPr>
            <a:r>
              <a:rPr lang="en-US" sz="1200" dirty="0">
                <a:solidFill>
                  <a:srgbClr val="E6EDF3"/>
                </a:solidFill>
              </a:rPr>
              <a:t>dotnet new webapi -n WeatherApi</a:t>
            </a:r>
          </a:p>
          <a:p>
            <a:pPr marL="228600" indent="-228600">
              <a:buAutoNum type="arabicPeriod"/>
            </a:pPr>
            <a:r>
              <a:rPr lang="en-US" sz="1200" dirty="0">
                <a:solidFill>
                  <a:srgbClr val="E6EDF3"/>
                </a:solidFill>
              </a:rPr>
              <a:t>Add a Forecast model (Date, TempC, Summary)</a:t>
            </a:r>
          </a:p>
          <a:p>
            <a:pPr marL="228600" indent="-228600">
              <a:buAutoNum type="arabicPeriod"/>
            </a:pPr>
            <a:r>
              <a:rPr lang="en-US" sz="1200" dirty="0">
                <a:solidFill>
                  <a:srgbClr val="E6EDF3"/>
                </a:solidFill>
              </a:rPr>
              <a:t>Create [HttpGet] returning IEnumerable&lt;Forecast&gt;</a:t>
            </a:r>
          </a:p>
          <a:p>
            <a:pPr marL="228600" indent="-228600">
              <a:buAutoNum type="arabicPeriod"/>
            </a:pPr>
            <a:r>
              <a:rPr lang="en-US" sz="1200" dirty="0">
                <a:solidFill>
                  <a:srgbClr val="E6EDF3"/>
                </a:solidFill>
              </a:rPr>
              <a:t>Create [HttpPost] that returns CreatedAtAction()</a:t>
            </a:r>
          </a:p>
          <a:p>
            <a:pPr marL="228600" indent="-228600">
              <a:buAutoNum type="arabicPeriod"/>
            </a:pPr>
            <a:r>
              <a:rPr lang="en-US" sz="1200" dirty="0">
                <a:solidFill>
                  <a:srgbClr val="E6EDF3"/>
                </a:solidFill>
              </a:rPr>
              <a:t>dotnet run → hit /weather in browser</a:t>
            </a:r>
          </a:p>
          <a:p>
            <a:pPr marL="228600" indent="-228600">
              <a:buAutoNum type="arabicPeriod"/>
            </a:pPr>
            <a:r>
              <a:rPr lang="en-US" sz="1200" dirty="0">
                <a:solidFill>
                  <a:srgbClr val="E6EDF3"/>
                </a:solidFill>
              </a:rPr>
              <a:t>POST a new forecast from Postman</a:t>
            </a:r>
          </a:p>
          <a:p>
            <a:pPr>
              <a:buNone/>
            </a:pPr>
            <a:r>
              <a:rPr lang="en-US" sz="1100" i="1" dirty="0">
                <a:solidFill>
                  <a:srgbClr val="F1FA8C"/>
                </a:solidFill>
              </a:rPr>
              <a:t>✅ Done when: GET returns array, POST returns 201 with Location header.</a:t>
            </a:r>
          </a:p>
        </p:txBody>
      </p:sp>
    </p:spTree>
    <p:extLst>
      <p:ext uri="{BB962C8B-B14F-4D97-AF65-F5344CB8AC3E}">
        <p14:creationId xmlns:p14="http://schemas.microsoft.com/office/powerpoint/2010/main" val="23075287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Update Operations (PUT/PATCH)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sz="1500" b="1" dirty="0">
                <a:solidFill>
                  <a:srgbClr val="F59E0B"/>
                </a:solidFill>
              </a:rPr>
              <a:t>PUT — Full Replace</a:t>
            </a:r>
            <a:r>
              <a:rPr lang="en-US" sz="1400" dirty="0">
                <a:solidFill>
                  <a:srgbClr val="CBD5E1"/>
                </a:solidFill>
              </a:rPr>
              <a:t>  (Idempotent: same result on repeat calls)</a:t>
            </a:r>
          </a:p>
          <a:p>
            <a:pPr marL="228600" indent="-228600">
              <a:buChar char="▸"/>
            </a:pPr>
            <a:r>
              <a:rPr lang="en-US" sz="1300" dirty="0">
                <a:solidFill>
                  <a:srgbClr val="94A3B8"/>
                </a:solidFill>
              </a:rPr>
              <a:t>Replaces entire resource — client must send ALL fields</a:t>
            </a:r>
          </a:p>
          <a:p>
            <a:pPr marL="228600" indent="-228600">
              <a:buChar char="▸"/>
            </a:pPr>
            <a:r>
              <a:rPr lang="en-US" sz="1300" dirty="0">
                <a:solidFill>
                  <a:srgbClr val="94A3B8"/>
                </a:solidFill>
              </a:rPr>
              <a:t>Returns 204 No Content (or 200 OK with updated entity)</a:t>
            </a:r>
          </a:p>
          <a:p>
            <a:pPr marL="228600" indent="-228600">
              <a:buChar char="▸"/>
            </a:pPr>
            <a:r>
              <a:rPr lang="en-US" sz="1300" dirty="0">
                <a:solidFill>
                  <a:srgbClr val="94A3B8"/>
                </a:solidFill>
              </a:rPr>
              <a:t>Route: PUT /api/products/{id}</a:t>
            </a:r>
          </a:p>
          <a:p>
            <a:pPr>
              <a:buNone/>
            </a:pPr>
            <a:r>
              <a:rPr lang="en-US" sz="200" dirty="0"/>
              <a:t> </a:t>
            </a:r>
          </a:p>
          <a:p>
            <a:pPr>
              <a:buNone/>
            </a:pPr>
            <a:r>
              <a:rPr lang="en-US" sz="1500" b="1" dirty="0">
                <a:solidFill>
                  <a:srgbClr val="EC4899"/>
                </a:solidFill>
              </a:rPr>
              <a:t>PATCH — Partial Update</a:t>
            </a:r>
            <a:r>
              <a:rPr lang="en-US" sz="1400" dirty="0">
                <a:solidFill>
                  <a:srgbClr val="CBD5E1"/>
                </a:solidFill>
              </a:rPr>
              <a:t>  (Send only changed fields)</a:t>
            </a:r>
          </a:p>
          <a:p>
            <a:pPr marL="228600" indent="-228600">
              <a:buChar char="▸"/>
            </a:pPr>
            <a:r>
              <a:rPr lang="en-US" sz="1300" dirty="0">
                <a:solidFill>
                  <a:srgbClr val="94A3B8"/>
                </a:solidFill>
              </a:rPr>
              <a:t>Use JsonPatchDocument&lt;T&gt; from Microsoft.AspNetCore.JsonPatch</a:t>
            </a:r>
          </a:p>
          <a:p>
            <a:pPr marL="228600" indent="-228600">
              <a:buChar char="▸"/>
            </a:pPr>
            <a:r>
              <a:rPr lang="en-US" sz="1300" dirty="0">
                <a:solidFill>
                  <a:srgbClr val="94A3B8"/>
                </a:solidFill>
              </a:rPr>
              <a:t>Operations: add, remove, replace, copy, move, test</a:t>
            </a:r>
          </a:p>
          <a:p>
            <a:pPr marL="228600" indent="-228600">
              <a:buChar char="▸"/>
            </a:pPr>
            <a:r>
              <a:rPr lang="en-US" sz="1300" dirty="0">
                <a:solidFill>
                  <a:srgbClr val="94A3B8"/>
                </a:solidFill>
              </a:rPr>
              <a:t>Call patchDoc.ApplyTo(entity, ModelState) then validate</a:t>
            </a:r>
          </a:p>
          <a:p>
            <a:pPr>
              <a:buNone/>
            </a:pPr>
            <a:r>
              <a:rPr lang="en-US" sz="200" dirty="0"/>
              <a:t> </a:t>
            </a:r>
          </a:p>
          <a:p>
            <a:pPr>
              <a:buNone/>
            </a:pPr>
            <a:r>
              <a:rPr lang="en-US" sz="1400" b="1" dirty="0">
                <a:solidFill>
                  <a:srgbClr val="10B981"/>
                </a:solidFill>
              </a:rPr>
              <a:t>💡 Rule of thumb:</a:t>
            </a:r>
            <a:r>
              <a:rPr lang="en-US" sz="1300" dirty="0">
                <a:solidFill>
                  <a:srgbClr val="CBD5E1"/>
                </a:solidFill>
              </a:rPr>
              <a:t>  Use PUT for forms; PATCH for large objects with sparse edits</a:t>
            </a:r>
          </a:p>
        </p:txBody>
      </p:sp>
      <p:sp>
        <p:nvSpPr>
          <p:cNvPr id="20" name="CodeBox"/>
          <p:cNvSpPr>
            <a:spLocks noGrp="1"/>
          </p:cNvSpPr>
          <p:nvPr/>
        </p:nvSpPr>
        <p:spPr>
          <a:xfrm>
            <a:off x="3600000" y="914400"/>
            <a:ext cx="5100000" cy="480000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12700">
            <a:solidFill>
              <a:srgbClr val="F59E0B"/>
            </a:solidFill>
          </a:ln>
        </p:spPr>
        <p:txBody>
          <a:bodyPr lIns="182880" tIns="182880" rIns="182880" bIns="182880"/>
          <a:lstStyle/>
          <a:p>
            <a:pPr>
              <a:buNone/>
            </a:pPr>
            <a:r>
              <a:rPr lang="en-US" sz="1100" dirty="0">
                <a:solidFill>
                  <a:srgbClr val="7C3AED"/>
                </a:solidFill>
              </a:rPr>
              <a:t>[HttpPut("{id}")]</a:t>
            </a:r>
          </a:p>
          <a:p>
            <a:pPr>
              <a:buNone/>
            </a:pPr>
            <a:r>
              <a:rPr lang="en-US" sz="1100" dirty="0">
                <a:solidFill>
                  <a:srgbClr val="00D4FF"/>
                </a:solidFill>
              </a:rPr>
              <a:t>public async Task&lt;IActionResult&gt; Update(</a:t>
            </a:r>
          </a:p>
          <a:p>
            <a:pPr>
              <a:buNone/>
            </a:pPr>
            <a:r>
              <a:rPr lang="en-US" sz="1100" dirty="0">
                <a:solidFill>
                  <a:srgbClr val="FFFFFF"/>
                </a:solidFill>
              </a:rPr>
              <a:t>    int id, [FromBody] UpdateProductDto dto)</a:t>
            </a:r>
          </a:p>
          <a:p>
            <a:pPr>
              <a:buNone/>
            </a:pPr>
            <a:r>
              <a:rPr lang="en-US" sz="1100" dirty="0">
                <a:solidFill>
                  <a:srgbClr val="FFFFFF"/>
                </a:solidFill>
              </a:rPr>
              <a:t>{</a:t>
            </a:r>
          </a:p>
          <a:p>
            <a:pPr>
              <a:buNone/>
            </a:pPr>
            <a:r>
              <a:rPr lang="en-US" sz="1100" dirty="0">
                <a:solidFill>
                  <a:srgbClr val="F59E0B"/>
                </a:solidFill>
              </a:rPr>
              <a:t>    if (!await _repo.ExistsAsync(id)) return NotFound();</a:t>
            </a:r>
          </a:p>
          <a:p>
            <a:pPr>
              <a:buNone/>
            </a:pPr>
            <a:r>
              <a:rPr lang="en-US" sz="1100" dirty="0">
                <a:solidFill>
                  <a:srgbClr val="94A3B8"/>
                </a:solidFill>
              </a:rPr>
              <a:t>    _repo.Update(id, dto);</a:t>
            </a:r>
          </a:p>
          <a:p>
            <a:pPr>
              <a:buNone/>
            </a:pPr>
            <a:r>
              <a:rPr lang="en-US" sz="1100" dirty="0">
                <a:solidFill>
                  <a:srgbClr val="94A3B8"/>
                </a:solidFill>
              </a:rPr>
              <a:t>    await _repo.SaveChangesAsync();</a:t>
            </a:r>
          </a:p>
          <a:p>
            <a:pPr>
              <a:buNone/>
            </a:pPr>
            <a:r>
              <a:rPr lang="en-US" sz="1100" dirty="0">
                <a:solidFill>
                  <a:srgbClr val="10B981"/>
                </a:solidFill>
              </a:rPr>
              <a:t>    return NoContent();  // 204</a:t>
            </a:r>
          </a:p>
          <a:p>
            <a:pPr>
              <a:buNone/>
            </a:pPr>
            <a:r>
              <a:rPr lang="en-US" sz="1100" dirty="0">
                <a:solidFill>
                  <a:srgbClr val="FFFFFF"/>
                </a:solidFill>
              </a:rPr>
              <a:t>}</a:t>
            </a:r>
          </a:p>
          <a:p>
            <a:pPr>
              <a:buNone/>
            </a:pPr>
            <a:r>
              <a:rPr lang="en-US" sz="200" dirty="0"/>
              <a:t> </a:t>
            </a:r>
          </a:p>
          <a:p>
            <a:pPr>
              <a:buNone/>
            </a:pPr>
            <a:r>
              <a:rPr lang="en-US" sz="1100" dirty="0">
                <a:solidFill>
                  <a:srgbClr val="7C3AED"/>
                </a:solidFill>
              </a:rPr>
              <a:t>[HttpPatch("{id}")]</a:t>
            </a:r>
          </a:p>
          <a:p>
            <a:pPr>
              <a:buNone/>
            </a:pPr>
            <a:r>
              <a:rPr lang="en-US" sz="1100" dirty="0">
                <a:solidFill>
                  <a:srgbClr val="00D4FF"/>
                </a:solidFill>
              </a:rPr>
              <a:t>public async Task&lt;IActionResult&gt; PartialUpdate(</a:t>
            </a:r>
          </a:p>
          <a:p>
            <a:pPr>
              <a:buNone/>
            </a:pPr>
            <a:r>
              <a:rPr lang="en-US" sz="1100" dirty="0">
                <a:solidFill>
                  <a:srgbClr val="FFFFFF"/>
                </a:solidFill>
              </a:rPr>
              <a:t>    int id, [FromBody] JsonPatchDocument&lt;Product&gt; patch)</a:t>
            </a:r>
          </a:p>
          <a:p>
            <a:pPr>
              <a:buNone/>
            </a:pPr>
            <a:r>
              <a:rPr lang="en-US" sz="1100" dirty="0">
                <a:solidFill>
                  <a:srgbClr val="FFFFFF"/>
                </a:solidFill>
              </a:rPr>
              <a:t>{</a:t>
            </a:r>
          </a:p>
          <a:p>
            <a:pPr>
              <a:buNone/>
            </a:pPr>
            <a:r>
              <a:rPr lang="en-US" sz="1100" dirty="0">
                <a:solidFill>
                  <a:srgbClr val="94A3B8"/>
                </a:solidFill>
              </a:rPr>
              <a:t>    patch.ApplyTo(entity, ModelState);</a:t>
            </a:r>
          </a:p>
          <a:p>
            <a:pPr>
              <a:buNone/>
            </a:pPr>
            <a:r>
              <a:rPr lang="en-US" sz="1100" dirty="0">
                <a:solidFill>
                  <a:srgbClr val="F59E0B"/>
                </a:solidFill>
              </a:rPr>
              <a:t>    if (!TryValidateModel(entity)) return ValidationProblem();</a:t>
            </a:r>
          </a:p>
          <a:p>
            <a:pPr>
              <a:buNone/>
            </a:pPr>
            <a:r>
              <a:rPr lang="en-US" sz="1100" dirty="0">
                <a:solidFill>
                  <a:srgbClr val="10B981"/>
                </a:solidFill>
              </a:rPr>
              <a:t>    return NoContent();</a:t>
            </a:r>
          </a:p>
          <a:p>
            <a:pPr>
              <a:buNone/>
            </a:pPr>
            <a:r>
              <a:rPr lang="en-US" sz="1100" dirty="0">
                <a:solidFill>
                  <a:srgbClr val="FFFFFF"/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7817954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Delete Operations (DELETE)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sz="1500" b="1" dirty="0">
                <a:solidFill>
                  <a:srgbClr val="EF4444"/>
                </a:solidFill>
              </a:rPr>
              <a:t>🗑️ Purpose</a:t>
            </a:r>
            <a:r>
              <a:rPr lang="en-US" sz="1400" dirty="0">
                <a:solidFill>
                  <a:srgbClr val="CBD5E1"/>
                </a:solidFill>
              </a:rPr>
              <a:t>  Remove a resource permanently — idempotent</a:t>
            </a:r>
          </a:p>
          <a:p>
            <a:pPr>
              <a:buNone/>
            </a:pPr>
            <a:r>
              <a:rPr lang="en-US" sz="1500" b="1" dirty="0">
                <a:solidFill>
                  <a:srgbClr val="00D4FF"/>
                </a:solidFill>
              </a:rPr>
              <a:t>📍 Route</a:t>
            </a:r>
            <a:r>
              <a:rPr lang="en-US" sz="1400" dirty="0">
                <a:solidFill>
                  <a:srgbClr val="CBD5E1"/>
                </a:solidFill>
              </a:rPr>
              <a:t>  DELETE /api/products/{id}</a:t>
            </a:r>
          </a:p>
          <a:p>
            <a:pPr>
              <a:buNone/>
            </a:pPr>
            <a:r>
              <a:rPr lang="en-US" sz="1500" b="1" dirty="0">
                <a:solidFill>
                  <a:srgbClr val="00D4FF"/>
                </a:solidFill>
              </a:rPr>
              <a:t>✅ Success</a:t>
            </a:r>
            <a:r>
              <a:rPr lang="en-US" sz="1400" dirty="0">
                <a:solidFill>
                  <a:srgbClr val="CBD5E1"/>
                </a:solidFill>
              </a:rPr>
              <a:t>  204 No Content (resource deleted)</a:t>
            </a:r>
          </a:p>
          <a:p>
            <a:pPr>
              <a:buNone/>
            </a:pPr>
            <a:r>
              <a:rPr lang="en-US" sz="1500" b="1" dirty="0">
                <a:solidFill>
                  <a:srgbClr val="00D4FF"/>
                </a:solidFill>
              </a:rPr>
              <a:t>❌ Not found</a:t>
            </a:r>
            <a:r>
              <a:rPr lang="en-US" sz="1400" dirty="0">
                <a:solidFill>
                  <a:srgbClr val="CBD5E1"/>
                </a:solidFill>
              </a:rPr>
              <a:t>  404 Not Found</a:t>
            </a:r>
          </a:p>
          <a:p>
            <a:pPr>
              <a:buNone/>
            </a:pPr>
            <a:r>
              <a:rPr lang="en-US" sz="1500" b="1" dirty="0">
                <a:solidFill>
                  <a:srgbClr val="10B981"/>
                </a:solidFill>
              </a:rPr>
              <a:t>⚠️ Best practices</a:t>
            </a:r>
          </a:p>
          <a:p>
            <a:pPr marL="228600" indent="-228600">
              <a:buChar char="▸"/>
            </a:pPr>
            <a:r>
              <a:rPr lang="en-US" sz="1300" dirty="0">
                <a:solidFill>
                  <a:srgbClr val="94A3B8"/>
                </a:solidFill>
              </a:rPr>
              <a:t>Soft delete (IsDeleted flag) is safer than hard delete — preserves audit trail</a:t>
            </a:r>
          </a:p>
          <a:p>
            <a:pPr marL="228600" indent="-228600">
              <a:buChar char="▸"/>
            </a:pPr>
            <a:r>
              <a:rPr lang="en-US" sz="1300" dirty="0">
                <a:solidFill>
                  <a:srgbClr val="94A3B8"/>
                </a:solidFill>
              </a:rPr>
              <a:t>Check for cascade dependencies (FK references) before deleting</a:t>
            </a:r>
          </a:p>
          <a:p>
            <a:pPr marL="228600" indent="-228600">
              <a:buChar char="▸"/>
            </a:pPr>
            <a:r>
              <a:rPr lang="en-US" sz="1300" dirty="0">
                <a:solidFill>
                  <a:srgbClr val="94A3B8"/>
                </a:solidFill>
              </a:rPr>
              <a:t>Require [Authorize] on DELETE — prevent accidental data loss</a:t>
            </a:r>
          </a:p>
          <a:p>
            <a:pPr marL="228600" indent="-228600">
              <a:buChar char="▸"/>
            </a:pPr>
            <a:r>
              <a:rPr lang="en-US" sz="1300" dirty="0">
                <a:solidFill>
                  <a:srgbClr val="94A3B8"/>
                </a:solidFill>
              </a:rPr>
              <a:t>Consider returning the deleted item (200 OK + body) for undo UX patterns</a:t>
            </a:r>
          </a:p>
        </p:txBody>
      </p:sp>
      <p:sp>
        <p:nvSpPr>
          <p:cNvPr id="20" name="CodeBox"/>
          <p:cNvSpPr>
            <a:spLocks noGrp="1"/>
          </p:cNvSpPr>
          <p:nvPr/>
        </p:nvSpPr>
        <p:spPr>
          <a:xfrm>
            <a:off x="3600000" y="914400"/>
            <a:ext cx="5100000" cy="440000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12700">
            <a:solidFill>
              <a:srgbClr val="EF4444"/>
            </a:solidFill>
          </a:ln>
        </p:spPr>
        <p:txBody>
          <a:bodyPr lIns="182880" tIns="182880" rIns="182880" bIns="182880"/>
          <a:lstStyle/>
          <a:p>
            <a:pPr>
              <a:buNone/>
            </a:pPr>
            <a:r>
              <a:rPr lang="en-US" sz="1100" dirty="0">
                <a:solidFill>
                  <a:srgbClr val="7C3AED"/>
                </a:solidFill>
              </a:rPr>
              <a:t>[HttpDelete("{id}")]</a:t>
            </a:r>
          </a:p>
          <a:p>
            <a:pPr>
              <a:buNone/>
            </a:pPr>
            <a:r>
              <a:rPr lang="en-US" sz="1100" dirty="0">
                <a:solidFill>
                  <a:srgbClr val="7C3AED"/>
                </a:solidFill>
              </a:rPr>
              <a:t>[Authorize(Roles = "Admin")]</a:t>
            </a:r>
          </a:p>
          <a:p>
            <a:pPr>
              <a:buNone/>
            </a:pPr>
            <a:r>
              <a:rPr lang="en-US" sz="1100" dirty="0">
                <a:solidFill>
                  <a:srgbClr val="00D4FF"/>
                </a:solidFill>
              </a:rPr>
              <a:t>public async Task&lt;IActionResult&gt; Delete(int id)</a:t>
            </a:r>
          </a:p>
          <a:p>
            <a:pPr>
              <a:buNone/>
            </a:pPr>
            <a:r>
              <a:rPr lang="en-US" sz="1100" dirty="0">
                <a:solidFill>
                  <a:srgbClr val="FFFFFF"/>
                </a:solidFill>
              </a:rPr>
              <a:t>{</a:t>
            </a:r>
          </a:p>
          <a:p>
            <a:pPr>
              <a:buNone/>
            </a:pPr>
            <a:r>
              <a:rPr lang="en-US" sz="1100" dirty="0">
                <a:solidFill>
                  <a:srgbClr val="94A3B8"/>
                </a:solidFill>
              </a:rPr>
              <a:t>    var item = await _repo.FindAsync(id);</a:t>
            </a:r>
          </a:p>
          <a:p>
            <a:pPr>
              <a:buNone/>
            </a:pPr>
            <a:r>
              <a:rPr lang="en-US" sz="1100" dirty="0">
                <a:solidFill>
                  <a:srgbClr val="F59E0B"/>
                </a:solidFill>
              </a:rPr>
              <a:t>    if (item is null) return NotFound();</a:t>
            </a:r>
          </a:p>
          <a:p>
            <a:pPr>
              <a:buNone/>
            </a:pPr>
            <a:r>
              <a:rPr lang="en-US" sz="1100" dirty="0">
                <a:solidFill>
                  <a:srgbClr val="64748B"/>
                </a:solidFill>
              </a:rPr>
              <a:t>    // Soft delete pattern</a:t>
            </a:r>
          </a:p>
          <a:p>
            <a:pPr>
              <a:buNone/>
            </a:pPr>
            <a:r>
              <a:rPr lang="en-US" sz="1100" dirty="0">
                <a:solidFill>
                  <a:srgbClr val="94A3B8"/>
                </a:solidFill>
              </a:rPr>
              <a:t>    item.IsDeleted = true;</a:t>
            </a:r>
          </a:p>
          <a:p>
            <a:pPr>
              <a:buNone/>
            </a:pPr>
            <a:r>
              <a:rPr lang="en-US" sz="1100" dirty="0">
                <a:solidFill>
                  <a:srgbClr val="94A3B8"/>
                </a:solidFill>
              </a:rPr>
              <a:t>    item.DeletedAt = DateTime.UtcNow;</a:t>
            </a:r>
          </a:p>
          <a:p>
            <a:pPr>
              <a:buNone/>
            </a:pPr>
            <a:r>
              <a:rPr lang="en-US" sz="1100" dirty="0">
                <a:solidFill>
                  <a:srgbClr val="94A3B8"/>
                </a:solidFill>
              </a:rPr>
              <a:t>    await _repo.SaveChangesAsync();</a:t>
            </a:r>
          </a:p>
          <a:p>
            <a:pPr>
              <a:buNone/>
            </a:pPr>
            <a:r>
              <a:rPr lang="en-US" sz="1100" dirty="0">
                <a:solidFill>
                  <a:srgbClr val="10B981"/>
                </a:solidFill>
              </a:rPr>
              <a:t>    return NoContent(); // 204</a:t>
            </a:r>
          </a:p>
          <a:p>
            <a:pPr>
              <a:buNone/>
            </a:pPr>
            <a:r>
              <a:rPr lang="en-US" sz="1100" dirty="0">
                <a:solidFill>
                  <a:srgbClr val="FFFFFF"/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5045061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CF5AAE-B705-C22B-5249-F81ED86D59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HTTP Verbs ↔ CRUD Map</a:t>
            </a:r>
          </a:p>
        </p:txBody>
      </p:sp>
      <p:sp>
        <p:nvSpPr>
          <p:cNvPr id="1000" name="Panel1000"/>
          <p:cNvSpPr/>
          <p:nvPr/>
        </p:nvSpPr>
        <p:spPr>
          <a:xfrm>
            <a:off x="508000" y="2222500"/>
            <a:ext cx="8128000" cy="381000"/>
          </a:xfrm>
          <a:prstGeom prst="roundRect">
            <a:avLst>
              <a:gd name="adj" fmla="val 10000"/>
            </a:avLst>
          </a:prstGeom>
          <a:solidFill>
            <a:srgbClr val="161B22"/>
          </a:solidFill>
          <a:ln w="12700">
            <a:solidFill>
              <a:srgbClr val="BD93F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01" name="T1001"/>
          <p:cNvSpPr txBox="1"/>
          <p:nvPr/>
        </p:nvSpPr>
        <p:spPr>
          <a:xfrm>
            <a:off x="508000" y="2222500"/>
            <a:ext cx="1143000" cy="381000"/>
          </a:xfrm>
          <a:prstGeom prst="rect">
            <a:avLst/>
          </a:prstGeom>
          <a:noFill/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en-US" sz="1000" b="1" dirty="0">
                <a:solidFill>
                  <a:srgbClr val="BD93F9"/>
                </a:solidFill>
              </a:rPr>
              <a:t>VERB</a:t>
            </a:r>
          </a:p>
        </p:txBody>
      </p:sp>
      <p:sp>
        <p:nvSpPr>
          <p:cNvPr id="1002" name="T1002"/>
          <p:cNvSpPr txBox="1"/>
          <p:nvPr/>
        </p:nvSpPr>
        <p:spPr>
          <a:xfrm>
            <a:off x="1651000" y="2222500"/>
            <a:ext cx="1524000" cy="381000"/>
          </a:xfrm>
          <a:prstGeom prst="rect">
            <a:avLst/>
          </a:prstGeom>
          <a:noFill/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en-US" sz="1000" b="1" dirty="0">
                <a:solidFill>
                  <a:srgbClr val="BD93F9"/>
                </a:solidFill>
              </a:rPr>
              <a:t>CRUD</a:t>
            </a:r>
          </a:p>
        </p:txBody>
      </p:sp>
      <p:sp>
        <p:nvSpPr>
          <p:cNvPr id="1003" name="T1003"/>
          <p:cNvSpPr txBox="1"/>
          <p:nvPr/>
        </p:nvSpPr>
        <p:spPr>
          <a:xfrm>
            <a:off x="3175000" y="2222500"/>
            <a:ext cx="2159000" cy="381000"/>
          </a:xfrm>
          <a:prstGeom prst="rect">
            <a:avLst/>
          </a:prstGeom>
          <a:noFill/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en-US" sz="1000" b="1" dirty="0">
                <a:solidFill>
                  <a:srgbClr val="BD93F9"/>
                </a:solidFill>
              </a:rPr>
              <a:t>STATUS CODE</a:t>
            </a:r>
          </a:p>
        </p:txBody>
      </p:sp>
      <p:sp>
        <p:nvSpPr>
          <p:cNvPr id="1004" name="T1004"/>
          <p:cNvSpPr txBox="1"/>
          <p:nvPr/>
        </p:nvSpPr>
        <p:spPr>
          <a:xfrm>
            <a:off x="5334000" y="2222500"/>
            <a:ext cx="3302000" cy="381000"/>
          </a:xfrm>
          <a:prstGeom prst="rect">
            <a:avLst/>
          </a:prstGeom>
          <a:noFill/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en-US" sz="1000" b="1" dirty="0">
                <a:solidFill>
                  <a:srgbClr val="BD93F9"/>
                </a:solidFill>
              </a:rPr>
              <a:t>TYPICAL USE</a:t>
            </a:r>
          </a:p>
        </p:txBody>
      </p:sp>
      <p:sp>
        <p:nvSpPr>
          <p:cNvPr id="1005" name="Panel1005"/>
          <p:cNvSpPr/>
          <p:nvPr/>
        </p:nvSpPr>
        <p:spPr>
          <a:xfrm>
            <a:off x="508000" y="2476500"/>
            <a:ext cx="8128000" cy="533400"/>
          </a:xfrm>
          <a:prstGeom prst="roundRect">
            <a:avLst>
              <a:gd name="adj" fmla="val 10000"/>
            </a:avLst>
          </a:prstGeom>
          <a:solidFill>
            <a:srgbClr val="161B22"/>
          </a:solidFill>
          <a:ln w="12700">
            <a:solidFill>
              <a:srgbClr val="39FF1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06" name="VerbChip0"/>
          <p:cNvSpPr/>
          <p:nvPr/>
        </p:nvSpPr>
        <p:spPr>
          <a:xfrm>
            <a:off x="635000" y="2578100"/>
            <a:ext cx="889000" cy="330200"/>
          </a:xfrm>
          <a:prstGeom prst="roundRect">
            <a:avLst>
              <a:gd name="adj" fmla="val 30000"/>
            </a:avLst>
          </a:prstGeom>
          <a:solidFill>
            <a:srgbClr val="39FF14"/>
          </a:solidFill>
          <a:ln>
            <a:noFill/>
          </a:ln>
        </p:spPr>
        <p:txBody>
          <a:bodyPr lIns="0" tIns="0" rIns="0" bIns="0" anchor="ctr" anchorCtr="1"/>
          <a:lstStyle/>
          <a:p>
            <a:pPr algn="ctr">
              <a:buNone/>
            </a:pPr>
            <a:r>
              <a:rPr lang="en-US" sz="1000" b="1" dirty="0">
                <a:solidFill>
                  <a:srgbClr val="0D1117"/>
                </a:solidFill>
              </a:rPr>
              <a:t>GET</a:t>
            </a:r>
          </a:p>
        </p:txBody>
      </p:sp>
      <p:sp>
        <p:nvSpPr>
          <p:cNvPr id="1007" name="T1007"/>
          <p:cNvSpPr txBox="1"/>
          <p:nvPr/>
        </p:nvSpPr>
        <p:spPr>
          <a:xfrm>
            <a:off x="1651000" y="2476500"/>
            <a:ext cx="1524000" cy="533400"/>
          </a:xfrm>
          <a:prstGeom prst="rect">
            <a:avLst/>
          </a:prstGeom>
          <a:noFill/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en-US" sz="1000" b="1" dirty="0">
                <a:solidFill>
                  <a:srgbClr val="E6EDF3"/>
                </a:solidFill>
              </a:rPr>
              <a:t>READ</a:t>
            </a:r>
          </a:p>
        </p:txBody>
      </p:sp>
      <p:sp>
        <p:nvSpPr>
          <p:cNvPr id="1008" name="T1008"/>
          <p:cNvSpPr txBox="1"/>
          <p:nvPr/>
        </p:nvSpPr>
        <p:spPr>
          <a:xfrm>
            <a:off x="3175000" y="2476500"/>
            <a:ext cx="2159000" cy="533400"/>
          </a:xfrm>
          <a:prstGeom prst="rect">
            <a:avLst/>
          </a:prstGeom>
          <a:noFill/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en-US" sz="1000" b="0" dirty="0">
                <a:solidFill>
                  <a:srgbClr val="C9D1D9"/>
                </a:solidFill>
              </a:rPr>
              <a:t>200 OK / 404</a:t>
            </a:r>
          </a:p>
        </p:txBody>
      </p:sp>
      <p:sp>
        <p:nvSpPr>
          <p:cNvPr id="1009" name="T1009"/>
          <p:cNvSpPr txBox="1"/>
          <p:nvPr/>
        </p:nvSpPr>
        <p:spPr>
          <a:xfrm>
            <a:off x="5334000" y="2476500"/>
            <a:ext cx="3302000" cy="533400"/>
          </a:xfrm>
          <a:prstGeom prst="rect">
            <a:avLst/>
          </a:prstGeom>
          <a:noFill/>
        </p:spPr>
        <p:txBody>
          <a:bodyPr wrap="square" lIns="36000" tIns="18000" rIns="36000" bIns="18000" anchor="ctr"/>
          <a:lstStyle/>
          <a:p>
            <a:pPr algn="l">
              <a:buNone/>
            </a:pPr>
            <a:r>
              <a:rPr lang="en-US" sz="1000" b="0" dirty="0">
                <a:solidFill>
                  <a:srgbClr val="C9D1D9"/>
                </a:solidFill>
              </a:rPr>
              <a:t>Fetch one or many resources</a:t>
            </a:r>
          </a:p>
        </p:txBody>
      </p:sp>
      <p:sp>
        <p:nvSpPr>
          <p:cNvPr id="1010" name="Panel1010"/>
          <p:cNvSpPr/>
          <p:nvPr/>
        </p:nvSpPr>
        <p:spPr>
          <a:xfrm>
            <a:off x="508000" y="3111500"/>
            <a:ext cx="8128000" cy="533400"/>
          </a:xfrm>
          <a:prstGeom prst="roundRect">
            <a:avLst>
              <a:gd name="adj" fmla="val 10000"/>
            </a:avLst>
          </a:prstGeom>
          <a:solidFill>
            <a:srgbClr val="161B22"/>
          </a:solidFill>
          <a:ln w="12700">
            <a:solidFill>
              <a:srgbClr val="00D9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11" name="VerbChip1"/>
          <p:cNvSpPr/>
          <p:nvPr/>
        </p:nvSpPr>
        <p:spPr>
          <a:xfrm>
            <a:off x="635000" y="3213100"/>
            <a:ext cx="889000" cy="330200"/>
          </a:xfrm>
          <a:prstGeom prst="roundRect">
            <a:avLst>
              <a:gd name="adj" fmla="val 30000"/>
            </a:avLst>
          </a:prstGeom>
          <a:solidFill>
            <a:srgbClr val="00D9FF"/>
          </a:solidFill>
          <a:ln>
            <a:noFill/>
          </a:ln>
        </p:spPr>
        <p:txBody>
          <a:bodyPr lIns="0" tIns="0" rIns="0" bIns="0" anchor="ctr" anchorCtr="1"/>
          <a:lstStyle/>
          <a:p>
            <a:pPr algn="ctr">
              <a:buNone/>
            </a:pPr>
            <a:r>
              <a:rPr lang="en-US" sz="1000" b="1" dirty="0">
                <a:solidFill>
                  <a:srgbClr val="0D1117"/>
                </a:solidFill>
              </a:rPr>
              <a:t>POST</a:t>
            </a:r>
          </a:p>
        </p:txBody>
      </p:sp>
      <p:sp>
        <p:nvSpPr>
          <p:cNvPr id="1012" name="T1012"/>
          <p:cNvSpPr txBox="1"/>
          <p:nvPr/>
        </p:nvSpPr>
        <p:spPr>
          <a:xfrm>
            <a:off x="1651000" y="3111500"/>
            <a:ext cx="1524000" cy="533400"/>
          </a:xfrm>
          <a:prstGeom prst="rect">
            <a:avLst/>
          </a:prstGeom>
          <a:noFill/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en-US" sz="1000" b="1" dirty="0">
                <a:solidFill>
                  <a:srgbClr val="E6EDF3"/>
                </a:solidFill>
              </a:rPr>
              <a:t>CREATE</a:t>
            </a:r>
          </a:p>
        </p:txBody>
      </p:sp>
      <p:sp>
        <p:nvSpPr>
          <p:cNvPr id="1013" name="T1013"/>
          <p:cNvSpPr txBox="1"/>
          <p:nvPr/>
        </p:nvSpPr>
        <p:spPr>
          <a:xfrm>
            <a:off x="3175000" y="3111500"/>
            <a:ext cx="2159000" cy="533400"/>
          </a:xfrm>
          <a:prstGeom prst="rect">
            <a:avLst/>
          </a:prstGeom>
          <a:noFill/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en-US" sz="1000" b="0" dirty="0">
                <a:solidFill>
                  <a:srgbClr val="C9D1D9"/>
                </a:solidFill>
              </a:rPr>
              <a:t>201 Created</a:t>
            </a:r>
          </a:p>
        </p:txBody>
      </p:sp>
      <p:sp>
        <p:nvSpPr>
          <p:cNvPr id="1014" name="T1014"/>
          <p:cNvSpPr txBox="1"/>
          <p:nvPr/>
        </p:nvSpPr>
        <p:spPr>
          <a:xfrm>
            <a:off x="5334000" y="3111500"/>
            <a:ext cx="3302000" cy="533400"/>
          </a:xfrm>
          <a:prstGeom prst="rect">
            <a:avLst/>
          </a:prstGeom>
          <a:noFill/>
        </p:spPr>
        <p:txBody>
          <a:bodyPr wrap="square" lIns="36000" tIns="18000" rIns="36000" bIns="18000" anchor="ctr"/>
          <a:lstStyle/>
          <a:p>
            <a:pPr algn="l">
              <a:buNone/>
            </a:pPr>
            <a:r>
              <a:rPr lang="en-US" sz="1000" b="0" dirty="0">
                <a:solidFill>
                  <a:srgbClr val="C9D1D9"/>
                </a:solidFill>
              </a:rPr>
              <a:t>Insert new resource</a:t>
            </a:r>
          </a:p>
        </p:txBody>
      </p:sp>
      <p:sp>
        <p:nvSpPr>
          <p:cNvPr id="1015" name="Panel1015"/>
          <p:cNvSpPr/>
          <p:nvPr/>
        </p:nvSpPr>
        <p:spPr>
          <a:xfrm>
            <a:off x="508000" y="3746500"/>
            <a:ext cx="8128000" cy="533400"/>
          </a:xfrm>
          <a:prstGeom prst="roundRect">
            <a:avLst>
              <a:gd name="adj" fmla="val 10000"/>
            </a:avLst>
          </a:prstGeom>
          <a:solidFill>
            <a:srgbClr val="161B22"/>
          </a:solidFill>
          <a:ln w="12700">
            <a:solidFill>
              <a:srgbClr val="FFB86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16" name="VerbChip2"/>
          <p:cNvSpPr/>
          <p:nvPr/>
        </p:nvSpPr>
        <p:spPr>
          <a:xfrm>
            <a:off x="635000" y="3848100"/>
            <a:ext cx="889000" cy="330200"/>
          </a:xfrm>
          <a:prstGeom prst="roundRect">
            <a:avLst>
              <a:gd name="adj" fmla="val 30000"/>
            </a:avLst>
          </a:prstGeom>
          <a:solidFill>
            <a:srgbClr val="FFB86C"/>
          </a:solidFill>
          <a:ln>
            <a:noFill/>
          </a:ln>
        </p:spPr>
        <p:txBody>
          <a:bodyPr lIns="0" tIns="0" rIns="0" bIns="0" anchor="ctr" anchorCtr="1"/>
          <a:lstStyle/>
          <a:p>
            <a:pPr algn="ctr">
              <a:buNone/>
            </a:pPr>
            <a:r>
              <a:rPr lang="en-US" sz="1000" b="1" dirty="0">
                <a:solidFill>
                  <a:srgbClr val="0D1117"/>
                </a:solidFill>
              </a:rPr>
              <a:t>PUT</a:t>
            </a:r>
          </a:p>
        </p:txBody>
      </p:sp>
      <p:sp>
        <p:nvSpPr>
          <p:cNvPr id="1017" name="T1017"/>
          <p:cNvSpPr txBox="1"/>
          <p:nvPr/>
        </p:nvSpPr>
        <p:spPr>
          <a:xfrm>
            <a:off x="1651000" y="3746500"/>
            <a:ext cx="1524000" cy="533400"/>
          </a:xfrm>
          <a:prstGeom prst="rect">
            <a:avLst/>
          </a:prstGeom>
          <a:noFill/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en-US" sz="1000" b="1" dirty="0">
                <a:solidFill>
                  <a:srgbClr val="E6EDF3"/>
                </a:solidFill>
              </a:rPr>
              <a:t>UPDATE</a:t>
            </a:r>
          </a:p>
        </p:txBody>
      </p:sp>
      <p:sp>
        <p:nvSpPr>
          <p:cNvPr id="1018" name="T1018"/>
          <p:cNvSpPr txBox="1"/>
          <p:nvPr/>
        </p:nvSpPr>
        <p:spPr>
          <a:xfrm>
            <a:off x="3175000" y="3746500"/>
            <a:ext cx="2159000" cy="533400"/>
          </a:xfrm>
          <a:prstGeom prst="rect">
            <a:avLst/>
          </a:prstGeom>
          <a:noFill/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en-US" sz="1000" b="0" dirty="0">
                <a:solidFill>
                  <a:srgbClr val="C9D1D9"/>
                </a:solidFill>
              </a:rPr>
              <a:t>200 OK / 204</a:t>
            </a:r>
          </a:p>
        </p:txBody>
      </p:sp>
      <p:sp>
        <p:nvSpPr>
          <p:cNvPr id="1019" name="T1019"/>
          <p:cNvSpPr txBox="1"/>
          <p:nvPr/>
        </p:nvSpPr>
        <p:spPr>
          <a:xfrm>
            <a:off x="5334000" y="3746500"/>
            <a:ext cx="3302000" cy="533400"/>
          </a:xfrm>
          <a:prstGeom prst="rect">
            <a:avLst/>
          </a:prstGeom>
          <a:noFill/>
        </p:spPr>
        <p:txBody>
          <a:bodyPr wrap="square" lIns="36000" tIns="18000" rIns="36000" bIns="18000" anchor="ctr"/>
          <a:lstStyle/>
          <a:p>
            <a:pPr algn="l">
              <a:buNone/>
            </a:pPr>
            <a:r>
              <a:rPr lang="en-US" sz="1000" b="0" dirty="0">
                <a:solidFill>
                  <a:srgbClr val="C9D1D9"/>
                </a:solidFill>
              </a:rPr>
              <a:t>Replace entire resource</a:t>
            </a:r>
          </a:p>
        </p:txBody>
      </p:sp>
      <p:sp>
        <p:nvSpPr>
          <p:cNvPr id="1020" name="Panel1020"/>
          <p:cNvSpPr/>
          <p:nvPr/>
        </p:nvSpPr>
        <p:spPr>
          <a:xfrm>
            <a:off x="508000" y="4381500"/>
            <a:ext cx="8128000" cy="533400"/>
          </a:xfrm>
          <a:prstGeom prst="roundRect">
            <a:avLst>
              <a:gd name="adj" fmla="val 10000"/>
            </a:avLst>
          </a:prstGeom>
          <a:solidFill>
            <a:srgbClr val="161B22"/>
          </a:solidFill>
          <a:ln w="12700">
            <a:solidFill>
              <a:srgbClr val="BD93F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21" name="VerbChip3"/>
          <p:cNvSpPr/>
          <p:nvPr/>
        </p:nvSpPr>
        <p:spPr>
          <a:xfrm>
            <a:off x="635000" y="4483100"/>
            <a:ext cx="889000" cy="330200"/>
          </a:xfrm>
          <a:prstGeom prst="roundRect">
            <a:avLst>
              <a:gd name="adj" fmla="val 30000"/>
            </a:avLst>
          </a:prstGeom>
          <a:solidFill>
            <a:srgbClr val="BD93F9"/>
          </a:solidFill>
          <a:ln>
            <a:noFill/>
          </a:ln>
        </p:spPr>
        <p:txBody>
          <a:bodyPr lIns="0" tIns="0" rIns="0" bIns="0" anchor="ctr" anchorCtr="1"/>
          <a:lstStyle/>
          <a:p>
            <a:pPr algn="ctr">
              <a:buNone/>
            </a:pPr>
            <a:r>
              <a:rPr lang="en-US" sz="1000" b="1" dirty="0">
                <a:solidFill>
                  <a:srgbClr val="0D1117"/>
                </a:solidFill>
              </a:rPr>
              <a:t>PATCH</a:t>
            </a:r>
          </a:p>
        </p:txBody>
      </p:sp>
      <p:sp>
        <p:nvSpPr>
          <p:cNvPr id="1022" name="T1022"/>
          <p:cNvSpPr txBox="1"/>
          <p:nvPr/>
        </p:nvSpPr>
        <p:spPr>
          <a:xfrm>
            <a:off x="1651000" y="4381500"/>
            <a:ext cx="1524000" cy="533400"/>
          </a:xfrm>
          <a:prstGeom prst="rect">
            <a:avLst/>
          </a:prstGeom>
          <a:noFill/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en-US" sz="1000" b="1" dirty="0">
                <a:solidFill>
                  <a:srgbClr val="E6EDF3"/>
                </a:solidFill>
              </a:rPr>
              <a:t>UPDATE</a:t>
            </a:r>
          </a:p>
        </p:txBody>
      </p:sp>
      <p:sp>
        <p:nvSpPr>
          <p:cNvPr id="1023" name="T1023"/>
          <p:cNvSpPr txBox="1"/>
          <p:nvPr/>
        </p:nvSpPr>
        <p:spPr>
          <a:xfrm>
            <a:off x="3175000" y="4381500"/>
            <a:ext cx="2159000" cy="533400"/>
          </a:xfrm>
          <a:prstGeom prst="rect">
            <a:avLst/>
          </a:prstGeom>
          <a:noFill/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en-US" sz="1000" b="0" dirty="0">
                <a:solidFill>
                  <a:srgbClr val="C9D1D9"/>
                </a:solidFill>
              </a:rPr>
              <a:t>200 OK / 204</a:t>
            </a:r>
          </a:p>
        </p:txBody>
      </p:sp>
      <p:sp>
        <p:nvSpPr>
          <p:cNvPr id="1024" name="T1024"/>
          <p:cNvSpPr txBox="1"/>
          <p:nvPr/>
        </p:nvSpPr>
        <p:spPr>
          <a:xfrm>
            <a:off x="5334000" y="4381500"/>
            <a:ext cx="3302000" cy="533400"/>
          </a:xfrm>
          <a:prstGeom prst="rect">
            <a:avLst/>
          </a:prstGeom>
          <a:noFill/>
        </p:spPr>
        <p:txBody>
          <a:bodyPr wrap="square" lIns="36000" tIns="18000" rIns="36000" bIns="18000" anchor="ctr"/>
          <a:lstStyle/>
          <a:p>
            <a:pPr algn="l">
              <a:buNone/>
            </a:pPr>
            <a:r>
              <a:rPr lang="en-US" sz="1000" b="0" dirty="0">
                <a:solidFill>
                  <a:srgbClr val="C9D1D9"/>
                </a:solidFill>
              </a:rPr>
              <a:t>Partial update of resource</a:t>
            </a:r>
          </a:p>
        </p:txBody>
      </p:sp>
      <p:sp>
        <p:nvSpPr>
          <p:cNvPr id="1025" name="Panel1025"/>
          <p:cNvSpPr/>
          <p:nvPr/>
        </p:nvSpPr>
        <p:spPr>
          <a:xfrm>
            <a:off x="508000" y="5016500"/>
            <a:ext cx="8128000" cy="533400"/>
          </a:xfrm>
          <a:prstGeom prst="roundRect">
            <a:avLst>
              <a:gd name="adj" fmla="val 10000"/>
            </a:avLst>
          </a:prstGeom>
          <a:solidFill>
            <a:srgbClr val="161B22"/>
          </a:solidFill>
          <a:ln w="12700">
            <a:solidFill>
              <a:srgbClr val="FF79C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26" name="VerbChip4"/>
          <p:cNvSpPr/>
          <p:nvPr/>
        </p:nvSpPr>
        <p:spPr>
          <a:xfrm>
            <a:off x="635000" y="5118100"/>
            <a:ext cx="889000" cy="330200"/>
          </a:xfrm>
          <a:prstGeom prst="roundRect">
            <a:avLst>
              <a:gd name="adj" fmla="val 30000"/>
            </a:avLst>
          </a:prstGeom>
          <a:solidFill>
            <a:srgbClr val="FF79C6"/>
          </a:solidFill>
          <a:ln>
            <a:noFill/>
          </a:ln>
        </p:spPr>
        <p:txBody>
          <a:bodyPr lIns="0" tIns="0" rIns="0" bIns="0" anchor="ctr" anchorCtr="1"/>
          <a:lstStyle/>
          <a:p>
            <a:pPr algn="ctr">
              <a:buNone/>
            </a:pPr>
            <a:r>
              <a:rPr lang="en-US" sz="1000" b="1" dirty="0">
                <a:solidFill>
                  <a:srgbClr val="0D1117"/>
                </a:solidFill>
              </a:rPr>
              <a:t>DELETE</a:t>
            </a:r>
          </a:p>
        </p:txBody>
      </p:sp>
      <p:sp>
        <p:nvSpPr>
          <p:cNvPr id="1027" name="T1027"/>
          <p:cNvSpPr txBox="1"/>
          <p:nvPr/>
        </p:nvSpPr>
        <p:spPr>
          <a:xfrm>
            <a:off x="1651000" y="5016500"/>
            <a:ext cx="1524000" cy="533400"/>
          </a:xfrm>
          <a:prstGeom prst="rect">
            <a:avLst/>
          </a:prstGeom>
          <a:noFill/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en-US" sz="1000" b="1" dirty="0">
                <a:solidFill>
                  <a:srgbClr val="E6EDF3"/>
                </a:solidFill>
              </a:rPr>
              <a:t>DELETE</a:t>
            </a:r>
          </a:p>
        </p:txBody>
      </p:sp>
      <p:sp>
        <p:nvSpPr>
          <p:cNvPr id="1028" name="T1028"/>
          <p:cNvSpPr txBox="1"/>
          <p:nvPr/>
        </p:nvSpPr>
        <p:spPr>
          <a:xfrm>
            <a:off x="3175000" y="5016500"/>
            <a:ext cx="2159000" cy="533400"/>
          </a:xfrm>
          <a:prstGeom prst="rect">
            <a:avLst/>
          </a:prstGeom>
          <a:noFill/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en-US" sz="1000" b="0" dirty="0">
                <a:solidFill>
                  <a:srgbClr val="C9D1D9"/>
                </a:solidFill>
              </a:rPr>
              <a:t>204 No Content</a:t>
            </a:r>
          </a:p>
        </p:txBody>
      </p:sp>
      <p:sp>
        <p:nvSpPr>
          <p:cNvPr id="1029" name="T1029"/>
          <p:cNvSpPr txBox="1"/>
          <p:nvPr/>
        </p:nvSpPr>
        <p:spPr>
          <a:xfrm>
            <a:off x="5334000" y="5016500"/>
            <a:ext cx="3302000" cy="533400"/>
          </a:xfrm>
          <a:prstGeom prst="rect">
            <a:avLst/>
          </a:prstGeom>
          <a:noFill/>
        </p:spPr>
        <p:txBody>
          <a:bodyPr wrap="square" lIns="36000" tIns="18000" rIns="36000" bIns="18000" anchor="ctr"/>
          <a:lstStyle/>
          <a:p>
            <a:pPr algn="l">
              <a:buNone/>
            </a:pPr>
            <a:r>
              <a:rPr lang="en-US" sz="1000" b="0" dirty="0">
                <a:solidFill>
                  <a:srgbClr val="C9D1D9"/>
                </a:solidFill>
              </a:rPr>
              <a:t>Remove resource</a:t>
            </a:r>
          </a:p>
        </p:txBody>
      </p:sp>
    </p:spTree>
    <p:extLst>
      <p:ext uri="{BB962C8B-B14F-4D97-AF65-F5344CB8AC3E}">
        <p14:creationId xmlns:p14="http://schemas.microsoft.com/office/powerpoint/2010/main" val="30309310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Handling Bad Requests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sz="1500" b="1" dirty="0">
                <a:solidFill>
                  <a:srgbClr val="EF4444"/>
                </a:solidFill>
              </a:rPr>
              <a:t>⚠️ Common 400-class errors</a:t>
            </a:r>
          </a:p>
          <a:p>
            <a:pPr marL="228600" indent="-228600">
              <a:buChar char="▸"/>
            </a:pPr>
            <a:r>
              <a:rPr lang="en-US" sz="1300" dirty="0">
                <a:solidFill>
                  <a:srgbClr val="94A3B8"/>
                </a:solidFill>
              </a:rPr>
              <a:t>400 Bad Request — malformed JSON, binding failure, validation fail</a:t>
            </a:r>
          </a:p>
          <a:p>
            <a:pPr marL="228600" indent="-228600">
              <a:buChar char="▸"/>
            </a:pPr>
            <a:r>
              <a:rPr lang="en-US" sz="1300" dirty="0">
                <a:solidFill>
                  <a:srgbClr val="94A3B8"/>
                </a:solidFill>
              </a:rPr>
              <a:t>404 Not Found — resource with given ID doesn't exist</a:t>
            </a:r>
          </a:p>
          <a:p>
            <a:pPr marL="228600" indent="-228600">
              <a:buChar char="▸"/>
            </a:pPr>
            <a:r>
              <a:rPr lang="en-US" sz="1300" dirty="0">
                <a:solidFill>
                  <a:srgbClr val="94A3B8"/>
                </a:solidFill>
              </a:rPr>
              <a:t>409 Conflict — duplicate resource or concurrency violation</a:t>
            </a:r>
          </a:p>
          <a:p>
            <a:pPr marL="228600" indent="-228600">
              <a:buChar char="▸"/>
            </a:pPr>
            <a:r>
              <a:rPr lang="en-US" sz="1300" dirty="0">
                <a:solidFill>
                  <a:srgbClr val="94A3B8"/>
                </a:solidFill>
              </a:rPr>
              <a:t>422 Unprocessable Entity — valid JSON, failed business rules</a:t>
            </a:r>
          </a:p>
          <a:p>
            <a:pPr>
              <a:buNone/>
            </a:pPr>
            <a:r>
              <a:rPr lang="en-US" sz="200" dirty="0"/>
              <a:t> </a:t>
            </a:r>
          </a:p>
          <a:p>
            <a:pPr>
              <a:buNone/>
            </a:pPr>
            <a:r>
              <a:rPr lang="en-US" sz="1500" b="1" dirty="0">
                <a:solidFill>
                  <a:srgbClr val="10B981"/>
                </a:solidFill>
              </a:rPr>
              <a:t>📋 ProblemDetails standard (RFC 7807)</a:t>
            </a:r>
          </a:p>
          <a:p>
            <a:pPr marL="228600" indent="-228600">
              <a:buChar char="▸"/>
            </a:pPr>
            <a:r>
              <a:rPr lang="en-US" sz="1300" dirty="0">
                <a:solidFill>
                  <a:srgbClr val="94A3B8"/>
                </a:solidFill>
              </a:rPr>
              <a:t>ValidationProblem() returns structured errors with field names + messages</a:t>
            </a:r>
          </a:p>
          <a:p>
            <a:pPr marL="228600" indent="-228600">
              <a:buChar char="▸"/>
            </a:pPr>
            <a:r>
              <a:rPr lang="en-US" sz="1300" dirty="0">
                <a:solidFill>
                  <a:srgbClr val="94A3B8"/>
                </a:solidFill>
              </a:rPr>
              <a:t>client gets: { "errors": { "Price": ["must be &gt; 0"] } }</a:t>
            </a:r>
          </a:p>
        </p:txBody>
      </p:sp>
      <p:sp>
        <p:nvSpPr>
          <p:cNvPr id="20" name="CodeBox"/>
          <p:cNvSpPr>
            <a:spLocks noGrp="1"/>
          </p:cNvSpPr>
          <p:nvPr/>
        </p:nvSpPr>
        <p:spPr>
          <a:xfrm>
            <a:off x="3600000" y="914400"/>
            <a:ext cx="5100000" cy="440000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12700">
            <a:solidFill>
              <a:srgbClr val="EF4444"/>
            </a:solidFill>
          </a:ln>
        </p:spPr>
        <p:txBody>
          <a:bodyPr lIns="182880" tIns="182880" rIns="182880" bIns="182880"/>
          <a:lstStyle/>
          <a:p>
            <a:pPr>
              <a:buNone/>
            </a:pPr>
            <a:r>
              <a:rPr lang="en-US" sz="1000" dirty="0">
                <a:solidFill>
                  <a:srgbClr val="64748B"/>
                </a:solidFill>
              </a:rPr>
              <a:t>// Custom validation + structured error response</a:t>
            </a:r>
          </a:p>
          <a:p>
            <a:pPr>
              <a:buNone/>
            </a:pPr>
            <a:r>
              <a:rPr lang="en-US" sz="1000" dirty="0">
                <a:solidFill>
                  <a:srgbClr val="7C3AED"/>
                </a:solidFill>
              </a:rPr>
              <a:t>[HttpPost]</a:t>
            </a:r>
          </a:p>
          <a:p>
            <a:pPr>
              <a:buNone/>
            </a:pPr>
            <a:r>
              <a:rPr lang="en-US" sz="1000" dirty="0">
                <a:solidFill>
                  <a:srgbClr val="00D4FF"/>
                </a:solidFill>
              </a:rPr>
              <a:t>public async Task&lt;IActionResult&gt; Create(CreateProductDto dto)</a:t>
            </a:r>
          </a:p>
          <a:p>
            <a:pPr>
              <a:buNone/>
            </a:pPr>
            <a:r>
              <a:rPr lang="en-US" sz="1000" dirty="0">
                <a:solidFill>
                  <a:srgbClr val="FFFFFF"/>
                </a:solidFill>
              </a:rPr>
              <a:t>{</a:t>
            </a:r>
          </a:p>
          <a:p>
            <a:pPr>
              <a:buNone/>
            </a:pPr>
            <a:r>
              <a:rPr lang="en-US" sz="1000" dirty="0">
                <a:solidFill>
                  <a:srgbClr val="64748B"/>
                </a:solidFill>
              </a:rPr>
              <a:t>    // [ApiController] handles ModelState auto-400</a:t>
            </a:r>
          </a:p>
          <a:p>
            <a:pPr>
              <a:buNone/>
            </a:pPr>
            <a:r>
              <a:rPr lang="en-US" sz="1000" dirty="0">
                <a:solidFill>
                  <a:srgbClr val="94A3B8"/>
                </a:solidFill>
              </a:rPr>
              <a:t>    if (await _repo.ExistsByNameAsync(dto.Name))</a:t>
            </a:r>
          </a:p>
          <a:p>
            <a:pPr>
              <a:buNone/>
            </a:pPr>
            <a:r>
              <a:rPr lang="en-US" sz="1000" dirty="0">
                <a:solidFill>
                  <a:srgbClr val="EF4444"/>
                </a:solidFill>
              </a:rPr>
              <a:t>        return Conflict("Product name already exists"); // 409</a:t>
            </a:r>
          </a:p>
          <a:p>
            <a:pPr>
              <a:buNone/>
            </a:pPr>
            <a:r>
              <a:rPr lang="en-US" sz="200" dirty="0"/>
              <a:t> </a:t>
            </a:r>
          </a:p>
          <a:p>
            <a:pPr>
              <a:buNone/>
            </a:pPr>
            <a:r>
              <a:rPr lang="en-US" sz="1000" dirty="0">
                <a:solidFill>
                  <a:srgbClr val="64748B"/>
                </a:solidFill>
              </a:rPr>
              <a:t>    // Custom business rule violation → 422</a:t>
            </a:r>
          </a:p>
          <a:p>
            <a:pPr>
              <a:buNone/>
            </a:pPr>
            <a:r>
              <a:rPr lang="en-US" sz="1000" dirty="0">
                <a:solidFill>
                  <a:srgbClr val="94A3B8"/>
                </a:solidFill>
              </a:rPr>
              <a:t>    if (dto.Price &lt; dto.Cost)</a:t>
            </a:r>
          </a:p>
          <a:p>
            <a:pPr>
              <a:buNone/>
            </a:pPr>
            <a:r>
              <a:rPr lang="en-US" sz="1000" dirty="0">
                <a:solidFill>
                  <a:srgbClr val="FFFFFF"/>
                </a:solidFill>
              </a:rPr>
              <a:t>    {</a:t>
            </a:r>
          </a:p>
          <a:p>
            <a:pPr>
              <a:buNone/>
            </a:pPr>
            <a:r>
              <a:rPr lang="en-US" sz="1000" dirty="0">
                <a:solidFill>
                  <a:srgbClr val="94A3B8"/>
                </a:solidFill>
              </a:rPr>
              <a:t>        ModelState.AddModelError("Price",</a:t>
            </a:r>
          </a:p>
          <a:p>
            <a:pPr>
              <a:buNone/>
            </a:pPr>
            <a:r>
              <a:rPr lang="en-US" sz="1000" dirty="0">
                <a:solidFill>
                  <a:srgbClr val="F59E0B"/>
                </a:solidFill>
              </a:rPr>
              <a:t>            "Price must be greater than Cost");</a:t>
            </a:r>
          </a:p>
          <a:p>
            <a:pPr>
              <a:buNone/>
            </a:pPr>
            <a:r>
              <a:rPr lang="en-US" sz="1000" dirty="0">
                <a:solidFill>
                  <a:srgbClr val="10B981"/>
                </a:solidFill>
              </a:rPr>
              <a:t>        return ValidationProblem(); // 422 + ProblemDetails</a:t>
            </a:r>
          </a:p>
          <a:p>
            <a:pPr>
              <a:buNone/>
            </a:pPr>
            <a:r>
              <a:rPr lang="en-US" sz="1000" dirty="0">
                <a:solidFill>
                  <a:srgbClr val="FFFFFF"/>
                </a:solidFill>
              </a:rPr>
              <a:t>    }</a:t>
            </a:r>
          </a:p>
          <a:p>
            <a:pPr>
              <a:buNone/>
            </a:pPr>
            <a:r>
              <a:rPr lang="en-US" sz="1000" dirty="0">
                <a:solidFill>
                  <a:srgbClr val="FFFFFF"/>
                </a:solidFill>
              </a:rPr>
              <a:t>    // ... create logic</a:t>
            </a:r>
          </a:p>
          <a:p>
            <a:pPr>
              <a:buNone/>
            </a:pPr>
            <a:r>
              <a:rPr lang="en-US" sz="1000" dirty="0">
                <a:solidFill>
                  <a:srgbClr val="FFFFFF"/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0405952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457200" y="152400"/>
            <a:ext cx="8229600" cy="457200"/>
          </a:xfrm>
          <a:prstGeom prst="rect">
            <a:avLst/>
          </a:prstGeom>
          <a:solidFill>
            <a:srgbClr val="0A0E1A"/>
          </a:solidFill>
          <a:ln w="19050">
            <a:solidFill>
              <a:srgbClr val="0A0E1A"/>
            </a:solidFill>
          </a:ln>
        </p:spPr>
        <p:txBody>
          <a:bodyPr lIns="91440" tIns="45720" rIns="91440" bIns="45720"/>
          <a:lstStyle/>
          <a:p>
            <a:pPr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🛡️ Request Validation Flow</a:t>
            </a:r>
          </a:p>
        </p:txBody>
      </p:sp>
      <p:sp>
        <p:nvSpPr>
          <p:cNvPr id="10" name="B1"/>
          <p:cNvSpPr>
            <a:spLocks noGrp="1"/>
          </p:cNvSpPr>
          <p:nvPr/>
        </p:nvSpPr>
        <p:spPr>
          <a:xfrm>
            <a:off x="228600" y="800000"/>
            <a:ext cx="1371600" cy="685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0D4FF"/>
            </a:solidFill>
          </a:ln>
        </p:spPr>
        <p:txBody>
          <a:bodyPr lIns="91440" tIns="45720" rIns="91440" bIns="45720"/>
          <a:lstStyle/>
          <a:p>
            <a:pPr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HTTP Request
arrives</a:t>
            </a:r>
          </a:p>
        </p:txBody>
      </p:sp>
      <p:sp>
        <p:nvSpPr>
          <p:cNvPr id="11" name="Arr1"/>
          <p:cNvSpPr>
            <a:spLocks noGrp="1"/>
          </p:cNvSpPr>
          <p:nvPr/>
        </p:nvSpPr>
        <p:spPr>
          <a:xfrm>
            <a:off x="1600200" y="1097400"/>
            <a:ext cx="304800" cy="91440"/>
          </a:xfrm>
          <a:prstGeom prst="rightArrow">
            <a:avLst/>
          </a:prstGeom>
          <a:solidFill>
            <a:srgbClr val="00D4FF"/>
          </a:solidFill>
          <a:ln w="19050">
            <a:solidFill>
              <a:srgbClr val="00D4FF"/>
            </a:solidFill>
          </a:ln>
        </p:spPr>
        <p:txBody>
          <a:bodyPr lIns="91440" tIns="45720" rIns="91440" bIns="45720"/>
          <a:lstStyle/>
          <a:p>
            <a:pPr algn="ctr">
              <a:buNone/>
            </a:pPr>
            <a:endParaRPr/>
          </a:p>
        </p:txBody>
      </p:sp>
      <p:sp>
        <p:nvSpPr>
          <p:cNvPr id="12" name="B2"/>
          <p:cNvSpPr>
            <a:spLocks noGrp="1"/>
          </p:cNvSpPr>
          <p:nvPr/>
        </p:nvSpPr>
        <p:spPr>
          <a:xfrm>
            <a:off x="1905000" y="800000"/>
            <a:ext cx="1371600" cy="685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7C3AED"/>
            </a:solidFill>
          </a:ln>
        </p:spPr>
        <p:txBody>
          <a:bodyPr lIns="91440" tIns="45720" rIns="91440" bIns="45720"/>
          <a:lstStyle/>
          <a:p>
            <a:pPr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Route
Matching</a:t>
            </a:r>
          </a:p>
        </p:txBody>
      </p:sp>
      <p:sp>
        <p:nvSpPr>
          <p:cNvPr id="13" name="Arr2"/>
          <p:cNvSpPr>
            <a:spLocks noGrp="1"/>
          </p:cNvSpPr>
          <p:nvPr/>
        </p:nvSpPr>
        <p:spPr>
          <a:xfrm>
            <a:off x="3276600" y="1097400"/>
            <a:ext cx="304800" cy="91440"/>
          </a:xfrm>
          <a:prstGeom prst="rightArrow">
            <a:avLst/>
          </a:prstGeom>
          <a:solidFill>
            <a:srgbClr val="7C3AED"/>
          </a:solidFill>
          <a:ln w="19050">
            <a:solidFill>
              <a:srgbClr val="7C3AED"/>
            </a:solidFill>
          </a:ln>
        </p:spPr>
        <p:txBody>
          <a:bodyPr lIns="91440" tIns="45720" rIns="91440" bIns="45720"/>
          <a:lstStyle/>
          <a:p>
            <a:pPr algn="ctr">
              <a:buNone/>
            </a:pPr>
            <a:endParaRPr/>
          </a:p>
        </p:txBody>
      </p:sp>
      <p:sp>
        <p:nvSpPr>
          <p:cNvPr id="14" name="B3"/>
          <p:cNvSpPr>
            <a:spLocks noGrp="1"/>
          </p:cNvSpPr>
          <p:nvPr/>
        </p:nvSpPr>
        <p:spPr>
          <a:xfrm>
            <a:off x="3581400" y="800000"/>
            <a:ext cx="1371600" cy="685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txBody>
          <a:bodyPr lIns="91440" tIns="45720" rIns="91440" bIns="45720"/>
          <a:lstStyle/>
          <a:p>
            <a:pPr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Model
Binding</a:t>
            </a:r>
          </a:p>
        </p:txBody>
      </p:sp>
      <p:sp>
        <p:nvSpPr>
          <p:cNvPr id="15" name="Arr3"/>
          <p:cNvSpPr>
            <a:spLocks noGrp="1"/>
          </p:cNvSpPr>
          <p:nvPr/>
        </p:nvSpPr>
        <p:spPr>
          <a:xfrm>
            <a:off x="4953000" y="1097400"/>
            <a:ext cx="304800" cy="91440"/>
          </a:xfrm>
          <a:prstGeom prst="rightArrow">
            <a:avLst/>
          </a:prstGeom>
          <a:solidFill>
            <a:srgbClr val="F59E0B"/>
          </a:solidFill>
          <a:ln w="19050">
            <a:solidFill>
              <a:srgbClr val="F59E0B"/>
            </a:solidFill>
          </a:ln>
        </p:spPr>
        <p:txBody>
          <a:bodyPr lIns="91440" tIns="45720" rIns="91440" bIns="45720"/>
          <a:lstStyle/>
          <a:p>
            <a:pPr algn="ctr">
              <a:buNone/>
            </a:pPr>
            <a:endParaRPr/>
          </a:p>
        </p:txBody>
      </p:sp>
      <p:sp>
        <p:nvSpPr>
          <p:cNvPr id="16" name="B4"/>
          <p:cNvSpPr>
            <a:spLocks noGrp="1"/>
          </p:cNvSpPr>
          <p:nvPr/>
        </p:nvSpPr>
        <p:spPr>
          <a:xfrm>
            <a:off x="5257800" y="800000"/>
            <a:ext cx="1371600" cy="685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txBody>
          <a:bodyPr lIns="91440" tIns="45720" rIns="91440" bIns="45720"/>
          <a:lstStyle/>
          <a:p>
            <a:pPr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Data
Validation</a:t>
            </a:r>
          </a:p>
        </p:txBody>
      </p:sp>
      <p:sp>
        <p:nvSpPr>
          <p:cNvPr id="17" name="Arr4"/>
          <p:cNvSpPr>
            <a:spLocks noGrp="1"/>
          </p:cNvSpPr>
          <p:nvPr/>
        </p:nvSpPr>
        <p:spPr>
          <a:xfrm>
            <a:off x="6629400" y="1097400"/>
            <a:ext cx="304800" cy="91440"/>
          </a:xfrm>
          <a:prstGeom prst="rightArrow">
            <a:avLst/>
          </a:prstGeom>
          <a:solidFill>
            <a:srgbClr val="10B981"/>
          </a:solidFill>
          <a:ln w="19050">
            <a:solidFill>
              <a:srgbClr val="10B981"/>
            </a:solidFill>
          </a:ln>
        </p:spPr>
        <p:txBody>
          <a:bodyPr lIns="91440" tIns="45720" rIns="91440" bIns="45720"/>
          <a:lstStyle/>
          <a:p>
            <a:pPr algn="ctr">
              <a:buNone/>
            </a:pPr>
            <a:endParaRPr/>
          </a:p>
        </p:txBody>
      </p:sp>
      <p:sp>
        <p:nvSpPr>
          <p:cNvPr id="18" name="B5"/>
          <p:cNvSpPr>
            <a:spLocks noGrp="1"/>
          </p:cNvSpPr>
          <p:nvPr/>
        </p:nvSpPr>
        <p:spPr>
          <a:xfrm>
            <a:off x="6934200" y="800000"/>
            <a:ext cx="1371600" cy="685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C4899"/>
            </a:solidFill>
          </a:ln>
        </p:spPr>
        <p:txBody>
          <a:bodyPr lIns="91440" tIns="45720" rIns="91440" bIns="45720"/>
          <a:lstStyle/>
          <a:p>
            <a:pPr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Controller
Action</a:t>
            </a:r>
          </a:p>
        </p:txBody>
      </p:sp>
      <p:sp>
        <p:nvSpPr>
          <p:cNvPr id="20" name="R1"/>
          <p:cNvSpPr>
            <a:spLocks noGrp="1"/>
          </p:cNvSpPr>
          <p:nvPr/>
        </p:nvSpPr>
        <p:spPr>
          <a:xfrm>
            <a:off x="1905000" y="1943400"/>
            <a:ext cx="1371600" cy="533400"/>
          </a:xfrm>
          <a:prstGeom prst="roundRect">
            <a:avLst/>
          </a:prstGeom>
          <a:solidFill>
            <a:srgbClr val="1A0F0F"/>
          </a:solidFill>
          <a:ln w="19050">
            <a:solidFill>
              <a:srgbClr val="EF4444"/>
            </a:solidFill>
          </a:ln>
        </p:spPr>
        <p:txBody>
          <a:bodyPr lIns="91440" tIns="45720" rIns="91440" bIns="45720"/>
          <a:lstStyle/>
          <a:p>
            <a:pPr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404 Not Found</a:t>
            </a:r>
          </a:p>
        </p:txBody>
      </p:sp>
      <p:sp>
        <p:nvSpPr>
          <p:cNvPr id="21" name="R2"/>
          <p:cNvSpPr>
            <a:spLocks noGrp="1"/>
          </p:cNvSpPr>
          <p:nvPr/>
        </p:nvSpPr>
        <p:spPr>
          <a:xfrm>
            <a:off x="3581400" y="1943400"/>
            <a:ext cx="1371600" cy="533400"/>
          </a:xfrm>
          <a:prstGeom prst="roundRect">
            <a:avLst/>
          </a:prstGeom>
          <a:solidFill>
            <a:srgbClr val="1A0F0F"/>
          </a:solidFill>
          <a:ln w="19050">
            <a:solidFill>
              <a:srgbClr val="EF4444"/>
            </a:solidFill>
          </a:ln>
        </p:spPr>
        <p:txBody>
          <a:bodyPr lIns="91440" tIns="45720" rIns="91440" bIns="45720"/>
          <a:lstStyle/>
          <a:p>
            <a:pPr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400 Bad Request
(binding error)</a:t>
            </a:r>
          </a:p>
        </p:txBody>
      </p:sp>
      <p:sp>
        <p:nvSpPr>
          <p:cNvPr id="22" name="R3"/>
          <p:cNvSpPr>
            <a:spLocks noGrp="1"/>
          </p:cNvSpPr>
          <p:nvPr/>
        </p:nvSpPr>
        <p:spPr>
          <a:xfrm>
            <a:off x="5257800" y="1943400"/>
            <a:ext cx="1371600" cy="533400"/>
          </a:xfrm>
          <a:prstGeom prst="roundRect">
            <a:avLst/>
          </a:prstGeom>
          <a:solidFill>
            <a:srgbClr val="1A0F0F"/>
          </a:solidFill>
          <a:ln w="19050">
            <a:solidFill>
              <a:srgbClr val="EF4444"/>
            </a:solidFill>
          </a:ln>
        </p:spPr>
        <p:txBody>
          <a:bodyPr lIns="91440" tIns="45720" rIns="91440" bIns="45720"/>
          <a:lstStyle/>
          <a:p>
            <a:pPr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422 Unprocessable
(validation fail)</a:t>
            </a:r>
          </a:p>
        </p:txBody>
      </p:sp>
      <p:sp>
        <p:nvSpPr>
          <p:cNvPr id="23" name="DA1"/>
          <p:cNvSpPr>
            <a:spLocks noGrp="1"/>
          </p:cNvSpPr>
          <p:nvPr/>
        </p:nvSpPr>
        <p:spPr>
          <a:xfrm>
            <a:off x="2514600" y="1485800"/>
            <a:ext cx="91440" cy="457200"/>
          </a:xfrm>
          <a:prstGeom prst="downArrow">
            <a:avLst/>
          </a:prstGeom>
          <a:solidFill>
            <a:srgbClr val="EF4444"/>
          </a:solidFill>
          <a:ln w="19050">
            <a:solidFill>
              <a:srgbClr val="EF4444"/>
            </a:solidFill>
          </a:ln>
        </p:spPr>
        <p:txBody>
          <a:bodyPr lIns="91440" tIns="45720" rIns="91440" bIns="45720"/>
          <a:lstStyle/>
          <a:p>
            <a:pPr algn="ctr">
              <a:buNone/>
            </a:pPr>
            <a:endParaRPr/>
          </a:p>
        </p:txBody>
      </p:sp>
      <p:sp>
        <p:nvSpPr>
          <p:cNvPr id="24" name="DA2"/>
          <p:cNvSpPr>
            <a:spLocks noGrp="1"/>
          </p:cNvSpPr>
          <p:nvPr/>
        </p:nvSpPr>
        <p:spPr>
          <a:xfrm>
            <a:off x="4190400" y="1485800"/>
            <a:ext cx="91440" cy="457200"/>
          </a:xfrm>
          <a:prstGeom prst="downArrow">
            <a:avLst/>
          </a:prstGeom>
          <a:solidFill>
            <a:srgbClr val="EF4444"/>
          </a:solidFill>
          <a:ln w="19050">
            <a:solidFill>
              <a:srgbClr val="EF4444"/>
            </a:solidFill>
          </a:ln>
        </p:spPr>
        <p:txBody>
          <a:bodyPr lIns="91440" tIns="45720" rIns="91440" bIns="45720"/>
          <a:lstStyle/>
          <a:p>
            <a:pPr algn="ctr">
              <a:buNone/>
            </a:pPr>
            <a:endParaRPr/>
          </a:p>
        </p:txBody>
      </p:sp>
      <p:sp>
        <p:nvSpPr>
          <p:cNvPr id="25" name="DA3"/>
          <p:cNvSpPr>
            <a:spLocks noGrp="1"/>
          </p:cNvSpPr>
          <p:nvPr/>
        </p:nvSpPr>
        <p:spPr>
          <a:xfrm>
            <a:off x="5867400" y="1485800"/>
            <a:ext cx="91440" cy="457200"/>
          </a:xfrm>
          <a:prstGeom prst="downArrow">
            <a:avLst/>
          </a:prstGeom>
          <a:solidFill>
            <a:srgbClr val="EF4444"/>
          </a:solidFill>
          <a:ln w="19050">
            <a:solidFill>
              <a:srgbClr val="EF4444"/>
            </a:solidFill>
          </a:ln>
        </p:spPr>
        <p:txBody>
          <a:bodyPr lIns="91440" tIns="45720" rIns="91440" bIns="45720"/>
          <a:lstStyle/>
          <a:p>
            <a:pPr algn="ctr">
              <a:buNone/>
            </a:pPr>
            <a:endParaRPr/>
          </a:p>
        </p:txBody>
      </p:sp>
      <p:sp>
        <p:nvSpPr>
          <p:cNvPr id="30" name="L1"/>
          <p:cNvSpPr>
            <a:spLocks noGrp="1"/>
          </p:cNvSpPr>
          <p:nvPr/>
        </p:nvSpPr>
        <p:spPr>
          <a:xfrm>
            <a:off x="228600" y="2590800"/>
            <a:ext cx="8229600" cy="304800"/>
          </a:xfrm>
          <a:prstGeom prst="rect">
            <a:avLst/>
          </a:prstGeom>
          <a:solidFill>
            <a:srgbClr val="0A0E1A"/>
          </a:solidFill>
          <a:ln w="19050">
            <a:solidFill>
              <a:srgbClr val="0A0E1A"/>
            </a:solidFill>
          </a:ln>
        </p:spPr>
        <p:txBody>
          <a:bodyPr lIns="91440" tIns="45720" rIns="91440" bIns="45720"/>
          <a:lstStyle/>
          <a:p>
            <a:pPr algn="ctr">
              <a:buNone/>
            </a:pPr>
            <a:r>
              <a:rPr lang="en-US" sz="1100" b="0" dirty="0">
                <a:solidFill>
                  <a:srgbClr val="FFFFFF"/>
                </a:solidFill>
              </a:rPr>
              <a:t>If valid: continue ➜   |   [ApiController] auto-returns 400 for ModelState errors   |   Custom: if (!ModelState.IsValid) return ValidationProblem()</a:t>
            </a:r>
          </a:p>
        </p:txBody>
      </p:sp>
      <p:sp>
        <p:nvSpPr>
          <p:cNvPr id="31" name="Tip"/>
          <p:cNvSpPr>
            <a:spLocks noGrp="1"/>
          </p:cNvSpPr>
          <p:nvPr/>
        </p:nvSpPr>
        <p:spPr>
          <a:xfrm>
            <a:off x="457200" y="2971200"/>
            <a:ext cx="8229600" cy="457200"/>
          </a:xfrm>
          <a:prstGeom prst="roundRect">
            <a:avLst/>
          </a:prstGeom>
          <a:solidFill>
            <a:srgbClr val="0F2027"/>
          </a:solidFill>
          <a:ln w="19050">
            <a:solidFill>
              <a:srgbClr val="10B981"/>
            </a:solidFill>
          </a:ln>
        </p:spPr>
        <p:txBody>
          <a:bodyPr lIns="91440" tIns="45720" rIns="91440" bIns="45720"/>
          <a:lstStyle/>
          <a:p>
            <a:pPr algn="ctr">
              <a:buNone/>
            </a:pPr>
            <a:r>
              <a:rPr lang="en-US" sz="1200" b="0" dirty="0">
                <a:solidFill>
                  <a:srgbClr val="FFFFFF"/>
                </a:solidFill>
              </a:rPr>
              <a:t>💡 Tip: Use FluentValidation NuGet for complex rules — cleaner than data annotations on large DTOs</a:t>
            </a:r>
          </a:p>
        </p:txBody>
      </p:sp>
    </p:spTree>
    <p:extLst>
      <p:ext uri="{BB962C8B-B14F-4D97-AF65-F5344CB8AC3E}">
        <p14:creationId xmlns:p14="http://schemas.microsoft.com/office/powerpoint/2010/main" val="21429833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F3F434-F6C5-1803-3379-72CD52B27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 2: Full CRUD + Validation</a:t>
            </a:r>
          </a:p>
        </p:txBody>
      </p:sp>
      <p:sp>
        <p:nvSpPr>
          <p:cNvPr id="2000" name="Pill"/>
          <p:cNvSpPr/>
          <p:nvPr/>
        </p:nvSpPr>
        <p:spPr>
          <a:xfrm>
            <a:off x="7112000" y="635000"/>
            <a:ext cx="1143000" cy="355600"/>
          </a:xfrm>
          <a:prstGeom prst="roundRect">
            <a:avLst>
              <a:gd name="adj" fmla="val 50000"/>
            </a:avLst>
          </a:prstGeom>
          <a:solidFill>
            <a:srgbClr val="FF79C6"/>
          </a:solidFill>
          <a:ln>
            <a:noFill/>
          </a:ln>
        </p:spPr>
        <p:txBody>
          <a:bodyPr lIns="0" tIns="0" rIns="0" bIns="0" anchor="ctr" anchorCtr="1"/>
          <a:lstStyle/>
          <a:p>
            <a:pPr algn="ctr">
              <a:buNone/>
            </a:pPr>
            <a:r>
              <a:rPr lang="en-US" sz="1200" b="1" dirty="0">
                <a:solidFill>
                  <a:srgbClr val="0D1117"/>
                </a:solidFill>
              </a:rPr>
              <a:t>LAB</a:t>
            </a:r>
          </a:p>
        </p:txBody>
      </p:sp>
      <p:sp>
        <p:nvSpPr>
          <p:cNvPr id="2001" name="Pill"/>
          <p:cNvSpPr/>
          <p:nvPr/>
        </p:nvSpPr>
        <p:spPr>
          <a:xfrm>
            <a:off x="7112000" y="1041400"/>
            <a:ext cx="1143000" cy="279400"/>
          </a:xfrm>
          <a:prstGeom prst="roundRect">
            <a:avLst>
              <a:gd name="adj" fmla="val 50000"/>
            </a:avLst>
          </a:prstGeom>
          <a:solidFill>
            <a:srgbClr val="161B22"/>
          </a:solidFill>
          <a:ln>
            <a:noFill/>
          </a:ln>
        </p:spPr>
        <p:txBody>
          <a:bodyPr lIns="0" tIns="0" rIns="0" bIns="0" anchor="ctr" anchorCtr="1"/>
          <a:lstStyle/>
          <a:p>
            <a:pPr algn="ctr">
              <a:buNone/>
            </a:pPr>
            <a:r>
              <a:rPr lang="en-US" sz="900" b="1" dirty="0">
                <a:solidFill>
                  <a:srgbClr val="FFB86C"/>
                </a:solidFill>
              </a:rPr>
              <a:t>25 min</a:t>
            </a:r>
          </a:p>
        </p:txBody>
      </p:sp>
      <p:sp>
        <p:nvSpPr>
          <p:cNvPr id="2002" name="Card"/>
          <p:cNvSpPr/>
          <p:nvPr/>
        </p:nvSpPr>
        <p:spPr>
          <a:xfrm>
            <a:off x="508000" y="2222500"/>
            <a:ext cx="3937000" cy="2857500"/>
          </a:xfrm>
          <a:prstGeom prst="roundRect">
            <a:avLst>
              <a:gd name="adj" fmla="val 20000"/>
            </a:avLst>
          </a:prstGeom>
          <a:solidFill>
            <a:srgbClr val="161B22"/>
          </a:solidFill>
          <a:ln w="12700">
            <a:solidFill>
              <a:srgbClr val="39FF1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03" name="Text"/>
          <p:cNvSpPr txBox="1"/>
          <p:nvPr/>
        </p:nvSpPr>
        <p:spPr>
          <a:xfrm>
            <a:off x="508000" y="2222500"/>
            <a:ext cx="3937000" cy="508000"/>
          </a:xfrm>
          <a:prstGeom prst="rect">
            <a:avLst/>
          </a:prstGeom>
          <a:noFill/>
        </p:spPr>
        <p:txBody>
          <a:bodyPr wrap="square" lIns="72000" tIns="54000" rIns="72000" bIns="5400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9FF14"/>
                </a:solidFill>
              </a:rPr>
              <a:t>🎯  GOAL</a:t>
            </a:r>
          </a:p>
        </p:txBody>
      </p:sp>
      <p:sp>
        <p:nvSpPr>
          <p:cNvPr id="2004" name="Text"/>
          <p:cNvSpPr txBox="1"/>
          <p:nvPr/>
        </p:nvSpPr>
        <p:spPr>
          <a:xfrm>
            <a:off x="508000" y="2667000"/>
            <a:ext cx="3937000" cy="2413000"/>
          </a:xfrm>
          <a:prstGeom prst="rect">
            <a:avLst/>
          </a:prstGeom>
          <a:noFill/>
        </p:spPr>
        <p:txBody>
          <a:bodyPr wrap="square" lIns="72000" tIns="54000" rIns="72000" bIns="54000" anchor="t"/>
          <a:lstStyle/>
          <a:p>
            <a:pPr marL="0" indent="0" algn="l">
              <a:buNone/>
            </a:pPr>
            <a:r>
              <a:rPr lang="en-US" sz="1100" b="0" dirty="0">
                <a:solidFill>
                  <a:srgbClr val="E6EDF3"/>
                </a:solidFill>
              </a:rPr>
              <a:t>Extend your /api/products controller to support PUT and DELETE, and return BadRequest for invalid input.</a:t>
            </a:r>
          </a:p>
          <a:p>
            <a:pPr marL="0" indent="0" algn="l">
              <a:buNone/>
            </a:pPr>
            <a:r>
              <a:rPr lang="en-US" sz="600" b="0" dirty="0">
                <a:solidFill>
                  <a:srgbClr val="E6EDF3"/>
                </a:solidFill>
              </a:rPr>
              <a:t> </a:t>
            </a:r>
          </a:p>
          <a:p>
            <a:pPr marL="0" indent="0" algn="l">
              <a:buNone/>
            </a:pPr>
            <a:r>
              <a:rPr lang="en-US" sz="1100" b="0" dirty="0">
                <a:solidFill>
                  <a:srgbClr val="C9D1D9"/>
                </a:solidFill>
              </a:rPr>
              <a:t>You should validate the model and return:</a:t>
            </a:r>
          </a:p>
          <a:p>
            <a:pPr marL="0" indent="0" algn="l">
              <a:buNone/>
            </a:pPr>
            <a:r>
              <a:rPr lang="en-US" sz="1100" b="0" dirty="0">
                <a:solidFill>
                  <a:srgbClr val="E6EDF3"/>
                </a:solidFill>
              </a:rPr>
              <a:t>• 200 / 204 on success</a:t>
            </a:r>
          </a:p>
          <a:p>
            <a:pPr marL="0" indent="0" algn="l">
              <a:buNone/>
            </a:pPr>
            <a:r>
              <a:rPr lang="en-US" sz="1100" b="0" dirty="0">
                <a:solidFill>
                  <a:srgbClr val="E6EDF3"/>
                </a:solidFill>
              </a:rPr>
              <a:t>• 400 with ModelState errors</a:t>
            </a:r>
          </a:p>
          <a:p>
            <a:pPr marL="0" indent="0" algn="l">
              <a:buNone/>
            </a:pPr>
            <a:r>
              <a:rPr lang="en-US" sz="1100" b="0" dirty="0">
                <a:solidFill>
                  <a:srgbClr val="E6EDF3"/>
                </a:solidFill>
              </a:rPr>
              <a:t>• 404 when the id is missing</a:t>
            </a:r>
          </a:p>
        </p:txBody>
      </p:sp>
      <p:sp>
        <p:nvSpPr>
          <p:cNvPr id="2005" name="Card"/>
          <p:cNvSpPr/>
          <p:nvPr/>
        </p:nvSpPr>
        <p:spPr>
          <a:xfrm>
            <a:off x="4699000" y="2222500"/>
            <a:ext cx="3937000" cy="2857500"/>
          </a:xfrm>
          <a:prstGeom prst="roundRect">
            <a:avLst>
              <a:gd name="adj" fmla="val 20000"/>
            </a:avLst>
          </a:prstGeom>
          <a:solidFill>
            <a:srgbClr val="161B22"/>
          </a:solidFill>
          <a:ln w="12700">
            <a:solidFill>
              <a:srgbClr val="00D9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06" name="Text"/>
          <p:cNvSpPr txBox="1"/>
          <p:nvPr/>
        </p:nvSpPr>
        <p:spPr>
          <a:xfrm>
            <a:off x="4699000" y="2222500"/>
            <a:ext cx="3937000" cy="508000"/>
          </a:xfrm>
          <a:prstGeom prst="rect">
            <a:avLst/>
          </a:prstGeom>
          <a:noFill/>
        </p:spPr>
        <p:txBody>
          <a:bodyPr wrap="square" lIns="72000" tIns="54000" rIns="72000" bIns="5400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D9FF"/>
                </a:solidFill>
              </a:rPr>
              <a:t>🛠  STEPS</a:t>
            </a:r>
          </a:p>
        </p:txBody>
      </p:sp>
      <p:sp>
        <p:nvSpPr>
          <p:cNvPr id="2007" name="Text"/>
          <p:cNvSpPr txBox="1"/>
          <p:nvPr/>
        </p:nvSpPr>
        <p:spPr>
          <a:xfrm>
            <a:off x="4699000" y="2667000"/>
            <a:ext cx="3937000" cy="2413000"/>
          </a:xfrm>
          <a:prstGeom prst="rect">
            <a:avLst/>
          </a:prstGeom>
          <a:noFill/>
        </p:spPr>
        <p:txBody>
          <a:bodyPr wrap="square" lIns="72000" tIns="54000" rIns="72000" bIns="54000" anchor="t"/>
          <a:lstStyle/>
          <a:p>
            <a:pPr marL="0" indent="0" algn="l">
              <a:buNone/>
            </a:pPr>
            <a:r>
              <a:rPr lang="en-US" sz="1100" b="0" dirty="0">
                <a:solidFill>
                  <a:srgbClr val="E6EDF3"/>
                </a:solidFill>
              </a:rPr>
              <a:t>1.  Add [Required] / [Range] attributes to Product.</a:t>
            </a:r>
          </a:p>
          <a:p>
            <a:pPr marL="0" indent="0" algn="l">
              <a:buNone/>
            </a:pPr>
            <a:r>
              <a:rPr lang="en-US" sz="1100" b="0" dirty="0">
                <a:solidFill>
                  <a:srgbClr val="E6EDF3"/>
                </a:solidFill>
              </a:rPr>
              <a:t>2.  Implement PUT /api/products/{id} → replace.</a:t>
            </a:r>
          </a:p>
          <a:p>
            <a:pPr marL="0" indent="0" algn="l">
              <a:buNone/>
            </a:pPr>
            <a:r>
              <a:rPr lang="en-US" sz="1100" b="0" dirty="0">
                <a:solidFill>
                  <a:srgbClr val="E6EDF3"/>
                </a:solidFill>
              </a:rPr>
              <a:t>3.  Implement PATCH using JsonPatchDocument.</a:t>
            </a:r>
          </a:p>
          <a:p>
            <a:pPr marL="0" indent="0" algn="l">
              <a:buNone/>
            </a:pPr>
            <a:r>
              <a:rPr lang="en-US" sz="1100" b="0" dirty="0">
                <a:solidFill>
                  <a:srgbClr val="E6EDF3"/>
                </a:solidFill>
              </a:rPr>
              <a:t>4.  Implement DELETE → return NoContent().</a:t>
            </a:r>
          </a:p>
          <a:p>
            <a:pPr marL="0" indent="0" algn="l">
              <a:buNone/>
            </a:pPr>
            <a:r>
              <a:rPr lang="en-US" sz="1100" b="0" dirty="0">
                <a:solidFill>
                  <a:srgbClr val="E6EDF3"/>
                </a:solidFill>
              </a:rPr>
              <a:t>5.  Guard with if (!ModelState.IsValid).</a:t>
            </a:r>
          </a:p>
          <a:p>
            <a:pPr marL="0" indent="0" algn="l">
              <a:buNone/>
            </a:pPr>
            <a:r>
              <a:rPr lang="en-US" sz="1100" b="0" dirty="0">
                <a:solidFill>
                  <a:srgbClr val="E6EDF3"/>
                </a:solidFill>
              </a:rPr>
              <a:t>6.  Test each verb in Postman.</a:t>
            </a:r>
          </a:p>
        </p:txBody>
      </p:sp>
      <p:sp>
        <p:nvSpPr>
          <p:cNvPr id="2008" name="Card"/>
          <p:cNvSpPr/>
          <p:nvPr/>
        </p:nvSpPr>
        <p:spPr>
          <a:xfrm>
            <a:off x="508000" y="5270500"/>
            <a:ext cx="8128000" cy="1016000"/>
          </a:xfrm>
          <a:prstGeom prst="roundRect">
            <a:avLst>
              <a:gd name="adj" fmla="val 20000"/>
            </a:avLst>
          </a:prstGeom>
          <a:solidFill>
            <a:srgbClr val="161B22"/>
          </a:solidFill>
          <a:ln w="12700">
            <a:solidFill>
              <a:srgbClr val="BD93F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09" name="Text"/>
          <p:cNvSpPr txBox="1"/>
          <p:nvPr/>
        </p:nvSpPr>
        <p:spPr>
          <a:xfrm>
            <a:off x="508000" y="5270500"/>
            <a:ext cx="8128000" cy="1016000"/>
          </a:xfrm>
          <a:prstGeom prst="rect">
            <a:avLst/>
          </a:prstGeom>
          <a:noFill/>
        </p:spPr>
        <p:txBody>
          <a:bodyPr wrap="square" lIns="72000" tIns="54000" rIns="72000" bIns="5400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BD93F9"/>
                </a:solidFill>
              </a:rPr>
              <a:t>✅  CHECKPOINT</a:t>
            </a:r>
          </a:p>
          <a:p>
            <a:pPr marL="0" indent="0" algn="l">
              <a:buNone/>
            </a:pPr>
            <a:r>
              <a:rPr lang="en-US" sz="1000" b="0" dirty="0">
                <a:solidFill>
                  <a:srgbClr val="C9D1D9"/>
                </a:solidFill>
              </a:rPr>
              <a:t>All 5 verbs return the correct status. POST returns 201 with a Location header. PATCH only changes provided fields.</a:t>
            </a:r>
          </a:p>
        </p:txBody>
      </p:sp>
    </p:spTree>
    <p:extLst>
      <p:ext uri="{BB962C8B-B14F-4D97-AF65-F5344CB8AC3E}">
        <p14:creationId xmlns:p14="http://schemas.microsoft.com/office/powerpoint/2010/main" val="35666111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Async Task Usage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sz="1500" b="1" dirty="0">
                <a:solidFill>
                  <a:srgbClr val="00D4FF"/>
                </a:solidFill>
              </a:rPr>
              <a:t>⏱️ Why async matters in Web API</a:t>
            </a:r>
          </a:p>
          <a:p>
            <a:pPr marL="228600" indent="-228600">
              <a:buChar char="▸"/>
            </a:pPr>
            <a:r>
              <a:rPr lang="en-US" sz="1300" dirty="0">
                <a:solidFill>
                  <a:srgbClr val="94A3B8"/>
                </a:solidFill>
              </a:rPr>
              <a:t>Thread pool threads are finite — sync I/O blocks threads, limits throughput</a:t>
            </a:r>
          </a:p>
          <a:p>
            <a:pPr marL="228600" indent="-228600">
              <a:buChar char="▸"/>
            </a:pPr>
            <a:r>
              <a:rPr lang="en-US" sz="1300" dirty="0">
                <a:solidFill>
                  <a:srgbClr val="94A3B8"/>
                </a:solidFill>
              </a:rPr>
              <a:t>Async I/O frees threads during DB/network waits — scales to thousands of requests</a:t>
            </a:r>
          </a:p>
          <a:p>
            <a:pPr>
              <a:buNone/>
            </a:pPr>
            <a:r>
              <a:rPr lang="en-US" sz="200" dirty="0"/>
              <a:t> </a:t>
            </a:r>
          </a:p>
          <a:p>
            <a:pPr>
              <a:buNone/>
            </a:pPr>
            <a:r>
              <a:rPr lang="en-US" sz="1500" b="1" dirty="0">
                <a:solidFill>
                  <a:srgbClr val="10B981"/>
                </a:solidFill>
              </a:rPr>
              <a:t>📋 Golden rules</a:t>
            </a:r>
          </a:p>
          <a:p>
            <a:pPr marL="228600" indent="-228600">
              <a:buChar char="▸"/>
            </a:pPr>
            <a:r>
              <a:rPr lang="en-US" sz="1300" dirty="0">
                <a:solidFill>
                  <a:srgbClr val="94A3B8"/>
                </a:solidFill>
              </a:rPr>
              <a:t>Always use await — never .Result or .Wait() (causes deadlocks in ASP.NET)</a:t>
            </a:r>
          </a:p>
          <a:p>
            <a:pPr marL="228600" indent="-228600">
              <a:buChar char="▸"/>
            </a:pPr>
            <a:r>
              <a:rPr lang="en-US" sz="1300" dirty="0">
                <a:solidFill>
                  <a:srgbClr val="94A3B8"/>
                </a:solidFill>
              </a:rPr>
              <a:t>Use CancellationToken on every async action for cooperative cancellation</a:t>
            </a:r>
          </a:p>
          <a:p>
            <a:pPr marL="228600" indent="-228600">
              <a:buChar char="▸"/>
            </a:pPr>
            <a:r>
              <a:rPr lang="en-US" sz="1300" dirty="0">
                <a:solidFill>
                  <a:srgbClr val="94A3B8"/>
                </a:solidFill>
              </a:rPr>
              <a:t>ConfigureAwait(false) in library code — not needed in controller code</a:t>
            </a:r>
          </a:p>
          <a:p>
            <a:pPr marL="228600" indent="-228600">
              <a:buChar char="▸"/>
            </a:pPr>
            <a:r>
              <a:rPr lang="en-US" sz="1300" dirty="0">
                <a:solidFill>
                  <a:srgbClr val="94A3B8"/>
                </a:solidFill>
              </a:rPr>
              <a:t>Use Task.WhenAll() to run independent awaits in parallel</a:t>
            </a:r>
          </a:p>
          <a:p>
            <a:pPr>
              <a:buNone/>
            </a:pPr>
            <a:r>
              <a:rPr lang="en-US" sz="200" dirty="0"/>
              <a:t> </a:t>
            </a:r>
          </a:p>
          <a:p>
            <a:pPr>
              <a:buNone/>
            </a:pPr>
            <a:r>
              <a:rPr lang="en-US" sz="1400" b="1" dirty="0">
                <a:solidFill>
                  <a:srgbClr val="F59E0B"/>
                </a:solidFill>
              </a:rPr>
              <a:t>⚡ IAsyncEnumerable&lt;T&gt;</a:t>
            </a:r>
            <a:r>
              <a:rPr lang="en-US" sz="1300" dirty="0">
                <a:solidFill>
                  <a:srgbClr val="CBD5E1"/>
                </a:solidFill>
              </a:rPr>
              <a:t>  — stream large result sets; avoids buffering all data in memory</a:t>
            </a:r>
          </a:p>
        </p:txBody>
      </p:sp>
      <p:sp>
        <p:nvSpPr>
          <p:cNvPr id="20" name="CodeBox"/>
          <p:cNvSpPr>
            <a:spLocks noGrp="1"/>
          </p:cNvSpPr>
          <p:nvPr/>
        </p:nvSpPr>
        <p:spPr>
          <a:xfrm>
            <a:off x="3600000" y="914400"/>
            <a:ext cx="5100000" cy="420000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12700">
            <a:solidFill>
              <a:srgbClr val="10B981"/>
            </a:solidFill>
          </a:ln>
        </p:spPr>
        <p:txBody>
          <a:bodyPr lIns="182880" tIns="182880" rIns="182880" bIns="182880"/>
          <a:lstStyle/>
          <a:p>
            <a:pPr>
              <a:buNone/>
            </a:pPr>
            <a:r>
              <a:rPr lang="en-US" sz="1100" dirty="0">
                <a:solidFill>
                  <a:srgbClr val="64748B"/>
                </a:solidFill>
              </a:rPr>
              <a:t>// Parallel I/O — fetch user + orders simultaneously</a:t>
            </a:r>
          </a:p>
          <a:p>
            <a:pPr>
              <a:buNone/>
            </a:pPr>
            <a:r>
              <a:rPr lang="en-US" sz="1100" dirty="0">
                <a:solidFill>
                  <a:srgbClr val="7C3AED"/>
                </a:solidFill>
              </a:rPr>
              <a:t>[HttpGet("{id}/dashboard")]</a:t>
            </a:r>
          </a:p>
          <a:p>
            <a:pPr>
              <a:buNone/>
            </a:pPr>
            <a:r>
              <a:rPr lang="en-US" sz="1100" dirty="0">
                <a:solidFill>
                  <a:srgbClr val="00D4FF"/>
                </a:solidFill>
              </a:rPr>
              <a:t>public async Task&lt;IActionResult&gt; GetDashboard(</a:t>
            </a:r>
          </a:p>
          <a:p>
            <a:pPr>
              <a:buNone/>
            </a:pPr>
            <a:r>
              <a:rPr lang="en-US" sz="1100" dirty="0">
                <a:solidFill>
                  <a:srgbClr val="FFFFFF"/>
                </a:solidFill>
              </a:rPr>
              <a:t>    int id, CancellationToken ct)</a:t>
            </a:r>
          </a:p>
          <a:p>
            <a:pPr>
              <a:buNone/>
            </a:pPr>
            <a:r>
              <a:rPr lang="en-US" sz="1100" dirty="0">
                <a:solidFill>
                  <a:srgbClr val="FFFFFF"/>
                </a:solidFill>
              </a:rPr>
              <a:t>{</a:t>
            </a:r>
          </a:p>
          <a:p>
            <a:pPr>
              <a:buNone/>
            </a:pPr>
            <a:r>
              <a:rPr lang="en-US" sz="1100" dirty="0">
                <a:solidFill>
                  <a:srgbClr val="94A3B8"/>
                </a:solidFill>
              </a:rPr>
              <a:t>    var userTask = _userRepo.GetAsync(id, ct);</a:t>
            </a:r>
          </a:p>
          <a:p>
            <a:pPr>
              <a:buNone/>
            </a:pPr>
            <a:r>
              <a:rPr lang="en-US" sz="1100" dirty="0">
                <a:solidFill>
                  <a:srgbClr val="94A3B8"/>
                </a:solidFill>
              </a:rPr>
              <a:t>    var ordersTask = _orderRepo.GetByUserAsync(id, ct);</a:t>
            </a:r>
          </a:p>
          <a:p>
            <a:pPr>
              <a:buNone/>
            </a:pPr>
            <a:r>
              <a:rPr lang="en-US" sz="1100" dirty="0">
                <a:solidFill>
                  <a:srgbClr val="10B981"/>
                </a:solidFill>
              </a:rPr>
              <a:t>    await Task.WhenAll(userTask, ordersTask);</a:t>
            </a:r>
          </a:p>
          <a:p>
            <a:pPr>
              <a:buNone/>
            </a:pPr>
            <a:r>
              <a:rPr lang="en-US" sz="1100" dirty="0">
                <a:solidFill>
                  <a:srgbClr val="10B981"/>
                </a:solidFill>
              </a:rPr>
              <a:t>    return Ok(new { user = userTask.Result,</a:t>
            </a:r>
          </a:p>
          <a:p>
            <a:pPr>
              <a:buNone/>
            </a:pPr>
            <a:r>
              <a:rPr lang="en-US" sz="1100" dirty="0">
                <a:solidFill>
                  <a:srgbClr val="10B981"/>
                </a:solidFill>
              </a:rPr>
              <a:t>                    orders = ordersTask.Result });</a:t>
            </a:r>
          </a:p>
          <a:p>
            <a:pPr>
              <a:buNone/>
            </a:pPr>
            <a:r>
              <a:rPr lang="en-US" sz="1100" dirty="0">
                <a:solidFill>
                  <a:srgbClr val="FFFFFF"/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768955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CORS (Cross-Origin Resource Sharing)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sz="1500" b="1" dirty="0">
                <a:solidFill>
                  <a:srgbClr val="00D4FF"/>
                </a:solidFill>
              </a:rPr>
              <a:t>🌐 What is CORS?</a:t>
            </a:r>
          </a:p>
          <a:p>
            <a:pPr marL="228600" indent="-228600">
              <a:buChar char="▸"/>
            </a:pPr>
            <a:r>
              <a:rPr lang="en-US" sz="1300" dirty="0">
                <a:solidFill>
                  <a:srgbClr val="94A3B8"/>
                </a:solidFill>
              </a:rPr>
              <a:t>Browser security policy blocks cross-origin requests (different domain/port/scheme)</a:t>
            </a:r>
          </a:p>
          <a:p>
            <a:pPr marL="228600" indent="-228600">
              <a:buChar char="▸"/>
            </a:pPr>
            <a:r>
              <a:rPr lang="en-US" sz="1300" dirty="0">
                <a:solidFill>
                  <a:srgbClr val="94A3B8"/>
                </a:solidFill>
              </a:rPr>
              <a:t>Preflight: browser sends OPTIONS before POST/PUT/DELETE to check permissions</a:t>
            </a:r>
          </a:p>
          <a:p>
            <a:pPr>
              <a:buNone/>
            </a:pPr>
            <a:r>
              <a:rPr lang="en-US" sz="200" dirty="0"/>
              <a:t> </a:t>
            </a:r>
          </a:p>
          <a:p>
            <a:pPr>
              <a:buNone/>
            </a:pPr>
            <a:r>
              <a:rPr lang="en-US" sz="1500" b="1" dirty="0">
                <a:solidFill>
                  <a:srgbClr val="10B981"/>
                </a:solidFill>
              </a:rPr>
              <a:t>⚙️ Configure in Program.cs</a:t>
            </a:r>
          </a:p>
          <a:p>
            <a:pPr marL="228600" indent="-228600">
              <a:buChar char="▸"/>
            </a:pPr>
            <a:r>
              <a:rPr lang="en-US" sz="1300" dirty="0">
                <a:solidFill>
                  <a:srgbClr val="94A3B8"/>
                </a:solidFill>
              </a:rPr>
              <a:t>builder.Services.AddCors(o =&gt; o.AddPolicy("MyPolicy", p =&gt; p...))</a:t>
            </a:r>
          </a:p>
          <a:p>
            <a:pPr marL="228600" indent="-228600">
              <a:buChar char="▸"/>
            </a:pPr>
            <a:r>
              <a:rPr lang="en-US" sz="1300" dirty="0">
                <a:solidFill>
                  <a:srgbClr val="94A3B8"/>
                </a:solidFill>
              </a:rPr>
              <a:t>app.UseCors("MyPolicy") — must be before UseAuthentication/UseAuthorization</a:t>
            </a:r>
          </a:p>
          <a:p>
            <a:pPr>
              <a:buNone/>
            </a:pPr>
            <a:r>
              <a:rPr lang="en-US" sz="200" dirty="0"/>
              <a:t> </a:t>
            </a:r>
          </a:p>
          <a:p>
            <a:pPr>
              <a:buNone/>
            </a:pPr>
            <a:r>
              <a:rPr lang="en-US" sz="1400" b="1" dirty="0">
                <a:solidFill>
                  <a:srgbClr val="EF4444"/>
                </a:solidFill>
              </a:rPr>
              <a:t>⚠️ Security warning</a:t>
            </a:r>
            <a:r>
              <a:rPr lang="en-US" sz="1300" dirty="0">
                <a:solidFill>
                  <a:srgbClr val="CBD5E1"/>
                </a:solidFill>
              </a:rPr>
              <a:t>  Never use AllowAnyOrigin() + AllowCredentials() together — browsers reject it</a:t>
            </a:r>
          </a:p>
        </p:txBody>
      </p:sp>
      <p:sp>
        <p:nvSpPr>
          <p:cNvPr id="20" name="CodeBox"/>
          <p:cNvSpPr>
            <a:spLocks noGrp="1"/>
          </p:cNvSpPr>
          <p:nvPr/>
        </p:nvSpPr>
        <p:spPr>
          <a:xfrm>
            <a:off x="3600000" y="914400"/>
            <a:ext cx="5100000" cy="480000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12700">
            <a:solidFill>
              <a:srgbClr val="7C3AED"/>
            </a:solidFill>
          </a:ln>
        </p:spPr>
        <p:txBody>
          <a:bodyPr lIns="182880" tIns="182880" rIns="182880" bIns="182880"/>
          <a:lstStyle/>
          <a:p>
            <a:pPr>
              <a:buNone/>
            </a:pPr>
            <a:r>
              <a:rPr lang="en-US" sz="1000" dirty="0">
                <a:solidFill>
                  <a:srgbClr val="64748B"/>
                </a:solidFill>
              </a:rPr>
              <a:t>// Program.cs — CORS setup</a:t>
            </a:r>
          </a:p>
          <a:p>
            <a:pPr>
              <a:buNone/>
            </a:pPr>
            <a:r>
              <a:rPr lang="en-US" sz="1000" dirty="0">
                <a:solidFill>
                  <a:srgbClr val="94A3B8"/>
                </a:solidFill>
              </a:rPr>
              <a:t>builder.Services.AddCors(options =&gt; {</a:t>
            </a:r>
          </a:p>
          <a:p>
            <a:pPr>
              <a:buNone/>
            </a:pPr>
            <a:r>
              <a:rPr lang="en-US" sz="1000" dirty="0">
                <a:solidFill>
                  <a:srgbClr val="94A3B8"/>
                </a:solidFill>
              </a:rPr>
              <a:t>    options.AddPolicy("AllowFrontend", policy =&gt;</a:t>
            </a:r>
          </a:p>
          <a:p>
            <a:pPr>
              <a:buNone/>
            </a:pPr>
            <a:r>
              <a:rPr lang="en-US" sz="1000" dirty="0">
                <a:solidFill>
                  <a:srgbClr val="94A3B8"/>
                </a:solidFill>
              </a:rPr>
              <a:t>        policy</a:t>
            </a:r>
          </a:p>
          <a:p>
            <a:pPr>
              <a:buNone/>
            </a:pPr>
            <a:r>
              <a:rPr lang="en-US" sz="1000" dirty="0">
                <a:solidFill>
                  <a:srgbClr val="10B981"/>
                </a:solidFill>
              </a:rPr>
              <a:t>            .WithOrigins("https://myapp.com")</a:t>
            </a:r>
          </a:p>
          <a:p>
            <a:pPr>
              <a:buNone/>
            </a:pPr>
            <a:r>
              <a:rPr lang="en-US" sz="1000" dirty="0">
                <a:solidFill>
                  <a:srgbClr val="10B981"/>
                </a:solidFill>
              </a:rPr>
              <a:t>            .WithMethods("GET","POST","PUT","DELETE")</a:t>
            </a:r>
          </a:p>
          <a:p>
            <a:pPr>
              <a:buNone/>
            </a:pPr>
            <a:r>
              <a:rPr lang="en-US" sz="1000" dirty="0">
                <a:solidFill>
                  <a:srgbClr val="10B981"/>
                </a:solidFill>
              </a:rPr>
              <a:t>            .WithHeaders("Authorization","Content-Type")</a:t>
            </a:r>
          </a:p>
          <a:p>
            <a:pPr>
              <a:buNone/>
            </a:pPr>
            <a:r>
              <a:rPr lang="en-US" sz="1000" dirty="0">
                <a:solidFill>
                  <a:srgbClr val="10B981"/>
                </a:solidFill>
              </a:rPr>
              <a:t>            .AllowCredentials());</a:t>
            </a:r>
          </a:p>
          <a:p>
            <a:pPr>
              <a:buNone/>
            </a:pPr>
            <a:r>
              <a:rPr lang="en-US" sz="1000" dirty="0">
                <a:solidFill>
                  <a:srgbClr val="94A3B8"/>
                </a:solidFill>
              </a:rPr>
              <a:t>});</a:t>
            </a:r>
          </a:p>
          <a:p>
            <a:pPr>
              <a:buNone/>
            </a:pPr>
            <a:r>
              <a:rPr lang="en-US" sz="200" dirty="0"/>
              <a:t> </a:t>
            </a:r>
          </a:p>
          <a:p>
            <a:pPr>
              <a:buNone/>
            </a:pPr>
            <a:r>
              <a:rPr lang="en-US" sz="1000" dirty="0">
                <a:solidFill>
                  <a:srgbClr val="64748B"/>
                </a:solidFill>
              </a:rPr>
              <a:t>// Middleware pipeline (ORDER MATTERS!)</a:t>
            </a:r>
          </a:p>
          <a:p>
            <a:pPr>
              <a:buNone/>
            </a:pPr>
            <a:r>
              <a:rPr lang="en-US" sz="1000" dirty="0">
                <a:solidFill>
                  <a:srgbClr val="7C3AED"/>
                </a:solidFill>
              </a:rPr>
              <a:t>app.UseRouting();</a:t>
            </a:r>
          </a:p>
          <a:p>
            <a:pPr>
              <a:buNone/>
            </a:pPr>
            <a:r>
              <a:rPr lang="en-US" sz="1000" dirty="0">
                <a:solidFill>
                  <a:srgbClr val="F59E0B"/>
                </a:solidFill>
              </a:rPr>
              <a:t>app.UseCors("AllowFrontend"); // ← before Auth!</a:t>
            </a:r>
          </a:p>
          <a:p>
            <a:pPr>
              <a:buNone/>
            </a:pPr>
            <a:r>
              <a:rPr lang="en-US" sz="1000" dirty="0">
                <a:solidFill>
                  <a:srgbClr val="7C3AED"/>
                </a:solidFill>
              </a:rPr>
              <a:t>app.UseAuthentication();</a:t>
            </a:r>
          </a:p>
          <a:p>
            <a:pPr>
              <a:buNone/>
            </a:pPr>
            <a:r>
              <a:rPr lang="en-US" sz="1000" dirty="0">
                <a:solidFill>
                  <a:srgbClr val="7C3AED"/>
                </a:solidFill>
              </a:rPr>
              <a:t>app.UseAuthorization();</a:t>
            </a:r>
          </a:p>
          <a:p>
            <a:pPr>
              <a:buNone/>
            </a:pPr>
            <a:r>
              <a:rPr lang="en-US" sz="1000" dirty="0">
                <a:solidFill>
                  <a:srgbClr val="7C3AED"/>
                </a:solidFill>
              </a:rPr>
              <a:t>app.MapControllers();</a:t>
            </a:r>
          </a:p>
        </p:txBody>
      </p:sp>
    </p:spTree>
    <p:extLst>
      <p:ext uri="{BB962C8B-B14F-4D97-AF65-F5344CB8AC3E}">
        <p14:creationId xmlns:p14="http://schemas.microsoft.com/office/powerpoint/2010/main" val="34027736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457200" y="152400"/>
            <a:ext cx="8229600" cy="457200"/>
          </a:xfrm>
          <a:prstGeom prst="roundRect">
            <a:avLst>
              <a:gd name="adj" fmla="val 8000"/>
            </a:avLst>
          </a:prstGeom>
          <a:solidFill>
            <a:srgbClr val="0A0E1A"/>
          </a:solidFill>
          <a:ln w="19050">
            <a:solidFill>
              <a:srgbClr val="0A0E1A"/>
            </a:solidFill>
          </a:ln>
        </p:spPr>
        <p:txBody>
          <a:bodyPr lIns="91440" tIns="45720" rIns="91440" bIns="45720"/>
          <a:lstStyle/>
          <a:p>
            <a:pPr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🌐 CORS Preflight Request Sequence</a:t>
            </a:r>
          </a:p>
        </p:txBody>
      </p:sp>
      <p:sp>
        <p:nvSpPr>
          <p:cNvPr id="10" name="Browser"/>
          <p:cNvSpPr>
            <a:spLocks noGrp="1"/>
          </p:cNvSpPr>
          <p:nvPr/>
        </p:nvSpPr>
        <p:spPr>
          <a:xfrm>
            <a:off x="457200" y="762000"/>
            <a:ext cx="1371600" cy="4572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9050">
            <a:solidFill>
              <a:srgbClr val="00D4FF"/>
            </a:solidFill>
          </a:ln>
        </p:spPr>
        <p:txBody>
          <a:bodyPr lIns="91440" tIns="45720" rIns="91440" bIns="45720"/>
          <a:lstStyle/>
          <a:p>
            <a:pPr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💻 Browser
(React/Angular)</a:t>
            </a:r>
          </a:p>
        </p:txBody>
      </p:sp>
      <p:sp>
        <p:nvSpPr>
          <p:cNvPr id="11" name="API"/>
          <p:cNvSpPr>
            <a:spLocks noGrp="1"/>
          </p:cNvSpPr>
          <p:nvPr/>
        </p:nvSpPr>
        <p:spPr>
          <a:xfrm>
            <a:off x="7315800" y="762000"/>
            <a:ext cx="1371600" cy="4572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9050">
            <a:solidFill>
              <a:srgbClr val="7C3AED"/>
            </a:solidFill>
          </a:ln>
        </p:spPr>
        <p:txBody>
          <a:bodyPr lIns="91440" tIns="45720" rIns="91440" bIns="45720"/>
          <a:lstStyle/>
          <a:p>
            <a:pPr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⚡ ASP.NET
Core API</a:t>
            </a:r>
          </a:p>
        </p:txBody>
      </p:sp>
      <p:sp>
        <p:nvSpPr>
          <p:cNvPr id="50" name="Lbl50"/>
          <p:cNvSpPr>
            <a:spLocks noGrp="1"/>
          </p:cNvSpPr>
          <p:nvPr/>
        </p:nvSpPr>
        <p:spPr>
          <a:xfrm>
            <a:off x="1142400" y="1219200"/>
            <a:ext cx="45720" cy="4800000"/>
          </a:xfrm>
          <a:prstGeom prst="rect">
            <a:avLst/>
          </a:prstGeom>
          <a:noFill/>
          <a:ln>
            <a:noFill/>
          </a:ln>
        </p:spPr>
        <p:txBody>
          <a:bodyPr lIns="45720" tIns="22860" rIns="45720" bIns="22860"/>
          <a:lstStyle/>
          <a:p>
            <a:pPr algn="l">
              <a:buNone/>
            </a:pPr>
            <a:endParaRPr/>
          </a:p>
        </p:txBody>
      </p:sp>
      <p:sp>
        <p:nvSpPr>
          <p:cNvPr id="51" name="Lbl51"/>
          <p:cNvSpPr>
            <a:spLocks noGrp="1"/>
          </p:cNvSpPr>
          <p:nvPr/>
        </p:nvSpPr>
        <p:spPr>
          <a:xfrm>
            <a:off x="8001000" y="1219200"/>
            <a:ext cx="45720" cy="4800000"/>
          </a:xfrm>
          <a:prstGeom prst="rect">
            <a:avLst/>
          </a:prstGeom>
          <a:noFill/>
          <a:ln>
            <a:noFill/>
          </a:ln>
        </p:spPr>
        <p:txBody>
          <a:bodyPr lIns="45720" tIns="22860" rIns="45720" bIns="22860"/>
          <a:lstStyle/>
          <a:p>
            <a:pPr algn="l">
              <a:buNone/>
            </a:pPr>
            <a:endParaRPr/>
          </a:p>
        </p:txBody>
      </p:sp>
      <p:sp>
        <p:nvSpPr>
          <p:cNvPr id="20" name="Lbl20"/>
          <p:cNvSpPr>
            <a:spLocks noGrp="1"/>
          </p:cNvSpPr>
          <p:nvPr/>
        </p:nvSpPr>
        <p:spPr>
          <a:xfrm>
            <a:off x="1188120" y="1371600"/>
            <a:ext cx="6812880" cy="304800"/>
          </a:xfrm>
          <a:prstGeom prst="rect">
            <a:avLst/>
          </a:prstGeom>
          <a:noFill/>
          <a:ln>
            <a:noFill/>
          </a:ln>
        </p:spPr>
        <p:txBody>
          <a:bodyPr lIns="45720" tIns="22860" rIns="45720" bIns="22860"/>
          <a:lstStyle/>
          <a:p>
            <a:pPr algn="l">
              <a:buNone/>
            </a:pPr>
            <a:r>
              <a:rPr lang="en-US" sz="1100" dirty="0">
                <a:solidFill>
                  <a:srgbClr val="F59E0B"/>
                </a:solidFill>
              </a:rPr>
              <a:t>1  OPTIONS /api/products  (Preflight)</a:t>
            </a:r>
          </a:p>
        </p:txBody>
      </p:sp>
      <p:sp>
        <p:nvSpPr>
          <p:cNvPr id="21" name="Lbl21"/>
          <p:cNvSpPr>
            <a:spLocks noGrp="1"/>
          </p:cNvSpPr>
          <p:nvPr/>
        </p:nvSpPr>
        <p:spPr>
          <a:xfrm>
            <a:off x="1188120" y="1676400"/>
            <a:ext cx="6812880" cy="304800"/>
          </a:xfrm>
          <a:prstGeom prst="rect">
            <a:avLst/>
          </a:prstGeom>
          <a:noFill/>
          <a:ln>
            <a:noFill/>
          </a:ln>
        </p:spPr>
        <p:txBody>
          <a:bodyPr lIns="45720" tIns="22860" rIns="45720" bIns="22860"/>
          <a:lstStyle/>
          <a:p>
            <a:pPr algn="l">
              <a:buNone/>
            </a:pPr>
            <a:r>
              <a:rPr lang="en-US" sz="1050" dirty="0">
                <a:solidFill>
                  <a:srgbClr val="94A3B8"/>
                </a:solidFill>
              </a:rPr>
              <a:t>     Origin: https://myapp.com | Method: POST | Headers: Authorization</a:t>
            </a:r>
          </a:p>
        </p:txBody>
      </p:sp>
      <p:sp>
        <p:nvSpPr>
          <p:cNvPr id="30" name="Check"/>
          <p:cNvSpPr>
            <a:spLocks noGrp="1"/>
          </p:cNvSpPr>
          <p:nvPr/>
        </p:nvSpPr>
        <p:spPr>
          <a:xfrm>
            <a:off x="3581400" y="2133600"/>
            <a:ext cx="1828800" cy="4572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9050">
            <a:solidFill>
              <a:srgbClr val="7C3AED"/>
            </a:solidFill>
          </a:ln>
        </p:spPr>
        <p:txBody>
          <a:bodyPr lIns="91440" tIns="45720" rIns="91440" bIns="45720"/>
          <a:lstStyle/>
          <a:p>
            <a:pPr algn="ctr">
              <a:buNone/>
            </a:pPr>
            <a:r>
              <a:rPr lang="en-US" sz="1050" b="0" dirty="0">
                <a:solidFill>
                  <a:srgbClr val="FFFFFF"/>
                </a:solidFill>
              </a:rPr>
              <a:t>Checks CORS Policy
✓ Origin allowed? Methods? Headers?</a:t>
            </a:r>
          </a:p>
        </p:txBody>
      </p:sp>
      <p:sp>
        <p:nvSpPr>
          <p:cNvPr id="31" name="Lbl31"/>
          <p:cNvSpPr>
            <a:spLocks noGrp="1"/>
          </p:cNvSpPr>
          <p:nvPr/>
        </p:nvSpPr>
        <p:spPr>
          <a:xfrm>
            <a:off x="1188120" y="2743200"/>
            <a:ext cx="6812880" cy="304800"/>
          </a:xfrm>
          <a:prstGeom prst="rect">
            <a:avLst/>
          </a:prstGeom>
          <a:noFill/>
          <a:ln>
            <a:noFill/>
          </a:ln>
        </p:spPr>
        <p:txBody>
          <a:bodyPr lIns="45720" tIns="22860" rIns="45720" bIns="22860"/>
          <a:lstStyle/>
          <a:p>
            <a:pPr algn="l">
              <a:buNone/>
            </a:pPr>
            <a:r>
              <a:rPr lang="en-US" sz="1100" dirty="0">
                <a:solidFill>
                  <a:srgbClr val="10B981"/>
                </a:solidFill>
              </a:rPr>
              <a:t>2  200 OK  (Preflight Response)</a:t>
            </a:r>
          </a:p>
        </p:txBody>
      </p:sp>
      <p:sp>
        <p:nvSpPr>
          <p:cNvPr id="32" name="Lbl32"/>
          <p:cNvSpPr>
            <a:spLocks noGrp="1"/>
          </p:cNvSpPr>
          <p:nvPr/>
        </p:nvSpPr>
        <p:spPr>
          <a:xfrm>
            <a:off x="1188120" y="3048000"/>
            <a:ext cx="6812880" cy="304800"/>
          </a:xfrm>
          <a:prstGeom prst="rect">
            <a:avLst/>
          </a:prstGeom>
          <a:noFill/>
          <a:ln>
            <a:noFill/>
          </a:ln>
        </p:spPr>
        <p:txBody>
          <a:bodyPr lIns="45720" tIns="22860" rIns="45720" bIns="22860"/>
          <a:lstStyle/>
          <a:p>
            <a:pPr algn="l">
              <a:buNone/>
            </a:pPr>
            <a:r>
              <a:rPr lang="en-US" sz="1050" dirty="0">
                <a:solidFill>
                  <a:srgbClr val="94A3B8"/>
                </a:solidFill>
              </a:rPr>
              <a:t>     Access-Control-Allow-Origin: https://myapp.com</a:t>
            </a:r>
          </a:p>
        </p:txBody>
      </p:sp>
      <p:sp>
        <p:nvSpPr>
          <p:cNvPr id="33" name="Lbl33"/>
          <p:cNvSpPr>
            <a:spLocks noGrp="1"/>
          </p:cNvSpPr>
          <p:nvPr/>
        </p:nvSpPr>
        <p:spPr>
          <a:xfrm>
            <a:off x="1188120" y="3276000"/>
            <a:ext cx="6812880" cy="304800"/>
          </a:xfrm>
          <a:prstGeom prst="rect">
            <a:avLst/>
          </a:prstGeom>
          <a:noFill/>
          <a:ln>
            <a:noFill/>
          </a:ln>
        </p:spPr>
        <p:txBody>
          <a:bodyPr lIns="45720" tIns="22860" rIns="45720" bIns="22860"/>
          <a:lstStyle/>
          <a:p>
            <a:pPr algn="l">
              <a:buNone/>
            </a:pPr>
            <a:r>
              <a:rPr lang="en-US" sz="1050" dirty="0">
                <a:solidFill>
                  <a:srgbClr val="94A3B8"/>
                </a:solidFill>
              </a:rPr>
              <a:t>     Access-Control-Allow-Methods: GET, POST, PUT, DELETE</a:t>
            </a:r>
          </a:p>
        </p:txBody>
      </p:sp>
      <p:sp>
        <p:nvSpPr>
          <p:cNvPr id="34" name="Lbl34"/>
          <p:cNvSpPr>
            <a:spLocks noGrp="1"/>
          </p:cNvSpPr>
          <p:nvPr/>
        </p:nvSpPr>
        <p:spPr>
          <a:xfrm>
            <a:off x="1188120" y="3504000"/>
            <a:ext cx="6812880" cy="304800"/>
          </a:xfrm>
          <a:prstGeom prst="rect">
            <a:avLst/>
          </a:prstGeom>
          <a:noFill/>
          <a:ln>
            <a:noFill/>
          </a:ln>
        </p:spPr>
        <p:txBody>
          <a:bodyPr lIns="45720" tIns="22860" rIns="45720" bIns="22860"/>
          <a:lstStyle/>
          <a:p>
            <a:pPr algn="l">
              <a:buNone/>
            </a:pPr>
            <a:r>
              <a:rPr lang="en-US" sz="1050" dirty="0">
                <a:solidFill>
                  <a:srgbClr val="94A3B8"/>
                </a:solidFill>
              </a:rPr>
              <a:t>     Access-Control-Max-Age: 86400  (cache preflight 24h)</a:t>
            </a:r>
          </a:p>
        </p:txBody>
      </p:sp>
      <p:sp>
        <p:nvSpPr>
          <p:cNvPr id="40" name="Lbl40"/>
          <p:cNvSpPr>
            <a:spLocks noGrp="1"/>
          </p:cNvSpPr>
          <p:nvPr/>
        </p:nvSpPr>
        <p:spPr>
          <a:xfrm>
            <a:off x="1188120" y="3886200"/>
            <a:ext cx="6812880" cy="304800"/>
          </a:xfrm>
          <a:prstGeom prst="rect">
            <a:avLst/>
          </a:prstGeom>
          <a:noFill/>
          <a:ln>
            <a:noFill/>
          </a:ln>
        </p:spPr>
        <p:txBody>
          <a:bodyPr lIns="45720" tIns="22860" rIns="45720" bIns="22860"/>
          <a:lstStyle/>
          <a:p>
            <a:pPr algn="l">
              <a:buNone/>
            </a:pPr>
            <a:r>
              <a:rPr lang="en-US" sz="1100" dirty="0">
                <a:solidFill>
                  <a:srgbClr val="00D4FF"/>
                </a:solidFill>
              </a:rPr>
              <a:t>3  POST /api/products  (Actual Request — with credentials)</a:t>
            </a:r>
          </a:p>
        </p:txBody>
      </p:sp>
      <p:sp>
        <p:nvSpPr>
          <p:cNvPr id="60" name="Tip"/>
          <p:cNvSpPr>
            <a:spLocks noGrp="1"/>
          </p:cNvSpPr>
          <p:nvPr/>
        </p:nvSpPr>
        <p:spPr>
          <a:xfrm>
            <a:off x="457200" y="4343400"/>
            <a:ext cx="8229600" cy="380000"/>
          </a:xfrm>
          <a:prstGeom prst="roundRect">
            <a:avLst>
              <a:gd name="adj" fmla="val 8000"/>
            </a:avLst>
          </a:prstGeom>
          <a:solidFill>
            <a:srgbClr val="0F2027"/>
          </a:solidFill>
          <a:ln w="19050">
            <a:solidFill>
              <a:srgbClr val="10B981"/>
            </a:solidFill>
          </a:ln>
        </p:spPr>
        <p:txBody>
          <a:bodyPr lIns="91440" tIns="45720" rIns="91440" bIns="45720"/>
          <a:lstStyle/>
          <a:p>
            <a:pPr algn="ctr">
              <a:buNone/>
            </a:pPr>
            <a:r>
              <a:rPr lang="en-US" sz="1100" b="0" dirty="0">
                <a:solidFill>
                  <a:srgbClr val="FFFFFF"/>
                </a:solidFill>
              </a:rPr>
              <a:t>💡 Preflight only fires for non-simple requests (POST/PUT/DELETE with custom headers).  Simple GETs skip preflight.</a:t>
            </a:r>
          </a:p>
        </p:txBody>
      </p:sp>
    </p:spTree>
    <p:extLst>
      <p:ext uri="{BB962C8B-B14F-4D97-AF65-F5344CB8AC3E}">
        <p14:creationId xmlns:p14="http://schemas.microsoft.com/office/powerpoint/2010/main" val="41610910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Testing with Postman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00D9FF"/>
                </a:solidFill>
              </a:rPr>
              <a:t>What it does</a:t>
            </a:r>
            <a:r>
              <a:rPr lang="en-US" dirty="0"/>
              <a:t>: GUI client for sending HTTP requests to any endpoint.</a:t>
            </a:r>
          </a:p>
          <a:p>
            <a:r>
              <a:rPr lang="en-US" b="1" dirty="0">
                <a:solidFill>
                  <a:srgbClr val="00D9FF"/>
                </a:solidFill>
              </a:rPr>
              <a:t>Collections</a:t>
            </a:r>
            <a:r>
              <a:rPr lang="en-US" dirty="0"/>
              <a:t>: Group related requests; share with your team via JSON export.</a:t>
            </a:r>
          </a:p>
          <a:p>
            <a:r>
              <a:rPr lang="en-US" b="1" dirty="0">
                <a:solidFill>
                  <a:srgbClr val="00D9FF"/>
                </a:solidFill>
              </a:rPr>
              <a:t>Environments</a:t>
            </a:r>
            <a:r>
              <a:rPr lang="en-US" dirty="0"/>
              <a:t>: Swap base URLs and tokens between dev/staging/prod with one click.</a:t>
            </a:r>
          </a:p>
          <a:p>
            <a:r>
              <a:rPr lang="en-US" b="1" dirty="0">
                <a:solidFill>
                  <a:srgbClr val="00D9FF"/>
                </a:solidFill>
              </a:rPr>
              <a:t>Tests</a:t>
            </a:r>
            <a:r>
              <a:rPr lang="en-US" dirty="0"/>
              <a:t>: Write JS assertions: pm.test(...), pm.expect(...).</a:t>
            </a:r>
          </a:p>
          <a:p>
            <a:r>
              <a:rPr lang="en-US" b="1" dirty="0">
                <a:solidFill>
                  <a:srgbClr val="39FF14"/>
                </a:solidFill>
              </a:rPr>
              <a:t>Alternatives</a:t>
            </a:r>
            <a:r>
              <a:rPr lang="en-US" dirty="0"/>
              <a:t>: cURL, Thunder Client (VS Code), .http files in Visual Studio.</a:t>
            </a:r>
          </a:p>
        </p:txBody>
      </p:sp>
    </p:spTree>
    <p:extLst>
      <p:ext uri="{BB962C8B-B14F-4D97-AF65-F5344CB8AC3E}">
        <p14:creationId xmlns:p14="http://schemas.microsoft.com/office/powerpoint/2010/main" val="11042229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A35161-B04E-788C-BD13-7024FEE6B7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 3: Async + CORS</a:t>
            </a:r>
          </a:p>
        </p:txBody>
      </p:sp>
      <p:sp>
        <p:nvSpPr>
          <p:cNvPr id="2000" name="Pill"/>
          <p:cNvSpPr/>
          <p:nvPr/>
        </p:nvSpPr>
        <p:spPr>
          <a:xfrm>
            <a:off x="7112000" y="635000"/>
            <a:ext cx="1143000" cy="355600"/>
          </a:xfrm>
          <a:prstGeom prst="roundRect">
            <a:avLst>
              <a:gd name="adj" fmla="val 50000"/>
            </a:avLst>
          </a:prstGeom>
          <a:solidFill>
            <a:srgbClr val="FF79C6"/>
          </a:solidFill>
          <a:ln>
            <a:noFill/>
          </a:ln>
        </p:spPr>
        <p:txBody>
          <a:bodyPr lIns="0" tIns="0" rIns="0" bIns="0" anchor="ctr" anchorCtr="1"/>
          <a:lstStyle/>
          <a:p>
            <a:pPr algn="ctr">
              <a:buNone/>
            </a:pPr>
            <a:r>
              <a:rPr lang="en-US" sz="1200" b="1" dirty="0">
                <a:solidFill>
                  <a:srgbClr val="0D1117"/>
                </a:solidFill>
              </a:rPr>
              <a:t>LAB</a:t>
            </a:r>
          </a:p>
        </p:txBody>
      </p:sp>
      <p:sp>
        <p:nvSpPr>
          <p:cNvPr id="2001" name="Pill"/>
          <p:cNvSpPr/>
          <p:nvPr/>
        </p:nvSpPr>
        <p:spPr>
          <a:xfrm>
            <a:off x="7112000" y="1041400"/>
            <a:ext cx="1143000" cy="279400"/>
          </a:xfrm>
          <a:prstGeom prst="roundRect">
            <a:avLst>
              <a:gd name="adj" fmla="val 50000"/>
            </a:avLst>
          </a:prstGeom>
          <a:solidFill>
            <a:srgbClr val="161B22"/>
          </a:solidFill>
          <a:ln>
            <a:noFill/>
          </a:ln>
        </p:spPr>
        <p:txBody>
          <a:bodyPr lIns="0" tIns="0" rIns="0" bIns="0" anchor="ctr" anchorCtr="1"/>
          <a:lstStyle/>
          <a:p>
            <a:pPr algn="ctr">
              <a:buNone/>
            </a:pPr>
            <a:r>
              <a:rPr lang="en-US" sz="900" b="1" dirty="0">
                <a:solidFill>
                  <a:srgbClr val="FFB86C"/>
                </a:solidFill>
              </a:rPr>
              <a:t>20 min</a:t>
            </a:r>
          </a:p>
        </p:txBody>
      </p:sp>
      <p:sp>
        <p:nvSpPr>
          <p:cNvPr id="2002" name="Card"/>
          <p:cNvSpPr/>
          <p:nvPr/>
        </p:nvSpPr>
        <p:spPr>
          <a:xfrm>
            <a:off x="508000" y="2222500"/>
            <a:ext cx="3937000" cy="2857500"/>
          </a:xfrm>
          <a:prstGeom prst="roundRect">
            <a:avLst>
              <a:gd name="adj" fmla="val 20000"/>
            </a:avLst>
          </a:prstGeom>
          <a:solidFill>
            <a:srgbClr val="161B22"/>
          </a:solidFill>
          <a:ln w="12700">
            <a:solidFill>
              <a:srgbClr val="39FF1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03" name="Text"/>
          <p:cNvSpPr txBox="1"/>
          <p:nvPr/>
        </p:nvSpPr>
        <p:spPr>
          <a:xfrm>
            <a:off x="508000" y="2222500"/>
            <a:ext cx="3937000" cy="508000"/>
          </a:xfrm>
          <a:prstGeom prst="rect">
            <a:avLst/>
          </a:prstGeom>
          <a:noFill/>
        </p:spPr>
        <p:txBody>
          <a:bodyPr wrap="square" lIns="72000" tIns="54000" rIns="72000" bIns="5400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9FF14"/>
                </a:solidFill>
              </a:rPr>
              <a:t>🎯  GOAL</a:t>
            </a:r>
          </a:p>
        </p:txBody>
      </p:sp>
      <p:sp>
        <p:nvSpPr>
          <p:cNvPr id="2004" name="Text"/>
          <p:cNvSpPr txBox="1"/>
          <p:nvPr/>
        </p:nvSpPr>
        <p:spPr>
          <a:xfrm>
            <a:off x="508000" y="2667000"/>
            <a:ext cx="3937000" cy="2413000"/>
          </a:xfrm>
          <a:prstGeom prst="rect">
            <a:avLst/>
          </a:prstGeom>
          <a:noFill/>
        </p:spPr>
        <p:txBody>
          <a:bodyPr wrap="square" lIns="72000" tIns="54000" rIns="72000" bIns="54000" anchor="t"/>
          <a:lstStyle/>
          <a:p>
            <a:pPr marL="0" indent="0" algn="l">
              <a:buNone/>
            </a:pPr>
            <a:r>
              <a:rPr lang="en-US" sz="1100" b="0" dirty="0">
                <a:solidFill>
                  <a:srgbClr val="E6EDF3"/>
                </a:solidFill>
              </a:rPr>
              <a:t>Convert your controller to async/await and enable CORS for a front-end origin.</a:t>
            </a:r>
          </a:p>
          <a:p>
            <a:pPr marL="0" indent="0" algn="l">
              <a:buNone/>
            </a:pPr>
            <a:r>
              <a:rPr lang="en-US" sz="1100" b="0" dirty="0">
                <a:solidFill>
                  <a:srgbClr val="E6EDF3"/>
                </a:solidFill>
              </a:rPr>
              <a:t> </a:t>
            </a:r>
          </a:p>
          <a:p>
            <a:pPr marL="0" indent="0" algn="l">
              <a:buNone/>
            </a:pPr>
            <a:r>
              <a:rPr lang="en-US" sz="1100" b="0" dirty="0">
                <a:solidFill>
                  <a:srgbClr val="C9D1D9"/>
                </a:solidFill>
              </a:rPr>
              <a:t>You should verify that:</a:t>
            </a:r>
          </a:p>
          <a:p>
            <a:pPr marL="0" indent="0" algn="l">
              <a:buNone/>
            </a:pPr>
            <a:r>
              <a:rPr lang="en-US" sz="1100" b="0" dirty="0">
                <a:solidFill>
                  <a:srgbClr val="E6EDF3"/>
                </a:solidFill>
              </a:rPr>
              <a:t>• Endpoints return Task&lt;IActionResult&gt;</a:t>
            </a:r>
          </a:p>
          <a:p>
            <a:pPr marL="0" indent="0" algn="l">
              <a:buNone/>
            </a:pPr>
            <a:r>
              <a:rPr lang="en-US" sz="1100" b="0" dirty="0">
                <a:solidFill>
                  <a:srgbClr val="E6EDF3"/>
                </a:solidFill>
              </a:rPr>
              <a:t>• Browser fetch from another origin succeeds</a:t>
            </a:r>
          </a:p>
          <a:p>
            <a:pPr marL="0" indent="0" algn="l">
              <a:buNone/>
            </a:pPr>
            <a:r>
              <a:rPr lang="en-US" sz="1100" b="0" dirty="0">
                <a:solidFill>
                  <a:srgbClr val="E6EDF3"/>
                </a:solidFill>
              </a:rPr>
              <a:t>• Preflight OPTIONS request returns 204</a:t>
            </a:r>
          </a:p>
        </p:txBody>
      </p:sp>
      <p:sp>
        <p:nvSpPr>
          <p:cNvPr id="2005" name="Card"/>
          <p:cNvSpPr/>
          <p:nvPr/>
        </p:nvSpPr>
        <p:spPr>
          <a:xfrm>
            <a:off x="4699000" y="2222500"/>
            <a:ext cx="3937000" cy="2857500"/>
          </a:xfrm>
          <a:prstGeom prst="roundRect">
            <a:avLst>
              <a:gd name="adj" fmla="val 20000"/>
            </a:avLst>
          </a:prstGeom>
          <a:solidFill>
            <a:srgbClr val="161B22"/>
          </a:solidFill>
          <a:ln w="12700">
            <a:solidFill>
              <a:srgbClr val="00D9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06" name="Text"/>
          <p:cNvSpPr txBox="1"/>
          <p:nvPr/>
        </p:nvSpPr>
        <p:spPr>
          <a:xfrm>
            <a:off x="4699000" y="2222500"/>
            <a:ext cx="3937000" cy="508000"/>
          </a:xfrm>
          <a:prstGeom prst="rect">
            <a:avLst/>
          </a:prstGeom>
          <a:noFill/>
        </p:spPr>
        <p:txBody>
          <a:bodyPr wrap="square" lIns="72000" tIns="54000" rIns="72000" bIns="5400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D9FF"/>
                </a:solidFill>
              </a:rPr>
              <a:t>🛠  STEPS</a:t>
            </a:r>
          </a:p>
        </p:txBody>
      </p:sp>
      <p:sp>
        <p:nvSpPr>
          <p:cNvPr id="2007" name="Text"/>
          <p:cNvSpPr txBox="1"/>
          <p:nvPr/>
        </p:nvSpPr>
        <p:spPr>
          <a:xfrm>
            <a:off x="4699000" y="2667000"/>
            <a:ext cx="3937000" cy="2413000"/>
          </a:xfrm>
          <a:prstGeom prst="rect">
            <a:avLst/>
          </a:prstGeom>
          <a:noFill/>
        </p:spPr>
        <p:txBody>
          <a:bodyPr wrap="square" lIns="72000" tIns="54000" rIns="72000" bIns="54000" anchor="t"/>
          <a:lstStyle/>
          <a:p>
            <a:pPr marL="0" indent="0" algn="l">
              <a:buNone/>
            </a:pPr>
            <a:r>
              <a:rPr lang="en-US" sz="1100" b="0" dirty="0">
                <a:solidFill>
                  <a:srgbClr val="E6EDF3"/>
                </a:solidFill>
              </a:rPr>
              <a:t>1.  Add async + await to GetAsync, PostAsync.</a:t>
            </a:r>
          </a:p>
          <a:p>
            <a:pPr marL="0" indent="0" algn="l">
              <a:buNone/>
            </a:pPr>
            <a:r>
              <a:rPr lang="en-US" sz="1100" b="0" dirty="0">
                <a:solidFill>
                  <a:srgbClr val="E6EDF3"/>
                </a:solidFill>
              </a:rPr>
              <a:t>2.  Replace ToList() → await ToListAsync().</a:t>
            </a:r>
          </a:p>
          <a:p>
            <a:pPr marL="0" indent="0" algn="l">
              <a:buNone/>
            </a:pPr>
            <a:r>
              <a:rPr lang="en-US" sz="1100" b="0" dirty="0">
                <a:solidFill>
                  <a:srgbClr val="E6EDF3"/>
                </a:solidFill>
              </a:rPr>
              <a:t>3.  In Program.cs: AddCors(o =&gt; …).</a:t>
            </a:r>
          </a:p>
          <a:p>
            <a:pPr marL="0" indent="0" algn="l">
              <a:buNone/>
            </a:pPr>
            <a:r>
              <a:rPr lang="en-US" sz="1100" b="0" dirty="0">
                <a:solidFill>
                  <a:srgbClr val="E6EDF3"/>
                </a:solidFill>
              </a:rPr>
              <a:t>4.  Add app.UseCors("FrontendPolicy").</a:t>
            </a:r>
          </a:p>
          <a:p>
            <a:pPr marL="0" indent="0" algn="l">
              <a:buNone/>
            </a:pPr>
            <a:r>
              <a:rPr lang="en-US" sz="1100" b="0" dirty="0">
                <a:solidFill>
                  <a:srgbClr val="E6EDF3"/>
                </a:solidFill>
              </a:rPr>
              <a:t>5.  Call API from a small HTML+fetch page.</a:t>
            </a:r>
          </a:p>
          <a:p>
            <a:pPr marL="0" indent="0" algn="l">
              <a:buNone/>
            </a:pPr>
            <a:r>
              <a:rPr lang="en-US" sz="1100" b="0" dirty="0">
                <a:solidFill>
                  <a:srgbClr val="E6EDF3"/>
                </a:solidFill>
              </a:rPr>
              <a:t>6.  Inspect headers in DevTools Network tab.</a:t>
            </a:r>
          </a:p>
        </p:txBody>
      </p:sp>
      <p:sp>
        <p:nvSpPr>
          <p:cNvPr id="2008" name="Card"/>
          <p:cNvSpPr/>
          <p:nvPr/>
        </p:nvSpPr>
        <p:spPr>
          <a:xfrm>
            <a:off x="508000" y="5270500"/>
            <a:ext cx="8128000" cy="1016000"/>
          </a:xfrm>
          <a:prstGeom prst="roundRect">
            <a:avLst>
              <a:gd name="adj" fmla="val 20000"/>
            </a:avLst>
          </a:prstGeom>
          <a:solidFill>
            <a:srgbClr val="161B22"/>
          </a:solidFill>
          <a:ln w="12700">
            <a:solidFill>
              <a:srgbClr val="BD93F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09" name="Text"/>
          <p:cNvSpPr txBox="1"/>
          <p:nvPr/>
        </p:nvSpPr>
        <p:spPr>
          <a:xfrm>
            <a:off x="508000" y="5270500"/>
            <a:ext cx="8128000" cy="1016000"/>
          </a:xfrm>
          <a:prstGeom prst="rect">
            <a:avLst/>
          </a:prstGeom>
          <a:noFill/>
        </p:spPr>
        <p:txBody>
          <a:bodyPr wrap="square" lIns="72000" tIns="54000" rIns="72000" bIns="5400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BD93F9"/>
                </a:solidFill>
              </a:rPr>
              <a:t>✅  CHECKPOINT</a:t>
            </a:r>
          </a:p>
          <a:p>
            <a:pPr marL="0" indent="0" algn="l">
              <a:buNone/>
            </a:pPr>
            <a:r>
              <a:rPr lang="en-US" sz="1000" b="0" dirty="0">
                <a:solidFill>
                  <a:srgbClr val="C9D1D9"/>
                </a:solidFill>
              </a:rPr>
              <a:t>Network tab shows Access-Control-Allow-Origin header. Async endpoints don't block under load (try with ApacheBench).</a:t>
            </a:r>
          </a:p>
        </p:txBody>
      </p:sp>
    </p:spTree>
    <p:extLst>
      <p:ext uri="{BB962C8B-B14F-4D97-AF65-F5344CB8AC3E}">
        <p14:creationId xmlns:p14="http://schemas.microsoft.com/office/powerpoint/2010/main" val="25670762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Exception Handling in Web API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00D9FF"/>
                </a:solidFill>
              </a:rPr>
              <a:t>Goal</a:t>
            </a:r>
            <a:r>
              <a:rPr lang="en-US" dirty="0"/>
              <a:t>: Return helpful errors without leaking internals.</a:t>
            </a:r>
          </a:p>
          <a:p>
            <a:r>
              <a:rPr lang="en-US" b="1" dirty="0">
                <a:solidFill>
                  <a:srgbClr val="00D9FF"/>
                </a:solidFill>
              </a:rPr>
              <a:t>Try/catch</a:t>
            </a:r>
            <a:r>
              <a:rPr lang="en-US" dirty="0"/>
              <a:t>: Wrap risky operations; catch specific exceptions first.</a:t>
            </a:r>
          </a:p>
          <a:p>
            <a:r>
              <a:rPr lang="en-US" b="1" dirty="0">
                <a:solidFill>
                  <a:srgbClr val="00D9FF"/>
                </a:solidFill>
              </a:rPr>
              <a:t>ProblemDetails</a:t>
            </a:r>
            <a:r>
              <a:rPr lang="en-US" dirty="0"/>
              <a:t>: RFC 7807 standard JSON error format with type, title, status, detail.</a:t>
            </a:r>
          </a:p>
          <a:p>
            <a:r>
              <a:rPr lang="en-US" b="1" dirty="0">
                <a:solidFill>
                  <a:srgbClr val="00D9FF"/>
                </a:solidFill>
              </a:rPr>
              <a:t>Custom exceptions</a:t>
            </a:r>
            <a:r>
              <a:rPr lang="en-US" dirty="0"/>
              <a:t>: Define NotFoundException, ValidationException for domain errors.</a:t>
            </a:r>
          </a:p>
          <a:p>
            <a:r>
              <a:rPr lang="en-US" b="1" dirty="0">
                <a:solidFill>
                  <a:srgbClr val="FF79C6"/>
                </a:solidFill>
              </a:rPr>
              <a:t>Anti-pattern</a:t>
            </a:r>
            <a:r>
              <a:rPr lang="en-US" dirty="0"/>
              <a:t>: catch (Exception) { } — swallowing errors hides real problems.</a:t>
            </a:r>
          </a:p>
        </p:txBody>
      </p:sp>
    </p:spTree>
    <p:extLst>
      <p:ext uri="{BB962C8B-B14F-4D97-AF65-F5344CB8AC3E}">
        <p14:creationId xmlns:p14="http://schemas.microsoft.com/office/powerpoint/2010/main" val="36924463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Global Error Handling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00D9FF"/>
                </a:solidFill>
              </a:rPr>
              <a:t>Why centralize</a:t>
            </a:r>
            <a:r>
              <a:rPr lang="en-US" dirty="0"/>
              <a:t>: One place for all unhandled exceptions — DRY and consistent.</a:t>
            </a:r>
          </a:p>
          <a:p>
            <a:r>
              <a:rPr lang="en-US" b="1" dirty="0">
                <a:solidFill>
                  <a:srgbClr val="00D9FF"/>
                </a:solidFill>
              </a:rPr>
              <a:t>Middleware</a:t>
            </a:r>
            <a:r>
              <a:rPr lang="en-US" dirty="0"/>
              <a:t>: Custom ExceptionHandlingMiddleware wraps the pipeline.</a:t>
            </a:r>
          </a:p>
          <a:p>
            <a:r>
              <a:rPr lang="en-US" b="1" dirty="0">
                <a:solidFill>
                  <a:srgbClr val="00D9FF"/>
                </a:solidFill>
              </a:rPr>
              <a:t>UseExceptionHandler</a:t>
            </a:r>
            <a:r>
              <a:rPr lang="en-US" dirty="0"/>
              <a:t>: Built-in; redirects errors to a handler endpoint.</a:t>
            </a:r>
          </a:p>
          <a:p>
            <a:r>
              <a:rPr lang="en-US" b="1" dirty="0">
                <a:solidFill>
                  <a:srgbClr val="00D9FF"/>
                </a:solidFill>
              </a:rPr>
              <a:t>.NET 8+</a:t>
            </a:r>
            <a:r>
              <a:rPr lang="en-US" dirty="0"/>
              <a:t>: IExceptionHandler interface — cleaner DI-friendly pattern.</a:t>
            </a:r>
          </a:p>
          <a:p>
            <a:r>
              <a:rPr lang="en-US" b="1" dirty="0">
                <a:solidFill>
                  <a:srgbClr val="39FF14"/>
                </a:solidFill>
              </a:rPr>
              <a:t>Output</a:t>
            </a:r>
            <a:r>
              <a:rPr lang="en-US" dirty="0"/>
              <a:t>: Map domain exceptions → HTTP status (404, 409, 422, 500).</a:t>
            </a:r>
          </a:p>
        </p:txBody>
      </p:sp>
    </p:spTree>
    <p:extLst>
      <p:ext uri="{BB962C8B-B14F-4D97-AF65-F5344CB8AC3E}">
        <p14:creationId xmlns:p14="http://schemas.microsoft.com/office/powerpoint/2010/main" val="28946339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457200" y="152400"/>
            <a:ext cx="8229600" cy="457200"/>
          </a:xfrm>
          <a:prstGeom prst="roundRect">
            <a:avLst>
              <a:gd name="adj" fmla="val 8000"/>
            </a:avLst>
          </a:prstGeom>
          <a:solidFill>
            <a:srgbClr val="0A0E1A"/>
          </a:solidFill>
          <a:ln w="19050">
            <a:solidFill>
              <a:srgbClr val="0A0E1A"/>
            </a:solidFill>
          </a:ln>
        </p:spPr>
        <p:txBody>
          <a:bodyPr lIns="91440" tIns="45720" rIns="91440" bIns="45720"/>
          <a:lstStyle/>
          <a:p>
            <a:pPr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⚠️ Exception Handling Architecture</a:t>
            </a:r>
          </a:p>
        </p:txBody>
      </p:sp>
      <p:sp>
        <p:nvSpPr>
          <p:cNvPr id="10" name="Root"/>
          <p:cNvSpPr>
            <a:spLocks noGrp="1"/>
          </p:cNvSpPr>
          <p:nvPr/>
        </p:nvSpPr>
        <p:spPr>
          <a:xfrm>
            <a:off x="3352800" y="762000"/>
            <a:ext cx="2438400" cy="53340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 w="19050">
            <a:solidFill>
              <a:srgbClr val="00D4FF"/>
            </a:solidFill>
          </a:ln>
        </p:spPr>
        <p:txBody>
          <a:bodyPr lIns="91440" tIns="45720" rIns="91440" bIns="45720"/>
          <a:lstStyle/>
          <a:p>
            <a:pPr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IExceptionHandler
(Global Middleware)</a:t>
            </a:r>
          </a:p>
        </p:txBody>
      </p:sp>
      <p:sp>
        <p:nvSpPr>
          <p:cNvPr id="11" name="App"/>
          <p:cNvSpPr>
            <a:spLocks noGrp="1"/>
          </p:cNvSpPr>
          <p:nvPr/>
        </p:nvSpPr>
        <p:spPr>
          <a:xfrm>
            <a:off x="457200" y="1676400"/>
            <a:ext cx="1981200" cy="5334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9050">
            <a:solidFill>
              <a:srgbClr val="F59E0B"/>
            </a:solidFill>
          </a:ln>
        </p:spPr>
        <p:txBody>
          <a:bodyPr lIns="91440" tIns="45720" rIns="91440" bIns="45720"/>
          <a:lstStyle/>
          <a:p>
            <a:pPr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AppException
(base custom)</a:t>
            </a:r>
          </a:p>
        </p:txBody>
      </p:sp>
      <p:sp>
        <p:nvSpPr>
          <p:cNvPr id="12" name="DB"/>
          <p:cNvSpPr>
            <a:spLocks noGrp="1"/>
          </p:cNvSpPr>
          <p:nvPr/>
        </p:nvSpPr>
        <p:spPr>
          <a:xfrm>
            <a:off x="2743200" y="1676400"/>
            <a:ext cx="1828800" cy="5334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9050">
            <a:solidFill>
              <a:srgbClr val="EF4444"/>
            </a:solidFill>
          </a:ln>
        </p:spPr>
        <p:txBody>
          <a:bodyPr lIns="91440" tIns="45720" rIns="91440" bIns="45720"/>
          <a:lstStyle/>
          <a:p>
            <a:pPr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DbException
(EF Core errors)</a:t>
            </a:r>
          </a:p>
        </p:txBody>
      </p:sp>
      <p:sp>
        <p:nvSpPr>
          <p:cNvPr id="13" name="Val"/>
          <p:cNvSpPr>
            <a:spLocks noGrp="1"/>
          </p:cNvSpPr>
          <p:nvPr/>
        </p:nvSpPr>
        <p:spPr>
          <a:xfrm>
            <a:off x="4724400" y="1676400"/>
            <a:ext cx="1828800" cy="5334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9050">
            <a:solidFill>
              <a:srgbClr val="10B981"/>
            </a:solidFill>
          </a:ln>
        </p:spPr>
        <p:txBody>
          <a:bodyPr lIns="91440" tIns="45720" rIns="91440" bIns="45720"/>
          <a:lstStyle/>
          <a:p>
            <a:pPr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ValidationException
(FluentValidation)</a:t>
            </a:r>
          </a:p>
        </p:txBody>
      </p:sp>
      <p:sp>
        <p:nvSpPr>
          <p:cNvPr id="14" name="Unhandled"/>
          <p:cNvSpPr>
            <a:spLocks noGrp="1"/>
          </p:cNvSpPr>
          <p:nvPr/>
        </p:nvSpPr>
        <p:spPr>
          <a:xfrm>
            <a:off x="6705600" y="1676400"/>
            <a:ext cx="1676400" cy="5334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9050">
            <a:solidFill>
              <a:srgbClr val="7C3AED"/>
            </a:solidFill>
          </a:ln>
        </p:spPr>
        <p:txBody>
          <a:bodyPr lIns="91440" tIns="45720" rIns="91440" bIns="45720"/>
          <a:lstStyle/>
          <a:p>
            <a:pPr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Unhandled
Exception</a:t>
            </a:r>
          </a:p>
        </p:txBody>
      </p:sp>
      <p:sp>
        <p:nvSpPr>
          <p:cNvPr id="20" name="NotFound"/>
          <p:cNvSpPr>
            <a:spLocks noGrp="1"/>
          </p:cNvSpPr>
          <p:nvPr/>
        </p:nvSpPr>
        <p:spPr>
          <a:xfrm>
            <a:off x="228600" y="2590800"/>
            <a:ext cx="1371600" cy="457200"/>
          </a:xfrm>
          <a:prstGeom prst="roundRect">
            <a:avLst>
              <a:gd name="adj" fmla="val 8000"/>
            </a:avLst>
          </a:prstGeom>
          <a:solidFill>
            <a:srgbClr val="150A0A"/>
          </a:solidFill>
          <a:ln w="19050">
            <a:solidFill>
              <a:srgbClr val="F59E0B"/>
            </a:solidFill>
          </a:ln>
        </p:spPr>
        <p:txBody>
          <a:bodyPr lIns="91440" tIns="45720" rIns="91440" bIns="45720"/>
          <a:lstStyle/>
          <a:p>
            <a:pPr algn="ctr">
              <a:buNone/>
            </a:pPr>
            <a:r>
              <a:rPr lang="en-US" sz="1000" b="0" dirty="0">
                <a:solidFill>
                  <a:srgbClr val="FFFFFF"/>
                </a:solidFill>
              </a:rPr>
              <a:t>NotFoundException
404</a:t>
            </a:r>
          </a:p>
        </p:txBody>
      </p:sp>
      <p:sp>
        <p:nvSpPr>
          <p:cNvPr id="21" name="Forbidden"/>
          <p:cNvSpPr>
            <a:spLocks noGrp="1"/>
          </p:cNvSpPr>
          <p:nvPr/>
        </p:nvSpPr>
        <p:spPr>
          <a:xfrm>
            <a:off x="1714800" y="2590800"/>
            <a:ext cx="1371600" cy="457200"/>
          </a:xfrm>
          <a:prstGeom prst="roundRect">
            <a:avLst>
              <a:gd name="adj" fmla="val 8000"/>
            </a:avLst>
          </a:prstGeom>
          <a:solidFill>
            <a:srgbClr val="150A0A"/>
          </a:solidFill>
          <a:ln w="19050">
            <a:solidFill>
              <a:srgbClr val="F59E0B"/>
            </a:solidFill>
          </a:ln>
        </p:spPr>
        <p:txBody>
          <a:bodyPr lIns="91440" tIns="45720" rIns="91440" bIns="45720"/>
          <a:lstStyle/>
          <a:p>
            <a:pPr algn="ctr">
              <a:buNone/>
            </a:pPr>
            <a:r>
              <a:rPr lang="en-US" sz="1000" b="0" dirty="0">
                <a:solidFill>
                  <a:srgbClr val="FFFFFF"/>
                </a:solidFill>
              </a:rPr>
              <a:t>ForbiddenException
403</a:t>
            </a:r>
          </a:p>
        </p:txBody>
      </p:sp>
      <p:sp>
        <p:nvSpPr>
          <p:cNvPr id="50" name="Line50"/>
          <p:cNvSpPr>
            <a:spLocks noGrp="1"/>
          </p:cNvSpPr>
          <p:nvPr/>
        </p:nvSpPr>
        <p:spPr>
          <a:xfrm>
            <a:off x="4571400" y="1295400"/>
            <a:ext cx="30000" cy="762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1" name="Line51"/>
          <p:cNvSpPr>
            <a:spLocks noGrp="1"/>
          </p:cNvSpPr>
          <p:nvPr/>
        </p:nvSpPr>
        <p:spPr>
          <a:xfrm>
            <a:off x="1447800" y="1371600"/>
            <a:ext cx="6096000" cy="300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2" name="Line52"/>
          <p:cNvSpPr>
            <a:spLocks noGrp="1"/>
          </p:cNvSpPr>
          <p:nvPr/>
        </p:nvSpPr>
        <p:spPr>
          <a:xfrm>
            <a:off x="1447800" y="1371600"/>
            <a:ext cx="30000" cy="304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3" name="Line53"/>
          <p:cNvSpPr>
            <a:spLocks noGrp="1"/>
          </p:cNvSpPr>
          <p:nvPr/>
        </p:nvSpPr>
        <p:spPr>
          <a:xfrm>
            <a:off x="3657600" y="1371600"/>
            <a:ext cx="30000" cy="3048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4" name="Line54"/>
          <p:cNvSpPr>
            <a:spLocks noGrp="1"/>
          </p:cNvSpPr>
          <p:nvPr/>
        </p:nvSpPr>
        <p:spPr>
          <a:xfrm>
            <a:off x="5638800" y="1371600"/>
            <a:ext cx="30000" cy="304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5" name="Line55"/>
          <p:cNvSpPr>
            <a:spLocks noGrp="1"/>
          </p:cNvSpPr>
          <p:nvPr/>
        </p:nvSpPr>
        <p:spPr>
          <a:xfrm>
            <a:off x="7543800" y="1371600"/>
            <a:ext cx="30000" cy="304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6" name="Line56"/>
          <p:cNvSpPr>
            <a:spLocks noGrp="1"/>
          </p:cNvSpPr>
          <p:nvPr/>
        </p:nvSpPr>
        <p:spPr>
          <a:xfrm>
            <a:off x="1447800" y="2209800"/>
            <a:ext cx="30000" cy="267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7" name="Line57"/>
          <p:cNvSpPr>
            <a:spLocks noGrp="1"/>
          </p:cNvSpPr>
          <p:nvPr/>
        </p:nvSpPr>
        <p:spPr>
          <a:xfrm>
            <a:off x="914400" y="2476800"/>
            <a:ext cx="1600200" cy="30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8" name="Line58"/>
          <p:cNvSpPr>
            <a:spLocks noGrp="1"/>
          </p:cNvSpPr>
          <p:nvPr/>
        </p:nvSpPr>
        <p:spPr>
          <a:xfrm>
            <a:off x="914400" y="2476800"/>
            <a:ext cx="30000" cy="114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9" name="Line59"/>
          <p:cNvSpPr>
            <a:spLocks noGrp="1"/>
          </p:cNvSpPr>
          <p:nvPr/>
        </p:nvSpPr>
        <p:spPr>
          <a:xfrm>
            <a:off x="2400600" y="2476800"/>
            <a:ext cx="30000" cy="114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" name="Responses"/>
          <p:cNvSpPr>
            <a:spLocks noGrp="1"/>
          </p:cNvSpPr>
          <p:nvPr/>
        </p:nvSpPr>
        <p:spPr>
          <a:xfrm>
            <a:off x="457200" y="3276000"/>
            <a:ext cx="8229600" cy="304800"/>
          </a:xfrm>
          <a:prstGeom prst="roundRect">
            <a:avLst>
              <a:gd name="adj" fmla="val 8000"/>
            </a:avLst>
          </a:prstGeom>
          <a:solidFill>
            <a:srgbClr val="1E1A0F"/>
          </a:solidFill>
          <a:ln w="19050">
            <a:solidFill>
              <a:srgbClr val="F59E0B"/>
            </a:solidFill>
          </a:ln>
        </p:spPr>
        <p:txBody>
          <a:bodyPr lIns="91440" tIns="45720" rIns="91440" bIns="45720"/>
          <a:lstStyle/>
          <a:p>
            <a:pPr algn="ctr">
              <a:buNone/>
            </a:pPr>
            <a:r>
              <a:rPr lang="en-US" sz="1050" b="0" dirty="0">
                <a:solidFill>
                  <a:srgbClr val="FFFFFF"/>
                </a:solidFill>
              </a:rPr>
              <a:t>HTTP Mapping:  NotFoundException→404  ·  ForbiddenException→403  ·  ValidationException→422  ·  DbException→500  ·  Unhandled→500 + ProblemDetails</a:t>
            </a:r>
          </a:p>
        </p:txBody>
      </p:sp>
      <p:sp>
        <p:nvSpPr>
          <p:cNvPr id="61" name="Pattern"/>
          <p:cNvSpPr>
            <a:spLocks noGrp="1"/>
          </p:cNvSpPr>
          <p:nvPr/>
        </p:nvSpPr>
        <p:spPr>
          <a:xfrm>
            <a:off x="457200" y="3657600"/>
            <a:ext cx="8229600" cy="3800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9050">
            <a:solidFill>
              <a:srgbClr val="7C3AED"/>
            </a:solidFill>
          </a:ln>
        </p:spPr>
        <p:txBody>
          <a:bodyPr lIns="91440" tIns="45720" rIns="91440" bIns="45720"/>
          <a:lstStyle/>
          <a:p>
            <a:pPr algn="ctr">
              <a:buNone/>
            </a:pPr>
            <a:r>
              <a:rPr lang="en-US" sz="1100" b="0" dirty="0">
                <a:solidFill>
                  <a:srgbClr val="FFFFFF"/>
                </a:solidFill>
              </a:rPr>
              <a:t>Pattern: services.AddExceptionHandler&lt;GlobalExceptionHandler&gt;()  +  app.UseExceptionHandler()  →  one place, all exceptions</a:t>
            </a:r>
          </a:p>
        </p:txBody>
      </p:sp>
    </p:spTree>
    <p:extLst>
      <p:ext uri="{BB962C8B-B14F-4D97-AF65-F5344CB8AC3E}">
        <p14:creationId xmlns:p14="http://schemas.microsoft.com/office/powerpoint/2010/main" val="21093336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Tracing in Web API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00D9FF"/>
                </a:solidFill>
              </a:rPr>
              <a:t>ILogger&lt;T&gt;</a:t>
            </a:r>
            <a:r>
              <a:rPr lang="en-US" dirty="0"/>
              <a:t>: Inject into controllers; structured logs with placeholders.</a:t>
            </a:r>
          </a:p>
          <a:p>
            <a:r>
              <a:rPr lang="en-US" b="1" dirty="0">
                <a:solidFill>
                  <a:srgbClr val="00D9FF"/>
                </a:solidFill>
              </a:rPr>
              <a:t>Log levels</a:t>
            </a:r>
            <a:r>
              <a:rPr lang="en-US" dirty="0"/>
              <a:t>: Trace • Debug • Information • Warning • Error • Critical</a:t>
            </a:r>
          </a:p>
          <a:p>
            <a:r>
              <a:rPr lang="en-US" b="1" dirty="0">
                <a:solidFill>
                  <a:srgbClr val="00D9FF"/>
                </a:solidFill>
              </a:rPr>
              <a:t>Providers</a:t>
            </a:r>
            <a:r>
              <a:rPr lang="en-US" dirty="0"/>
              <a:t>: Serilog, NLog, Application Insights, Seq, OpenTelemetry.</a:t>
            </a:r>
          </a:p>
          <a:p>
            <a:r>
              <a:rPr lang="en-US" b="1" dirty="0">
                <a:solidFill>
                  <a:srgbClr val="00D9FF"/>
                </a:solidFill>
              </a:rPr>
              <a:t>Correlation IDs</a:t>
            </a:r>
            <a:r>
              <a:rPr lang="en-US" dirty="0"/>
              <a:t>: Trace a request across services with W3C TraceContext.</a:t>
            </a:r>
          </a:p>
          <a:p>
            <a:r>
              <a:rPr lang="en-US" b="1" dirty="0">
                <a:solidFill>
                  <a:srgbClr val="FF79C6"/>
                </a:solidFill>
              </a:rPr>
              <a:t>Don’t log</a:t>
            </a:r>
            <a:r>
              <a:rPr lang="en-US" dirty="0"/>
              <a:t>: passwords, tokens, PII, full credit card numbers.</a:t>
            </a:r>
          </a:p>
        </p:txBody>
      </p:sp>
    </p:spTree>
    <p:extLst>
      <p:ext uri="{BB962C8B-B14F-4D97-AF65-F5344CB8AC3E}">
        <p14:creationId xmlns:p14="http://schemas.microsoft.com/office/powerpoint/2010/main" val="30315937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25F5F7-01E7-AD4F-25FA-56C7329630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Lab 4: Errors + Logging</a:t>
            </a:r>
          </a:p>
        </p:txBody>
      </p:sp>
      <p:sp>
        <p:nvSpPr>
          <p:cNvPr id="2000" name="Pill"/>
          <p:cNvSpPr/>
          <p:nvPr/>
        </p:nvSpPr>
        <p:spPr>
          <a:xfrm>
            <a:off x="7112000" y="635000"/>
            <a:ext cx="1143000" cy="355600"/>
          </a:xfrm>
          <a:prstGeom prst="roundRect">
            <a:avLst>
              <a:gd name="adj" fmla="val 50000"/>
            </a:avLst>
          </a:prstGeom>
          <a:solidFill>
            <a:srgbClr val="FF79C6"/>
          </a:solidFill>
          <a:ln>
            <a:noFill/>
          </a:ln>
        </p:spPr>
        <p:txBody>
          <a:bodyPr lIns="0" tIns="0" rIns="0" bIns="0" anchor="ctr" anchorCtr="1"/>
          <a:lstStyle/>
          <a:p>
            <a:pPr algn="ctr">
              <a:buNone/>
            </a:pPr>
            <a:r>
              <a:rPr lang="en-US" sz="1200" b="1" dirty="0">
                <a:solidFill>
                  <a:srgbClr val="0D1117"/>
                </a:solidFill>
              </a:rPr>
              <a:t>LAB</a:t>
            </a:r>
          </a:p>
        </p:txBody>
      </p:sp>
      <p:sp>
        <p:nvSpPr>
          <p:cNvPr id="2001" name="Pill"/>
          <p:cNvSpPr/>
          <p:nvPr/>
        </p:nvSpPr>
        <p:spPr>
          <a:xfrm>
            <a:off x="7112000" y="1041400"/>
            <a:ext cx="1143000" cy="279400"/>
          </a:xfrm>
          <a:prstGeom prst="roundRect">
            <a:avLst>
              <a:gd name="adj" fmla="val 50000"/>
            </a:avLst>
          </a:prstGeom>
          <a:solidFill>
            <a:srgbClr val="161B22"/>
          </a:solidFill>
          <a:ln>
            <a:noFill/>
          </a:ln>
        </p:spPr>
        <p:txBody>
          <a:bodyPr lIns="0" tIns="0" rIns="0" bIns="0" anchor="ctr" anchorCtr="1"/>
          <a:lstStyle/>
          <a:p>
            <a:pPr algn="ctr">
              <a:buNone/>
            </a:pPr>
            <a:r>
              <a:rPr lang="en-US" sz="900" b="1" dirty="0">
                <a:solidFill>
                  <a:srgbClr val="FFB86C"/>
                </a:solidFill>
              </a:rPr>
              <a:t>25 min</a:t>
            </a:r>
          </a:p>
        </p:txBody>
      </p:sp>
      <p:sp>
        <p:nvSpPr>
          <p:cNvPr id="2002" name="Card"/>
          <p:cNvSpPr/>
          <p:nvPr/>
        </p:nvSpPr>
        <p:spPr>
          <a:xfrm>
            <a:off x="508000" y="2222500"/>
            <a:ext cx="3937000" cy="2857500"/>
          </a:xfrm>
          <a:prstGeom prst="roundRect">
            <a:avLst>
              <a:gd name="adj" fmla="val 20000"/>
            </a:avLst>
          </a:prstGeom>
          <a:solidFill>
            <a:srgbClr val="161B22"/>
          </a:solidFill>
          <a:ln w="12700">
            <a:solidFill>
              <a:srgbClr val="39FF1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03" name="Text"/>
          <p:cNvSpPr txBox="1"/>
          <p:nvPr/>
        </p:nvSpPr>
        <p:spPr>
          <a:xfrm>
            <a:off x="508000" y="2222500"/>
            <a:ext cx="3937000" cy="508000"/>
          </a:xfrm>
          <a:prstGeom prst="rect">
            <a:avLst/>
          </a:prstGeom>
          <a:noFill/>
        </p:spPr>
        <p:txBody>
          <a:bodyPr wrap="square" lIns="72000" tIns="54000" rIns="72000" bIns="5400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9FF14"/>
                </a:solidFill>
              </a:rPr>
              <a:t>🎯  GOAL</a:t>
            </a:r>
          </a:p>
        </p:txBody>
      </p:sp>
      <p:sp>
        <p:nvSpPr>
          <p:cNvPr id="2004" name="Text"/>
          <p:cNvSpPr txBox="1"/>
          <p:nvPr/>
        </p:nvSpPr>
        <p:spPr>
          <a:xfrm>
            <a:off x="508000" y="2667000"/>
            <a:ext cx="3937000" cy="2413000"/>
          </a:xfrm>
          <a:prstGeom prst="rect">
            <a:avLst/>
          </a:prstGeom>
          <a:noFill/>
        </p:spPr>
        <p:txBody>
          <a:bodyPr wrap="square" lIns="72000" tIns="54000" rIns="72000" bIns="54000" anchor="t"/>
          <a:lstStyle/>
          <a:p>
            <a:pPr marL="0" indent="0" algn="l">
              <a:buNone/>
            </a:pPr>
            <a:r>
              <a:rPr lang="en-US" sz="1100" b="0" dirty="0">
                <a:solidFill>
                  <a:srgbClr val="E6EDF3"/>
                </a:solidFill>
              </a:rPr>
              <a:t>Add ILogger trace points and replace per-controller try/catch with global middleware.</a:t>
            </a:r>
          </a:p>
          <a:p>
            <a:pPr marL="0" indent="0" algn="l">
              <a:buNone/>
            </a:pPr>
            <a:r>
              <a:rPr lang="en-US" sz="1100" b="0" dirty="0">
                <a:solidFill>
                  <a:srgbClr val="E6EDF3"/>
                </a:solidFill>
              </a:rPr>
              <a:t> </a:t>
            </a:r>
          </a:p>
          <a:p>
            <a:pPr marL="0" indent="0" algn="l">
              <a:buNone/>
            </a:pPr>
            <a:r>
              <a:rPr lang="en-US" sz="1100" b="0" dirty="0">
                <a:solidFill>
                  <a:srgbClr val="C9D1D9"/>
                </a:solidFill>
              </a:rPr>
              <a:t>Verify:</a:t>
            </a:r>
          </a:p>
          <a:p>
            <a:pPr marL="0" indent="0" algn="l">
              <a:buNone/>
            </a:pPr>
            <a:r>
              <a:rPr lang="en-US" sz="1100" b="0" dirty="0">
                <a:solidFill>
                  <a:srgbClr val="E6EDF3"/>
                </a:solidFill>
              </a:rPr>
              <a:t>• Errors return a clean ProblemDetails JSON</a:t>
            </a:r>
          </a:p>
          <a:p>
            <a:pPr marL="0" indent="0" algn="l">
              <a:buNone/>
            </a:pPr>
            <a:r>
              <a:rPr lang="en-US" sz="1100" b="0" dirty="0">
                <a:solidFill>
                  <a:srgbClr val="E6EDF3"/>
                </a:solidFill>
              </a:rPr>
              <a:t>• Stack traces only appear in Development</a:t>
            </a:r>
          </a:p>
          <a:p>
            <a:pPr marL="0" indent="0" algn="l">
              <a:buNone/>
            </a:pPr>
            <a:r>
              <a:rPr lang="en-US" sz="1100" b="0" dirty="0">
                <a:solidFill>
                  <a:srgbClr val="E6EDF3"/>
                </a:solidFill>
              </a:rPr>
              <a:t>• Logs include correlation ID per request</a:t>
            </a:r>
          </a:p>
        </p:txBody>
      </p:sp>
      <p:sp>
        <p:nvSpPr>
          <p:cNvPr id="2005" name="Card"/>
          <p:cNvSpPr/>
          <p:nvPr/>
        </p:nvSpPr>
        <p:spPr>
          <a:xfrm>
            <a:off x="4699000" y="2222500"/>
            <a:ext cx="3937000" cy="2857500"/>
          </a:xfrm>
          <a:prstGeom prst="roundRect">
            <a:avLst>
              <a:gd name="adj" fmla="val 20000"/>
            </a:avLst>
          </a:prstGeom>
          <a:solidFill>
            <a:srgbClr val="161B22"/>
          </a:solidFill>
          <a:ln w="12700">
            <a:solidFill>
              <a:srgbClr val="00D9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06" name="Text"/>
          <p:cNvSpPr txBox="1"/>
          <p:nvPr/>
        </p:nvSpPr>
        <p:spPr>
          <a:xfrm>
            <a:off x="4699000" y="2222500"/>
            <a:ext cx="3937000" cy="508000"/>
          </a:xfrm>
          <a:prstGeom prst="rect">
            <a:avLst/>
          </a:prstGeom>
          <a:noFill/>
        </p:spPr>
        <p:txBody>
          <a:bodyPr wrap="square" lIns="72000" tIns="54000" rIns="72000" bIns="5400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D9FF"/>
                </a:solidFill>
              </a:rPr>
              <a:t>🛠  STEPS</a:t>
            </a:r>
          </a:p>
        </p:txBody>
      </p:sp>
      <p:sp>
        <p:nvSpPr>
          <p:cNvPr id="2007" name="Text"/>
          <p:cNvSpPr txBox="1"/>
          <p:nvPr/>
        </p:nvSpPr>
        <p:spPr>
          <a:xfrm>
            <a:off x="4699000" y="2667000"/>
            <a:ext cx="3937000" cy="2413000"/>
          </a:xfrm>
          <a:prstGeom prst="rect">
            <a:avLst/>
          </a:prstGeom>
          <a:noFill/>
        </p:spPr>
        <p:txBody>
          <a:bodyPr wrap="square" lIns="72000" tIns="54000" rIns="72000" bIns="54000" anchor="t"/>
          <a:lstStyle/>
          <a:p>
            <a:pPr marL="0" indent="0" algn="l">
              <a:buNone/>
            </a:pPr>
            <a:r>
              <a:rPr lang="en-US" sz="1100" b="0" dirty="0">
                <a:solidFill>
                  <a:srgbClr val="E6EDF3"/>
                </a:solidFill>
              </a:rPr>
              <a:t>1.  Inject ILogger&lt;MyController&gt; _log.</a:t>
            </a:r>
          </a:p>
          <a:p>
            <a:pPr marL="0" indent="0" algn="l">
              <a:buNone/>
            </a:pPr>
            <a:r>
              <a:rPr lang="en-US" sz="1100" b="0" dirty="0">
                <a:solidFill>
                  <a:srgbClr val="E6EDF3"/>
                </a:solidFill>
              </a:rPr>
              <a:t>2.  Log on entry, success, and failure.</a:t>
            </a:r>
          </a:p>
          <a:p>
            <a:pPr marL="0" indent="0" algn="l">
              <a:buNone/>
            </a:pPr>
            <a:r>
              <a:rPr lang="en-US" sz="1100" b="0" dirty="0">
                <a:solidFill>
                  <a:srgbClr val="E6EDF3"/>
                </a:solidFill>
              </a:rPr>
              <a:t>3.  Write ExceptionMiddleware class.</a:t>
            </a:r>
          </a:p>
          <a:p>
            <a:pPr marL="0" indent="0" algn="l">
              <a:buNone/>
            </a:pPr>
            <a:r>
              <a:rPr lang="en-US" sz="1100" b="0" dirty="0">
                <a:solidFill>
                  <a:srgbClr val="E6EDF3"/>
                </a:solidFill>
              </a:rPr>
              <a:t>4.  Register: app.UseMiddleware&lt;ExceptionMiddleware&gt;().</a:t>
            </a:r>
          </a:p>
          <a:p>
            <a:pPr marL="0" indent="0" algn="l">
              <a:buNone/>
            </a:pPr>
            <a:r>
              <a:rPr lang="en-US" sz="1100" b="0" dirty="0">
                <a:solidFill>
                  <a:srgbClr val="E6EDF3"/>
                </a:solidFill>
              </a:rPr>
              <a:t>5.  Throw a test exception → observe JSON output.</a:t>
            </a:r>
          </a:p>
          <a:p>
            <a:pPr marL="0" indent="0" algn="l">
              <a:buNone/>
            </a:pPr>
            <a:r>
              <a:rPr lang="en-US" sz="1100" b="0" dirty="0">
                <a:solidFill>
                  <a:srgbClr val="E6EDF3"/>
                </a:solidFill>
              </a:rPr>
              <a:t>6.  Add Serilog sink to file (bonus).</a:t>
            </a:r>
          </a:p>
        </p:txBody>
      </p:sp>
      <p:sp>
        <p:nvSpPr>
          <p:cNvPr id="2008" name="Card"/>
          <p:cNvSpPr/>
          <p:nvPr/>
        </p:nvSpPr>
        <p:spPr>
          <a:xfrm>
            <a:off x="508000" y="5270500"/>
            <a:ext cx="8128000" cy="1016000"/>
          </a:xfrm>
          <a:prstGeom prst="roundRect">
            <a:avLst>
              <a:gd name="adj" fmla="val 20000"/>
            </a:avLst>
          </a:prstGeom>
          <a:solidFill>
            <a:srgbClr val="161B22"/>
          </a:solidFill>
          <a:ln w="12700">
            <a:solidFill>
              <a:srgbClr val="BD93F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09" name="Text"/>
          <p:cNvSpPr txBox="1"/>
          <p:nvPr/>
        </p:nvSpPr>
        <p:spPr>
          <a:xfrm>
            <a:off x="508000" y="5270500"/>
            <a:ext cx="8128000" cy="1016000"/>
          </a:xfrm>
          <a:prstGeom prst="rect">
            <a:avLst/>
          </a:prstGeom>
          <a:noFill/>
        </p:spPr>
        <p:txBody>
          <a:bodyPr wrap="square" lIns="72000" tIns="54000" rIns="72000" bIns="5400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BD93F9"/>
                </a:solidFill>
              </a:rPr>
              <a:t>✅  CHECKPOINT</a:t>
            </a:r>
          </a:p>
          <a:p>
            <a:pPr marL="0" indent="0" algn="l">
              <a:buNone/>
            </a:pPr>
            <a:r>
              <a:rPr lang="en-US" sz="1000" b="0" dirty="0">
                <a:solidFill>
                  <a:srgbClr val="C9D1D9"/>
                </a:solidFill>
              </a:rPr>
              <a:t>All controllers are try/catch-free. Unhandled exceptions return 500 with ProblemDetails and are logged with TraceId.</a:t>
            </a:r>
          </a:p>
        </p:txBody>
      </p:sp>
    </p:spTree>
    <p:extLst>
      <p:ext uri="{BB962C8B-B14F-4D97-AF65-F5344CB8AC3E}">
        <p14:creationId xmlns:p14="http://schemas.microsoft.com/office/powerpoint/2010/main" val="24306526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762337-9C54-F2E1-F8F9-732DF8510C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ASP.NET Core Middleware Pipeline</a:t>
            </a:r>
          </a:p>
        </p:txBody>
      </p:sp>
      <p:sp>
        <p:nvSpPr>
          <p:cNvPr id="1000" name="Mw1000"/>
          <p:cNvSpPr/>
          <p:nvPr/>
        </p:nvSpPr>
        <p:spPr>
          <a:xfrm>
            <a:off x="444500" y="2667000"/>
            <a:ext cx="1206500" cy="635000"/>
          </a:xfrm>
          <a:prstGeom prst="chevron">
            <a:avLst>
              <a:gd name="adj" fmla="val 50000"/>
            </a:avLst>
          </a:prstGeom>
          <a:solidFill>
            <a:srgbClr val="FF79C6"/>
          </a:solidFill>
          <a:ln>
            <a:noFill/>
          </a:ln>
        </p:spPr>
        <p:txBody>
          <a:bodyPr lIns="18000" tIns="18000" rIns="36000" bIns="18000" anchor="ctr" anchorCtr="1"/>
          <a:lstStyle/>
          <a:p>
            <a:pPr algn="ctr">
              <a:buNone/>
            </a:pPr>
            <a:r>
              <a:rPr lang="en-US" sz="900" b="1" dirty="0">
                <a:solidFill>
                  <a:srgbClr val="0D1117"/>
                </a:solidFill>
              </a:rPr>
              <a:t>Exception</a:t>
            </a:r>
          </a:p>
        </p:txBody>
      </p:sp>
      <p:sp>
        <p:nvSpPr>
          <p:cNvPr id="1001" name="Mw1001"/>
          <p:cNvSpPr/>
          <p:nvPr/>
        </p:nvSpPr>
        <p:spPr>
          <a:xfrm>
            <a:off x="1778000" y="2667000"/>
            <a:ext cx="1206500" cy="635000"/>
          </a:xfrm>
          <a:prstGeom prst="chevron">
            <a:avLst>
              <a:gd name="adj" fmla="val 50000"/>
            </a:avLst>
          </a:prstGeom>
          <a:solidFill>
            <a:srgbClr val="FFB86C"/>
          </a:solidFill>
          <a:ln>
            <a:noFill/>
          </a:ln>
        </p:spPr>
        <p:txBody>
          <a:bodyPr lIns="18000" tIns="18000" rIns="36000" bIns="18000" anchor="ctr" anchorCtr="1"/>
          <a:lstStyle/>
          <a:p>
            <a:pPr algn="ctr">
              <a:buNone/>
            </a:pPr>
            <a:r>
              <a:rPr lang="en-US" sz="900" b="1" dirty="0">
                <a:solidFill>
                  <a:srgbClr val="0D1117"/>
                </a:solidFill>
              </a:rPr>
              <a:t>HTTPS</a:t>
            </a:r>
          </a:p>
        </p:txBody>
      </p:sp>
      <p:sp>
        <p:nvSpPr>
          <p:cNvPr id="1002" name="Mw1002"/>
          <p:cNvSpPr/>
          <p:nvPr/>
        </p:nvSpPr>
        <p:spPr>
          <a:xfrm>
            <a:off x="3111500" y="2667000"/>
            <a:ext cx="1206500" cy="635000"/>
          </a:xfrm>
          <a:prstGeom prst="chevron">
            <a:avLst>
              <a:gd name="adj" fmla="val 50000"/>
            </a:avLst>
          </a:prstGeom>
          <a:solidFill>
            <a:srgbClr val="00D9FF"/>
          </a:solidFill>
          <a:ln>
            <a:noFill/>
          </a:ln>
        </p:spPr>
        <p:txBody>
          <a:bodyPr lIns="18000" tIns="18000" rIns="36000" bIns="18000" anchor="ctr" anchorCtr="1"/>
          <a:lstStyle/>
          <a:p>
            <a:pPr algn="ctr">
              <a:buNone/>
            </a:pPr>
            <a:r>
              <a:rPr lang="en-US" sz="900" b="1" dirty="0">
                <a:solidFill>
                  <a:srgbClr val="0D1117"/>
                </a:solidFill>
              </a:rPr>
              <a:t>Routing</a:t>
            </a:r>
          </a:p>
        </p:txBody>
      </p:sp>
      <p:sp>
        <p:nvSpPr>
          <p:cNvPr id="1003" name="Mw1003"/>
          <p:cNvSpPr/>
          <p:nvPr/>
        </p:nvSpPr>
        <p:spPr>
          <a:xfrm>
            <a:off x="4445000" y="2667000"/>
            <a:ext cx="1206500" cy="635000"/>
          </a:xfrm>
          <a:prstGeom prst="chevron">
            <a:avLst>
              <a:gd name="adj" fmla="val 50000"/>
            </a:avLst>
          </a:prstGeom>
          <a:solidFill>
            <a:srgbClr val="BD93F9"/>
          </a:solidFill>
          <a:ln>
            <a:noFill/>
          </a:ln>
        </p:spPr>
        <p:txBody>
          <a:bodyPr lIns="18000" tIns="18000" rIns="36000" bIns="18000" anchor="ctr" anchorCtr="1"/>
          <a:lstStyle/>
          <a:p>
            <a:pPr algn="ctr">
              <a:buNone/>
            </a:pPr>
            <a:r>
              <a:rPr lang="en-US" sz="900" b="1" dirty="0">
                <a:solidFill>
                  <a:srgbClr val="0D1117"/>
                </a:solidFill>
              </a:rPr>
              <a:t>CORS</a:t>
            </a:r>
          </a:p>
        </p:txBody>
      </p:sp>
      <p:sp>
        <p:nvSpPr>
          <p:cNvPr id="1004" name="Mw1004"/>
          <p:cNvSpPr/>
          <p:nvPr/>
        </p:nvSpPr>
        <p:spPr>
          <a:xfrm>
            <a:off x="5778500" y="2667000"/>
            <a:ext cx="1206500" cy="635000"/>
          </a:xfrm>
          <a:prstGeom prst="chevron">
            <a:avLst>
              <a:gd name="adj" fmla="val 50000"/>
            </a:avLst>
          </a:prstGeom>
          <a:solidFill>
            <a:srgbClr val="39FF14"/>
          </a:solidFill>
          <a:ln>
            <a:noFill/>
          </a:ln>
        </p:spPr>
        <p:txBody>
          <a:bodyPr lIns="18000" tIns="18000" rIns="36000" bIns="18000" anchor="ctr" anchorCtr="1"/>
          <a:lstStyle/>
          <a:p>
            <a:pPr algn="ctr">
              <a:buNone/>
            </a:pPr>
            <a:r>
              <a:rPr lang="en-US" sz="900" b="1" dirty="0">
                <a:solidFill>
                  <a:srgbClr val="0D1117"/>
                </a:solidFill>
              </a:rPr>
              <a:t>AuthN</a:t>
            </a:r>
          </a:p>
        </p:txBody>
      </p:sp>
      <p:sp>
        <p:nvSpPr>
          <p:cNvPr id="1005" name="Mw1005"/>
          <p:cNvSpPr/>
          <p:nvPr/>
        </p:nvSpPr>
        <p:spPr>
          <a:xfrm>
            <a:off x="7112000" y="2667000"/>
            <a:ext cx="1206500" cy="635000"/>
          </a:xfrm>
          <a:prstGeom prst="chevron">
            <a:avLst>
              <a:gd name="adj" fmla="val 50000"/>
            </a:avLst>
          </a:prstGeom>
          <a:solidFill>
            <a:srgbClr val="F1FA8C"/>
          </a:solidFill>
          <a:ln>
            <a:noFill/>
          </a:ln>
        </p:spPr>
        <p:txBody>
          <a:bodyPr lIns="18000" tIns="18000" rIns="36000" bIns="18000" anchor="ctr" anchorCtr="1"/>
          <a:lstStyle/>
          <a:p>
            <a:pPr algn="ctr">
              <a:buNone/>
            </a:pPr>
            <a:r>
              <a:rPr lang="en-US" sz="900" b="1" dirty="0">
                <a:solidFill>
                  <a:srgbClr val="0D1117"/>
                </a:solidFill>
              </a:rPr>
              <a:t>AuthZ</a:t>
            </a:r>
          </a:p>
        </p:txBody>
      </p:sp>
      <p:sp>
        <p:nvSpPr>
          <p:cNvPr id="1006" name="B1006"/>
          <p:cNvSpPr/>
          <p:nvPr/>
        </p:nvSpPr>
        <p:spPr>
          <a:xfrm>
            <a:off x="444500" y="3619500"/>
            <a:ext cx="8255000" cy="698500"/>
          </a:xfrm>
          <a:prstGeom prst="roundRect">
            <a:avLst>
              <a:gd name="adj" fmla="val 20000"/>
            </a:avLst>
          </a:prstGeom>
          <a:solidFill>
            <a:srgbClr val="161B22"/>
          </a:solidFill>
          <a:ln w="12700">
            <a:solidFill>
              <a:srgbClr val="39FF1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07" name="T1007"/>
          <p:cNvSpPr txBox="1"/>
          <p:nvPr/>
        </p:nvSpPr>
        <p:spPr>
          <a:xfrm>
            <a:off x="444500" y="3619500"/>
            <a:ext cx="8255000" cy="698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300" b="1" dirty="0">
                <a:solidFill>
                  <a:srgbClr val="39FF14"/>
                </a:solidFill>
              </a:rPr>
              <a:t>ENDPOINT  →  Your Controller Action runs here</a:t>
            </a:r>
          </a:p>
        </p:txBody>
      </p:sp>
      <p:sp>
        <p:nvSpPr>
          <p:cNvPr id="1008" name="Mw1008"/>
          <p:cNvSpPr/>
          <p:nvPr/>
        </p:nvSpPr>
        <p:spPr>
          <a:xfrm flipH="1">
            <a:off x="444500" y="4572000"/>
            <a:ext cx="1206500" cy="635000"/>
          </a:xfrm>
          <a:prstGeom prst="chevron">
            <a:avLst>
              <a:gd name="adj" fmla="val 50000"/>
            </a:avLst>
          </a:prstGeom>
          <a:solidFill>
            <a:srgbClr val="F1FA8C"/>
          </a:solidFill>
          <a:ln>
            <a:noFill/>
          </a:ln>
        </p:spPr>
        <p:txBody>
          <a:bodyPr lIns="18000" tIns="18000" rIns="36000" bIns="18000" anchor="ctr" anchorCtr="1"/>
          <a:lstStyle/>
          <a:p>
            <a:pPr algn="ctr">
              <a:buNone/>
            </a:pPr>
            <a:r>
              <a:rPr lang="en-US" sz="900" b="1" dirty="0">
                <a:solidFill>
                  <a:srgbClr val="0D1117"/>
                </a:solidFill>
              </a:rPr>
              <a:t>AuthZ</a:t>
            </a:r>
          </a:p>
        </p:txBody>
      </p:sp>
      <p:sp>
        <p:nvSpPr>
          <p:cNvPr id="1009" name="Mw1009"/>
          <p:cNvSpPr/>
          <p:nvPr/>
        </p:nvSpPr>
        <p:spPr>
          <a:xfrm flipH="1">
            <a:off x="1778000" y="4572000"/>
            <a:ext cx="1206500" cy="635000"/>
          </a:xfrm>
          <a:prstGeom prst="chevron">
            <a:avLst>
              <a:gd name="adj" fmla="val 50000"/>
            </a:avLst>
          </a:prstGeom>
          <a:solidFill>
            <a:srgbClr val="39FF14"/>
          </a:solidFill>
          <a:ln>
            <a:noFill/>
          </a:ln>
        </p:spPr>
        <p:txBody>
          <a:bodyPr lIns="18000" tIns="18000" rIns="36000" bIns="18000" anchor="ctr" anchorCtr="1"/>
          <a:lstStyle/>
          <a:p>
            <a:pPr algn="ctr">
              <a:buNone/>
            </a:pPr>
            <a:r>
              <a:rPr lang="en-US" sz="900" b="1" dirty="0">
                <a:solidFill>
                  <a:srgbClr val="0D1117"/>
                </a:solidFill>
              </a:rPr>
              <a:t>AuthN</a:t>
            </a:r>
          </a:p>
        </p:txBody>
      </p:sp>
      <p:sp>
        <p:nvSpPr>
          <p:cNvPr id="1010" name="Mw1010"/>
          <p:cNvSpPr/>
          <p:nvPr/>
        </p:nvSpPr>
        <p:spPr>
          <a:xfrm flipH="1">
            <a:off x="3111500" y="4572000"/>
            <a:ext cx="1206500" cy="635000"/>
          </a:xfrm>
          <a:prstGeom prst="chevron">
            <a:avLst>
              <a:gd name="adj" fmla="val 50000"/>
            </a:avLst>
          </a:prstGeom>
          <a:solidFill>
            <a:srgbClr val="BD93F9"/>
          </a:solidFill>
          <a:ln>
            <a:noFill/>
          </a:ln>
        </p:spPr>
        <p:txBody>
          <a:bodyPr lIns="18000" tIns="18000" rIns="36000" bIns="18000" anchor="ctr" anchorCtr="1"/>
          <a:lstStyle/>
          <a:p>
            <a:pPr algn="ctr">
              <a:buNone/>
            </a:pPr>
            <a:r>
              <a:rPr lang="en-US" sz="900" b="1" dirty="0">
                <a:solidFill>
                  <a:srgbClr val="0D1117"/>
                </a:solidFill>
              </a:rPr>
              <a:t>CORS</a:t>
            </a:r>
          </a:p>
        </p:txBody>
      </p:sp>
      <p:sp>
        <p:nvSpPr>
          <p:cNvPr id="1011" name="Mw1011"/>
          <p:cNvSpPr/>
          <p:nvPr/>
        </p:nvSpPr>
        <p:spPr>
          <a:xfrm flipH="1">
            <a:off x="4445000" y="4572000"/>
            <a:ext cx="1206500" cy="635000"/>
          </a:xfrm>
          <a:prstGeom prst="chevron">
            <a:avLst>
              <a:gd name="adj" fmla="val 50000"/>
            </a:avLst>
          </a:prstGeom>
          <a:solidFill>
            <a:srgbClr val="00D9FF"/>
          </a:solidFill>
          <a:ln>
            <a:noFill/>
          </a:ln>
        </p:spPr>
        <p:txBody>
          <a:bodyPr lIns="18000" tIns="18000" rIns="36000" bIns="18000" anchor="ctr" anchorCtr="1"/>
          <a:lstStyle/>
          <a:p>
            <a:pPr algn="ctr">
              <a:buNone/>
            </a:pPr>
            <a:r>
              <a:rPr lang="en-US" sz="900" b="1" dirty="0">
                <a:solidFill>
                  <a:srgbClr val="0D1117"/>
                </a:solidFill>
              </a:rPr>
              <a:t>Routing</a:t>
            </a:r>
          </a:p>
        </p:txBody>
      </p:sp>
      <p:sp>
        <p:nvSpPr>
          <p:cNvPr id="1012" name="Mw1012"/>
          <p:cNvSpPr/>
          <p:nvPr/>
        </p:nvSpPr>
        <p:spPr>
          <a:xfrm flipH="1">
            <a:off x="5778500" y="4572000"/>
            <a:ext cx="1206500" cy="635000"/>
          </a:xfrm>
          <a:prstGeom prst="chevron">
            <a:avLst>
              <a:gd name="adj" fmla="val 50000"/>
            </a:avLst>
          </a:prstGeom>
          <a:solidFill>
            <a:srgbClr val="FFB86C"/>
          </a:solidFill>
          <a:ln>
            <a:noFill/>
          </a:ln>
        </p:spPr>
        <p:txBody>
          <a:bodyPr lIns="18000" tIns="18000" rIns="36000" bIns="18000" anchor="ctr" anchorCtr="1"/>
          <a:lstStyle/>
          <a:p>
            <a:pPr algn="ctr">
              <a:buNone/>
            </a:pPr>
            <a:r>
              <a:rPr lang="en-US" sz="900" b="1" dirty="0">
                <a:solidFill>
                  <a:srgbClr val="0D1117"/>
                </a:solidFill>
              </a:rPr>
              <a:t>HTTPS</a:t>
            </a:r>
          </a:p>
        </p:txBody>
      </p:sp>
      <p:sp>
        <p:nvSpPr>
          <p:cNvPr id="1013" name="Mw1013"/>
          <p:cNvSpPr/>
          <p:nvPr/>
        </p:nvSpPr>
        <p:spPr>
          <a:xfrm flipH="1">
            <a:off x="7112000" y="4572000"/>
            <a:ext cx="1206500" cy="635000"/>
          </a:xfrm>
          <a:prstGeom prst="chevron">
            <a:avLst>
              <a:gd name="adj" fmla="val 50000"/>
            </a:avLst>
          </a:prstGeom>
          <a:solidFill>
            <a:srgbClr val="FF79C6"/>
          </a:solidFill>
          <a:ln>
            <a:noFill/>
          </a:ln>
        </p:spPr>
        <p:txBody>
          <a:bodyPr lIns="18000" tIns="18000" rIns="36000" bIns="18000" anchor="ctr" anchorCtr="1"/>
          <a:lstStyle/>
          <a:p>
            <a:pPr algn="ctr">
              <a:buNone/>
            </a:pPr>
            <a:r>
              <a:rPr lang="en-US" sz="900" b="1" dirty="0">
                <a:solidFill>
                  <a:srgbClr val="0D1117"/>
                </a:solidFill>
              </a:rPr>
              <a:t>Exception</a:t>
            </a:r>
          </a:p>
        </p:txBody>
      </p:sp>
      <p:sp>
        <p:nvSpPr>
          <p:cNvPr id="1014" name="T1014"/>
          <p:cNvSpPr txBox="1"/>
          <p:nvPr/>
        </p:nvSpPr>
        <p:spPr>
          <a:xfrm>
            <a:off x="444500" y="2286000"/>
            <a:ext cx="82550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100" b="1" dirty="0">
                <a:solidFill>
                  <a:srgbClr val="00D9FF"/>
                </a:solidFill>
              </a:rPr>
              <a:t>▶  REQUEST IN</a:t>
            </a:r>
          </a:p>
        </p:txBody>
      </p:sp>
      <p:sp>
        <p:nvSpPr>
          <p:cNvPr id="1015" name="T1015"/>
          <p:cNvSpPr txBox="1"/>
          <p:nvPr/>
        </p:nvSpPr>
        <p:spPr>
          <a:xfrm>
            <a:off x="444500" y="5334000"/>
            <a:ext cx="82550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100" b="1" dirty="0">
                <a:solidFill>
                  <a:srgbClr val="FF79C6"/>
                </a:solidFill>
              </a:rPr>
              <a:t>◀  RESPONSE OUT</a:t>
            </a:r>
          </a:p>
        </p:txBody>
      </p:sp>
      <p:sp>
        <p:nvSpPr>
          <p:cNvPr id="1016" name="T1016"/>
          <p:cNvSpPr txBox="1"/>
          <p:nvPr/>
        </p:nvSpPr>
        <p:spPr>
          <a:xfrm>
            <a:off x="444500" y="5778500"/>
            <a:ext cx="8255000" cy="635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0" dirty="0">
                <a:solidFill>
                  <a:srgbClr val="C9D1D9"/>
                </a:solidFill>
              </a:rPr>
              <a:t>app.UseExceptionHandler() → UseHttpsRedirection() → UseRouting() → UseCors() → UseAuthentication() → UseAuthorization() → UseEndpoints()</a:t>
            </a:r>
          </a:p>
        </p:txBody>
      </p:sp>
    </p:spTree>
    <p:extLst>
      <p:ext uri="{BB962C8B-B14F-4D97-AF65-F5344CB8AC3E}">
        <p14:creationId xmlns:p14="http://schemas.microsoft.com/office/powerpoint/2010/main" val="1952928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Unit Testing Web API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00D9FF"/>
                </a:solidFill>
              </a:rPr>
              <a:t>Goal</a:t>
            </a:r>
            <a:r>
              <a:rPr lang="en-US" dirty="0"/>
              <a:t>: Verify business logic in isolation — fast and deterministic.</a:t>
            </a:r>
          </a:p>
          <a:p>
            <a:r>
              <a:rPr lang="en-US" b="1" dirty="0">
                <a:solidFill>
                  <a:srgbClr val="00D9FF"/>
                </a:solidFill>
              </a:rPr>
              <a:t>Frameworks</a:t>
            </a:r>
            <a:r>
              <a:rPr lang="en-US" dirty="0"/>
              <a:t>: xUnit (most common), NUnit, MSTest.</a:t>
            </a:r>
          </a:p>
          <a:p>
            <a:r>
              <a:rPr lang="en-US" b="1" dirty="0">
                <a:solidFill>
                  <a:srgbClr val="00D9FF"/>
                </a:solidFill>
              </a:rPr>
              <a:t>AAA pattern</a:t>
            </a:r>
            <a:r>
              <a:rPr lang="en-US" dirty="0"/>
              <a:t>: Arrange • Act • Assert — one logical assertion per test.</a:t>
            </a:r>
          </a:p>
          <a:p>
            <a:r>
              <a:rPr lang="en-US" b="1" dirty="0">
                <a:solidFill>
                  <a:srgbClr val="00D9FF"/>
                </a:solidFill>
              </a:rPr>
              <a:t>Assertions</a:t>
            </a:r>
            <a:r>
              <a:rPr lang="en-US" dirty="0"/>
              <a:t>: Assert.Equal, FluentAssertions: result.Should().Be(...)</a:t>
            </a:r>
          </a:p>
          <a:p>
            <a:r>
              <a:rPr lang="en-US" b="1" dirty="0">
                <a:solidFill>
                  <a:srgbClr val="39FF14"/>
                </a:solidFill>
              </a:rPr>
              <a:t>Coverage</a:t>
            </a:r>
            <a:r>
              <a:rPr lang="en-US" dirty="0"/>
              <a:t>: Target 70-80% on business logic; skip trivial getters/setters.</a:t>
            </a:r>
          </a:p>
        </p:txBody>
      </p:sp>
    </p:spTree>
    <p:extLst>
      <p:ext uri="{BB962C8B-B14F-4D97-AF65-F5344CB8AC3E}">
        <p14:creationId xmlns:p14="http://schemas.microsoft.com/office/powerpoint/2010/main" val="42409622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457200" y="152400"/>
            <a:ext cx="8229600" cy="457200"/>
          </a:xfrm>
          <a:prstGeom prst="rect">
            <a:avLst/>
          </a:prstGeom>
          <a:solidFill>
            <a:srgbClr val="0A0E1A"/>
          </a:solidFill>
          <a:ln w="19050">
            <a:solidFill>
              <a:srgbClr val="0A0E1A"/>
            </a:solidFill>
          </a:ln>
        </p:spPr>
        <p:txBody>
          <a:bodyPr lIns="91440" tIns="45720" rIns="91440" bIns="45720"/>
          <a:lstStyle/>
          <a:p>
            <a:pPr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🧪 API Testing Pyramid</a:t>
            </a:r>
          </a:p>
        </p:txBody>
      </p:sp>
      <p:sp>
        <p:nvSpPr>
          <p:cNvPr id="10" name="E2E"/>
          <p:cNvSpPr>
            <a:spLocks noGrp="1"/>
          </p:cNvSpPr>
          <p:nvPr/>
        </p:nvSpPr>
        <p:spPr>
          <a:xfrm>
            <a:off x="3429000" y="1600200"/>
            <a:ext cx="2286000" cy="914400"/>
          </a:xfrm>
          <a:prstGeom prst="triangle">
            <a:avLst/>
          </a:prstGeom>
          <a:solidFill>
            <a:srgbClr val="7F1D1D"/>
          </a:solidFill>
          <a:ln w="19050">
            <a:solidFill>
              <a:srgbClr val="EF4444"/>
            </a:solidFill>
          </a:ln>
        </p:spPr>
        <p:txBody>
          <a:bodyPr lIns="91440" tIns="45720" rIns="91440" bIns="45720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E2E Tests
(few, slow, costly)</a:t>
            </a:r>
          </a:p>
        </p:txBody>
      </p:sp>
      <p:sp>
        <p:nvSpPr>
          <p:cNvPr id="11" name="Integration"/>
          <p:cNvSpPr>
            <a:spLocks noGrp="1"/>
          </p:cNvSpPr>
          <p:nvPr/>
        </p:nvSpPr>
        <p:spPr>
          <a:xfrm>
            <a:off x="2286000" y="2286000"/>
            <a:ext cx="4572000" cy="1066800"/>
          </a:xfrm>
          <a:prstGeom prst="trapezoid">
            <a:avLst/>
          </a:prstGeom>
          <a:solidFill>
            <a:srgbClr val="451A03"/>
          </a:solidFill>
          <a:ln w="19050">
            <a:solidFill>
              <a:srgbClr val="F59E0B"/>
            </a:solidFill>
          </a:ln>
        </p:spPr>
        <p:txBody>
          <a:bodyPr lIns="91440" tIns="45720" rIns="91440" bIns="45720"/>
          <a:lstStyle/>
          <a:p>
            <a:pPr algn="ctr">
              <a:buNone/>
            </a:pPr>
            <a:r>
              <a:rPr lang="en-US" sz="1050" b="0" dirty="0">
                <a:solidFill>
                  <a:srgbClr val="FFFFFF"/>
                </a:solidFill>
              </a:rPr>
              <a:t>Integration Tests  — Controller + DB + Middleware
(WebApplicationFactory, TestServer)</a:t>
            </a:r>
          </a:p>
        </p:txBody>
      </p:sp>
      <p:sp>
        <p:nvSpPr>
          <p:cNvPr id="12" name="Unit"/>
          <p:cNvSpPr>
            <a:spLocks noGrp="1"/>
          </p:cNvSpPr>
          <p:nvPr/>
        </p:nvSpPr>
        <p:spPr>
          <a:xfrm>
            <a:off x="1143000" y="3048000"/>
            <a:ext cx="6858000" cy="1066800"/>
          </a:xfrm>
          <a:prstGeom prst="trapezoid">
            <a:avLst/>
          </a:prstGeom>
          <a:solidFill>
            <a:srgbClr val="052E16"/>
          </a:solidFill>
          <a:ln w="19050">
            <a:solidFill>
              <a:srgbClr val="10B981"/>
            </a:solidFill>
          </a:ln>
        </p:spPr>
        <p:txBody>
          <a:bodyPr lIns="91440" tIns="45720" rIns="91440" bIns="45720"/>
          <a:lstStyle/>
          <a:p>
            <a:pPr algn="ctr">
              <a:buNone/>
            </a:pPr>
            <a:r>
              <a:rPr lang="en-US" sz="1100" b="0" dirty="0">
                <a:solidFill>
                  <a:srgbClr val="FFFFFF"/>
                </a:solidFill>
              </a:rPr>
              <a:t>Unit Tests  — Controller logic, Services, Validators  (fast, isolated, mocked dependencies)</a:t>
            </a:r>
          </a:p>
        </p:txBody>
      </p:sp>
      <p:sp>
        <p:nvSpPr>
          <p:cNvPr id="20" name="A1"/>
          <p:cNvSpPr>
            <a:spLocks noGrp="1"/>
          </p:cNvSpPr>
          <p:nvPr/>
        </p:nvSpPr>
        <p:spPr>
          <a:xfrm>
            <a:off x="7086600" y="1600200"/>
            <a:ext cx="1600200" cy="533400"/>
          </a:xfrm>
          <a:prstGeom prst="roundRect">
            <a:avLst/>
          </a:prstGeom>
          <a:solidFill>
            <a:srgbClr val="1C1917"/>
          </a:solidFill>
          <a:ln w="19050">
            <a:solidFill>
              <a:srgbClr val="EF4444"/>
            </a:solidFill>
          </a:ln>
        </p:spPr>
        <p:txBody>
          <a:bodyPr lIns="91440" tIns="45720" rIns="91440" bIns="45720"/>
          <a:lstStyle/>
          <a:p>
            <a:pPr algn="ctr">
              <a:buNone/>
            </a:pPr>
            <a:r>
              <a:rPr lang="en-US" sz="1000" b="0" dirty="0">
                <a:solidFill>
                  <a:srgbClr val="FFFFFF"/>
                </a:solidFill>
              </a:rPr>
              <a:t>Playwright
Postman E2E</a:t>
            </a:r>
          </a:p>
        </p:txBody>
      </p:sp>
      <p:sp>
        <p:nvSpPr>
          <p:cNvPr id="21" name="A2"/>
          <p:cNvSpPr>
            <a:spLocks noGrp="1"/>
          </p:cNvSpPr>
          <p:nvPr/>
        </p:nvSpPr>
        <p:spPr>
          <a:xfrm>
            <a:off x="7086600" y="2286000"/>
            <a:ext cx="1600200" cy="609600"/>
          </a:xfrm>
          <a:prstGeom prst="roundRect">
            <a:avLst/>
          </a:prstGeom>
          <a:solidFill>
            <a:srgbClr val="1C1917"/>
          </a:solidFill>
          <a:ln w="19050">
            <a:solidFill>
              <a:srgbClr val="F59E0B"/>
            </a:solidFill>
          </a:ln>
        </p:spPr>
        <p:txBody>
          <a:bodyPr lIns="91440" tIns="45720" rIns="91440" bIns="45720"/>
          <a:lstStyle/>
          <a:p>
            <a:pPr algn="ctr">
              <a:buNone/>
            </a:pPr>
            <a:r>
              <a:rPr lang="en-US" sz="1000" b="0" dirty="0">
                <a:solidFill>
                  <a:srgbClr val="FFFFFF"/>
                </a:solidFill>
              </a:rPr>
              <a:t>xUnit + WebApplicationFactory
EF In-Memory DB</a:t>
            </a:r>
          </a:p>
        </p:txBody>
      </p:sp>
      <p:sp>
        <p:nvSpPr>
          <p:cNvPr id="22" name="A3"/>
          <p:cNvSpPr>
            <a:spLocks noGrp="1"/>
          </p:cNvSpPr>
          <p:nvPr/>
        </p:nvSpPr>
        <p:spPr>
          <a:xfrm>
            <a:off x="7620000" y="3048000"/>
            <a:ext cx="1066800" cy="685800"/>
          </a:xfrm>
          <a:prstGeom prst="roundRect">
            <a:avLst/>
          </a:prstGeom>
          <a:solidFill>
            <a:srgbClr val="1C1917"/>
          </a:solidFill>
          <a:ln w="19050">
            <a:solidFill>
              <a:srgbClr val="10B981"/>
            </a:solidFill>
          </a:ln>
        </p:spPr>
        <p:txBody>
          <a:bodyPr lIns="91440" tIns="45720" rIns="91440" bIns="45720"/>
          <a:lstStyle/>
          <a:p>
            <a:pPr algn="ctr">
              <a:buNone/>
            </a:pPr>
            <a:r>
              <a:rPr lang="en-US" sz="1000" b="0" dirty="0">
                <a:solidFill>
                  <a:srgbClr val="FFFFFF"/>
                </a:solidFill>
              </a:rPr>
              <a:t>xUnit + Moq
Microsoft.AspNetCore
.Mvc.Testing</a:t>
            </a:r>
          </a:p>
        </p:txBody>
      </p:sp>
      <p:sp>
        <p:nvSpPr>
          <p:cNvPr id="30" name="Rule"/>
          <p:cNvSpPr>
            <a:spLocks noGrp="1"/>
          </p:cNvSpPr>
          <p:nvPr/>
        </p:nvSpPr>
        <p:spPr>
          <a:xfrm>
            <a:off x="457200" y="4039200"/>
            <a:ext cx="8229600" cy="3800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0D4FF"/>
            </a:solidFill>
          </a:ln>
        </p:spPr>
        <p:txBody>
          <a:bodyPr lIns="91440" tIns="45720" rIns="91440" bIns="45720"/>
          <a:lstStyle/>
          <a:p>
            <a:pPr algn="ctr">
              <a:buNone/>
            </a:pPr>
            <a:r>
              <a:rPr lang="en-US" sz="1100" b="0" dirty="0">
                <a:solidFill>
                  <a:srgbClr val="FFFFFF"/>
                </a:solidFill>
              </a:rPr>
              <a:t>📊 Coverage rule: 70% unit  ·  20% integration  ·  10% E2E   |  Aim for 80%+ code coverage on critical paths</a:t>
            </a:r>
          </a:p>
        </p:txBody>
      </p:sp>
      <p:sp>
        <p:nvSpPr>
          <p:cNvPr id="40" name="Speed"/>
          <p:cNvSpPr>
            <a:spLocks noGrp="1"/>
          </p:cNvSpPr>
          <p:nvPr/>
        </p:nvSpPr>
        <p:spPr>
          <a:xfrm>
            <a:off x="457200" y="4495800"/>
            <a:ext cx="2667600" cy="380000"/>
          </a:xfrm>
          <a:prstGeom prst="roundRect">
            <a:avLst/>
          </a:prstGeom>
          <a:solidFill>
            <a:srgbClr val="0D1B2A"/>
          </a:solidFill>
          <a:ln w="19050">
            <a:solidFill>
              <a:srgbClr val="10B981"/>
            </a:solidFill>
          </a:ln>
        </p:spPr>
        <p:txBody>
          <a:bodyPr lIns="91440" tIns="45720" rIns="91440" bIns="45720"/>
          <a:lstStyle/>
          <a:p>
            <a:pPr algn="ctr">
              <a:buNone/>
            </a:pPr>
            <a:r>
              <a:rPr lang="en-US" sz="1100" b="0" dirty="0">
                <a:solidFill>
                  <a:srgbClr val="FFFFFF"/>
                </a:solidFill>
              </a:rPr>
              <a:t>⚡ Unit: &lt;1ms each</a:t>
            </a:r>
          </a:p>
        </p:txBody>
      </p:sp>
      <p:sp>
        <p:nvSpPr>
          <p:cNvPr id="41" name="Speed2"/>
          <p:cNvSpPr>
            <a:spLocks noGrp="1"/>
          </p:cNvSpPr>
          <p:nvPr/>
        </p:nvSpPr>
        <p:spPr>
          <a:xfrm>
            <a:off x="3200400" y="4495800"/>
            <a:ext cx="2667600" cy="380000"/>
          </a:xfrm>
          <a:prstGeom prst="roundRect">
            <a:avLst/>
          </a:prstGeom>
          <a:solidFill>
            <a:srgbClr val="0D1B2A"/>
          </a:solidFill>
          <a:ln w="19050">
            <a:solidFill>
              <a:srgbClr val="F59E0B"/>
            </a:solidFill>
          </a:ln>
        </p:spPr>
        <p:txBody>
          <a:bodyPr lIns="91440" tIns="45720" rIns="91440" bIns="45720"/>
          <a:lstStyle/>
          <a:p>
            <a:pPr algn="ctr">
              <a:buNone/>
            </a:pPr>
            <a:r>
              <a:rPr lang="en-US" sz="1100" b="0" dirty="0">
                <a:solidFill>
                  <a:srgbClr val="FFFFFF"/>
                </a:solidFill>
              </a:rPr>
              <a:t>⏱️ Integration: 1-30s total</a:t>
            </a:r>
          </a:p>
        </p:txBody>
      </p:sp>
      <p:sp>
        <p:nvSpPr>
          <p:cNvPr id="42" name="Speed3"/>
          <p:cNvSpPr>
            <a:spLocks noGrp="1"/>
          </p:cNvSpPr>
          <p:nvPr/>
        </p:nvSpPr>
        <p:spPr>
          <a:xfrm>
            <a:off x="5943600" y="4495800"/>
            <a:ext cx="2667600" cy="380000"/>
          </a:xfrm>
          <a:prstGeom prst="roundRect">
            <a:avLst/>
          </a:prstGeom>
          <a:solidFill>
            <a:srgbClr val="0D1B2A"/>
          </a:solidFill>
          <a:ln w="19050">
            <a:solidFill>
              <a:srgbClr val="EF4444"/>
            </a:solidFill>
          </a:ln>
        </p:spPr>
        <p:txBody>
          <a:bodyPr lIns="91440" tIns="45720" rIns="91440" bIns="45720"/>
          <a:lstStyle/>
          <a:p>
            <a:pPr algn="ctr">
              <a:buNone/>
            </a:pPr>
            <a:r>
              <a:rPr lang="en-US" sz="1100" b="0" dirty="0">
                <a:solidFill>
                  <a:srgbClr val="FFFFFF"/>
                </a:solidFill>
              </a:rPr>
              <a:t>🐌 E2E: minutes</a:t>
            </a:r>
          </a:p>
        </p:txBody>
      </p:sp>
    </p:spTree>
    <p:extLst>
      <p:ext uri="{BB962C8B-B14F-4D97-AF65-F5344CB8AC3E}">
        <p14:creationId xmlns:p14="http://schemas.microsoft.com/office/powerpoint/2010/main" val="387340861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Testing Controllers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00D9FF"/>
                </a:solidFill>
              </a:rPr>
              <a:t>What to test</a:t>
            </a:r>
            <a:r>
              <a:rPr lang="en-US" dirty="0"/>
              <a:t>: Status codes, returned data, model state, routing.</a:t>
            </a:r>
          </a:p>
          <a:p>
            <a:r>
              <a:rPr lang="en-US" b="1" dirty="0">
                <a:solidFill>
                  <a:srgbClr val="00D9FF"/>
                </a:solidFill>
              </a:rPr>
              <a:t>Mocking</a:t>
            </a:r>
            <a:r>
              <a:rPr lang="en-US" dirty="0"/>
              <a:t>: Moq or NSubstitute — mock repositories, services, ILogger.</a:t>
            </a:r>
          </a:p>
          <a:p>
            <a:r>
              <a:rPr lang="en-US" b="1" dirty="0">
                <a:solidFill>
                  <a:srgbClr val="00D9FF"/>
                </a:solidFill>
              </a:rPr>
              <a:t>Assert action results</a:t>
            </a:r>
            <a:r>
              <a:rPr lang="en-US" dirty="0"/>
              <a:t>: Assert.IsType&lt;OkObjectResult&gt;(result)</a:t>
            </a:r>
          </a:p>
          <a:p>
            <a:r>
              <a:rPr lang="en-US" b="1" dirty="0">
                <a:solidFill>
                  <a:srgbClr val="00D9FF"/>
                </a:solidFill>
              </a:rPr>
              <a:t>Integration tests</a:t>
            </a:r>
            <a:r>
              <a:rPr lang="en-US" dirty="0"/>
              <a:t>: WebApplicationFactory&lt;T&gt; spins up the full pipeline in-memory.</a:t>
            </a:r>
          </a:p>
          <a:p>
            <a:r>
              <a:rPr lang="en-US" b="1" dirty="0">
                <a:solidFill>
                  <a:srgbClr val="39FF14"/>
                </a:solidFill>
              </a:rPr>
              <a:t>Tip</a:t>
            </a:r>
            <a:r>
              <a:rPr lang="en-US" dirty="0"/>
              <a:t>: Use TestServer + HttpClient for fast in-process integration tests.</a:t>
            </a:r>
          </a:p>
        </p:txBody>
      </p:sp>
    </p:spTree>
    <p:extLst>
      <p:ext uri="{BB962C8B-B14F-4D97-AF65-F5344CB8AC3E}">
        <p14:creationId xmlns:p14="http://schemas.microsoft.com/office/powerpoint/2010/main" val="147330828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95C4A0-1801-55A5-57ED-A76F7EFD92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 5: Controller Tests</a:t>
            </a:r>
          </a:p>
        </p:txBody>
      </p:sp>
      <p:sp>
        <p:nvSpPr>
          <p:cNvPr id="2000" name="Pill"/>
          <p:cNvSpPr/>
          <p:nvPr/>
        </p:nvSpPr>
        <p:spPr>
          <a:xfrm>
            <a:off x="7112000" y="635000"/>
            <a:ext cx="1143000" cy="355600"/>
          </a:xfrm>
          <a:prstGeom prst="roundRect">
            <a:avLst>
              <a:gd name="adj" fmla="val 50000"/>
            </a:avLst>
          </a:prstGeom>
          <a:solidFill>
            <a:srgbClr val="FF79C6"/>
          </a:solidFill>
          <a:ln>
            <a:noFill/>
          </a:ln>
        </p:spPr>
        <p:txBody>
          <a:bodyPr lIns="0" tIns="0" rIns="0" bIns="0" anchor="ctr" anchorCtr="1"/>
          <a:lstStyle/>
          <a:p>
            <a:pPr algn="ctr">
              <a:buNone/>
            </a:pPr>
            <a:r>
              <a:rPr lang="en-US" sz="1200" b="1" dirty="0">
                <a:solidFill>
                  <a:srgbClr val="0D1117"/>
                </a:solidFill>
              </a:rPr>
              <a:t>LAB</a:t>
            </a:r>
          </a:p>
        </p:txBody>
      </p:sp>
      <p:sp>
        <p:nvSpPr>
          <p:cNvPr id="2001" name="Pill"/>
          <p:cNvSpPr/>
          <p:nvPr/>
        </p:nvSpPr>
        <p:spPr>
          <a:xfrm>
            <a:off x="7112000" y="1041400"/>
            <a:ext cx="1143000" cy="279400"/>
          </a:xfrm>
          <a:prstGeom prst="roundRect">
            <a:avLst>
              <a:gd name="adj" fmla="val 50000"/>
            </a:avLst>
          </a:prstGeom>
          <a:solidFill>
            <a:srgbClr val="161B22"/>
          </a:solidFill>
          <a:ln>
            <a:noFill/>
          </a:ln>
        </p:spPr>
        <p:txBody>
          <a:bodyPr lIns="0" tIns="0" rIns="0" bIns="0" anchor="ctr" anchorCtr="1"/>
          <a:lstStyle/>
          <a:p>
            <a:pPr algn="ctr">
              <a:buNone/>
            </a:pPr>
            <a:r>
              <a:rPr lang="en-US" sz="900" b="1" dirty="0">
                <a:solidFill>
                  <a:srgbClr val="FFB86C"/>
                </a:solidFill>
              </a:rPr>
              <a:t>25 min</a:t>
            </a:r>
          </a:p>
        </p:txBody>
      </p:sp>
      <p:sp>
        <p:nvSpPr>
          <p:cNvPr id="2002" name="Card"/>
          <p:cNvSpPr/>
          <p:nvPr/>
        </p:nvSpPr>
        <p:spPr>
          <a:xfrm>
            <a:off x="508000" y="2222500"/>
            <a:ext cx="3937000" cy="2857500"/>
          </a:xfrm>
          <a:prstGeom prst="roundRect">
            <a:avLst>
              <a:gd name="adj" fmla="val 20000"/>
            </a:avLst>
          </a:prstGeom>
          <a:solidFill>
            <a:srgbClr val="161B22"/>
          </a:solidFill>
          <a:ln w="12700">
            <a:solidFill>
              <a:srgbClr val="39FF1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03" name="Text"/>
          <p:cNvSpPr txBox="1"/>
          <p:nvPr/>
        </p:nvSpPr>
        <p:spPr>
          <a:xfrm>
            <a:off x="508000" y="2222500"/>
            <a:ext cx="3937000" cy="508000"/>
          </a:xfrm>
          <a:prstGeom prst="rect">
            <a:avLst/>
          </a:prstGeom>
          <a:noFill/>
        </p:spPr>
        <p:txBody>
          <a:bodyPr wrap="square" lIns="72000" tIns="54000" rIns="72000" bIns="5400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9FF14"/>
                </a:solidFill>
              </a:rPr>
              <a:t>🎯  GOAL</a:t>
            </a:r>
          </a:p>
        </p:txBody>
      </p:sp>
      <p:sp>
        <p:nvSpPr>
          <p:cNvPr id="2004" name="Text"/>
          <p:cNvSpPr txBox="1"/>
          <p:nvPr/>
        </p:nvSpPr>
        <p:spPr>
          <a:xfrm>
            <a:off x="508000" y="2667000"/>
            <a:ext cx="3937000" cy="2413000"/>
          </a:xfrm>
          <a:prstGeom prst="rect">
            <a:avLst/>
          </a:prstGeom>
          <a:noFill/>
        </p:spPr>
        <p:txBody>
          <a:bodyPr wrap="square" lIns="72000" tIns="54000" rIns="72000" bIns="54000" anchor="t"/>
          <a:lstStyle/>
          <a:p>
            <a:pPr marL="0" indent="0" algn="l">
              <a:buNone/>
            </a:pPr>
            <a:r>
              <a:rPr lang="en-US" sz="1100" b="0" dirty="0">
                <a:solidFill>
                  <a:srgbClr val="E6EDF3"/>
                </a:solidFill>
              </a:rPr>
              <a:t>Write xUnit tests for your CRUD controller using Moq for the repository.</a:t>
            </a:r>
          </a:p>
          <a:p>
            <a:pPr marL="0" indent="0" algn="l">
              <a:buNone/>
            </a:pPr>
            <a:r>
              <a:rPr lang="en-US" sz="1100" b="0" dirty="0">
                <a:solidFill>
                  <a:srgbClr val="E6EDF3"/>
                </a:solidFill>
              </a:rPr>
              <a:t> </a:t>
            </a:r>
          </a:p>
          <a:p>
            <a:pPr marL="0" indent="0" algn="l">
              <a:buNone/>
            </a:pPr>
            <a:r>
              <a:rPr lang="en-US" sz="1100" b="0" dirty="0">
                <a:solidFill>
                  <a:srgbClr val="C9D1D9"/>
                </a:solidFill>
              </a:rPr>
              <a:t>Cover:</a:t>
            </a:r>
          </a:p>
          <a:p>
            <a:pPr marL="0" indent="0" algn="l">
              <a:buNone/>
            </a:pPr>
            <a:r>
              <a:rPr lang="en-US" sz="1100" b="0" dirty="0">
                <a:solidFill>
                  <a:srgbClr val="E6EDF3"/>
                </a:solidFill>
              </a:rPr>
              <a:t>• GET → 200 with data</a:t>
            </a:r>
          </a:p>
          <a:p>
            <a:pPr marL="0" indent="0" algn="l">
              <a:buNone/>
            </a:pPr>
            <a:r>
              <a:rPr lang="en-US" sz="1100" b="0" dirty="0">
                <a:solidFill>
                  <a:srgbClr val="E6EDF3"/>
                </a:solidFill>
              </a:rPr>
              <a:t>• POST → 201 + Location header</a:t>
            </a:r>
          </a:p>
          <a:p>
            <a:pPr marL="0" indent="0" algn="l">
              <a:buNone/>
            </a:pPr>
            <a:r>
              <a:rPr lang="en-US" sz="1100" b="0" dirty="0">
                <a:solidFill>
                  <a:srgbClr val="E6EDF3"/>
                </a:solidFill>
              </a:rPr>
              <a:t>• GET missing → 404</a:t>
            </a:r>
          </a:p>
          <a:p>
            <a:pPr marL="0" indent="0" algn="l">
              <a:buNone/>
            </a:pPr>
            <a:r>
              <a:rPr lang="en-US" sz="1100" b="0" dirty="0">
                <a:solidFill>
                  <a:srgbClr val="E6EDF3"/>
                </a:solidFill>
              </a:rPr>
              <a:t>• PUT bad model → 400</a:t>
            </a:r>
          </a:p>
        </p:txBody>
      </p:sp>
      <p:sp>
        <p:nvSpPr>
          <p:cNvPr id="2005" name="Card"/>
          <p:cNvSpPr/>
          <p:nvPr/>
        </p:nvSpPr>
        <p:spPr>
          <a:xfrm>
            <a:off x="4699000" y="2222500"/>
            <a:ext cx="3937000" cy="2857500"/>
          </a:xfrm>
          <a:prstGeom prst="roundRect">
            <a:avLst>
              <a:gd name="adj" fmla="val 20000"/>
            </a:avLst>
          </a:prstGeom>
          <a:solidFill>
            <a:srgbClr val="161B22"/>
          </a:solidFill>
          <a:ln w="12700">
            <a:solidFill>
              <a:srgbClr val="00D9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06" name="Text"/>
          <p:cNvSpPr txBox="1"/>
          <p:nvPr/>
        </p:nvSpPr>
        <p:spPr>
          <a:xfrm>
            <a:off x="4699000" y="2222500"/>
            <a:ext cx="3937000" cy="508000"/>
          </a:xfrm>
          <a:prstGeom prst="rect">
            <a:avLst/>
          </a:prstGeom>
          <a:noFill/>
        </p:spPr>
        <p:txBody>
          <a:bodyPr wrap="square" lIns="72000" tIns="54000" rIns="72000" bIns="5400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D9FF"/>
                </a:solidFill>
              </a:rPr>
              <a:t>🛠  STEPS</a:t>
            </a:r>
          </a:p>
        </p:txBody>
      </p:sp>
      <p:sp>
        <p:nvSpPr>
          <p:cNvPr id="2007" name="Text"/>
          <p:cNvSpPr txBox="1"/>
          <p:nvPr/>
        </p:nvSpPr>
        <p:spPr>
          <a:xfrm>
            <a:off x="4699000" y="2667000"/>
            <a:ext cx="3937000" cy="2413000"/>
          </a:xfrm>
          <a:prstGeom prst="rect">
            <a:avLst/>
          </a:prstGeom>
          <a:noFill/>
        </p:spPr>
        <p:txBody>
          <a:bodyPr wrap="square" lIns="72000" tIns="54000" rIns="72000" bIns="54000" anchor="t"/>
          <a:lstStyle/>
          <a:p>
            <a:pPr marL="0" indent="0" algn="l">
              <a:buNone/>
            </a:pPr>
            <a:r>
              <a:rPr lang="en-US" sz="1100" b="0" dirty="0">
                <a:solidFill>
                  <a:srgbClr val="E6EDF3"/>
                </a:solidFill>
              </a:rPr>
              <a:t>1.  dotnet new xunit -o Api.Tests</a:t>
            </a:r>
          </a:p>
          <a:p>
            <a:pPr marL="0" indent="0" algn="l">
              <a:buNone/>
            </a:pPr>
            <a:r>
              <a:rPr lang="en-US" sz="1100" b="0" dirty="0">
                <a:solidFill>
                  <a:srgbClr val="E6EDF3"/>
                </a:solidFill>
              </a:rPr>
              <a:t>2.  Add Moq + project reference.</a:t>
            </a:r>
          </a:p>
          <a:p>
            <a:pPr marL="0" indent="0" algn="l">
              <a:buNone/>
            </a:pPr>
            <a:r>
              <a:rPr lang="en-US" sz="1100" b="0" dirty="0">
                <a:solidFill>
                  <a:srgbClr val="E6EDF3"/>
                </a:solidFill>
              </a:rPr>
              <a:t>3.  var mock = new Mock&lt;IRepo&gt;();</a:t>
            </a:r>
          </a:p>
          <a:p>
            <a:pPr marL="0" indent="0" algn="l">
              <a:buNone/>
            </a:pPr>
            <a:r>
              <a:rPr lang="en-US" sz="1100" b="0" dirty="0">
                <a:solidFill>
                  <a:srgbClr val="E6EDF3"/>
                </a:solidFill>
              </a:rPr>
              <a:t>4.  mock.Setup(r =&gt; r.GetAll())…</a:t>
            </a:r>
          </a:p>
          <a:p>
            <a:pPr marL="0" indent="0" algn="l">
              <a:buNone/>
            </a:pPr>
            <a:r>
              <a:rPr lang="en-US" sz="1100" b="0" dirty="0">
                <a:solidFill>
                  <a:srgbClr val="E6EDF3"/>
                </a:solidFill>
              </a:rPr>
              <a:t>5.  var ctrl = new ProductsController(mock.Object);</a:t>
            </a:r>
          </a:p>
          <a:p>
            <a:pPr marL="0" indent="0" algn="l">
              <a:buNone/>
            </a:pPr>
            <a:r>
              <a:rPr lang="en-US" sz="1100" b="0" dirty="0">
                <a:solidFill>
                  <a:srgbClr val="E6EDF3"/>
                </a:solidFill>
              </a:rPr>
              <a:t>6.  Assert with FluentAssertions or Assert.IsType.</a:t>
            </a:r>
          </a:p>
          <a:p>
            <a:pPr marL="0" indent="0" algn="l">
              <a:buNone/>
            </a:pPr>
            <a:r>
              <a:rPr lang="en-US" sz="1100" b="0" dirty="0">
                <a:solidFill>
                  <a:srgbClr val="E6EDF3"/>
                </a:solidFill>
              </a:rPr>
              <a:t>7.  Run dotnet test, watch all green.</a:t>
            </a:r>
          </a:p>
        </p:txBody>
      </p:sp>
      <p:sp>
        <p:nvSpPr>
          <p:cNvPr id="2008" name="Card"/>
          <p:cNvSpPr/>
          <p:nvPr/>
        </p:nvSpPr>
        <p:spPr>
          <a:xfrm>
            <a:off x="508000" y="5270500"/>
            <a:ext cx="8128000" cy="1016000"/>
          </a:xfrm>
          <a:prstGeom prst="roundRect">
            <a:avLst>
              <a:gd name="adj" fmla="val 20000"/>
            </a:avLst>
          </a:prstGeom>
          <a:solidFill>
            <a:srgbClr val="161B22"/>
          </a:solidFill>
          <a:ln w="12700">
            <a:solidFill>
              <a:srgbClr val="BD93F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09" name="Text"/>
          <p:cNvSpPr txBox="1"/>
          <p:nvPr/>
        </p:nvSpPr>
        <p:spPr>
          <a:xfrm>
            <a:off x="508000" y="5270500"/>
            <a:ext cx="8128000" cy="1016000"/>
          </a:xfrm>
          <a:prstGeom prst="rect">
            <a:avLst/>
          </a:prstGeom>
          <a:noFill/>
        </p:spPr>
        <p:txBody>
          <a:bodyPr wrap="square" lIns="72000" tIns="54000" rIns="72000" bIns="5400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BD93F9"/>
                </a:solidFill>
              </a:rPr>
              <a:t>✅  CHECKPOINT</a:t>
            </a:r>
          </a:p>
          <a:p>
            <a:pPr marL="0" indent="0" algn="l">
              <a:buNone/>
            </a:pPr>
            <a:r>
              <a:rPr lang="en-US" sz="1000" b="0" dirty="0">
                <a:solidFill>
                  <a:srgbClr val="C9D1D9"/>
                </a:solidFill>
              </a:rPr>
              <a:t>Tests pass without a real DB. Coverage report ≥ 80% on the controller. Tests run &lt; 1 second.</a:t>
            </a:r>
          </a:p>
        </p:txBody>
      </p:sp>
    </p:spTree>
    <p:extLst>
      <p:ext uri="{BB962C8B-B14F-4D97-AF65-F5344CB8AC3E}">
        <p14:creationId xmlns:p14="http://schemas.microsoft.com/office/powerpoint/2010/main" val="180485458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Securing Application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00D9FF"/>
                </a:solidFill>
              </a:rPr>
              <a:t>Three pillars</a:t>
            </a:r>
            <a:r>
              <a:rPr lang="en-US" dirty="0"/>
              <a:t>: AuthN (who) • AuthZ (what) • Transport security (TLS).</a:t>
            </a:r>
          </a:p>
          <a:p>
            <a:r>
              <a:rPr lang="en-US" b="1" dirty="0">
                <a:solidFill>
                  <a:srgbClr val="00D9FF"/>
                </a:solidFill>
              </a:rPr>
              <a:t>HTTPS only</a:t>
            </a:r>
            <a:r>
              <a:rPr lang="en-US" dirty="0"/>
              <a:t>: app.UseHttpsRedirection() + HSTS in production.</a:t>
            </a:r>
          </a:p>
          <a:p>
            <a:r>
              <a:rPr lang="en-US" b="1" dirty="0">
                <a:solidFill>
                  <a:srgbClr val="00D9FF"/>
                </a:solidFill>
              </a:rPr>
              <a:t>Rate limiting</a:t>
            </a:r>
            <a:r>
              <a:rPr lang="en-US" dirty="0"/>
              <a:t>: Built-in middleware in .NET 7+ to prevent abuse.</a:t>
            </a:r>
          </a:p>
          <a:p>
            <a:r>
              <a:rPr lang="en-US" b="1" dirty="0">
                <a:solidFill>
                  <a:srgbClr val="00D9FF"/>
                </a:solidFill>
              </a:rPr>
              <a:t>Secrets</a:t>
            </a:r>
            <a:r>
              <a:rPr lang="en-US" dirty="0"/>
              <a:t>: User Secrets (dev), Azure Key Vault (prod). Never commit secrets.</a:t>
            </a:r>
          </a:p>
          <a:p>
            <a:r>
              <a:rPr lang="en-US" b="1" dirty="0">
                <a:solidFill>
                  <a:srgbClr val="FF79C6"/>
                </a:solidFill>
              </a:rPr>
              <a:t>OWASP API Top 10</a:t>
            </a:r>
            <a:r>
              <a:rPr lang="en-US" dirty="0"/>
              <a:t>: BOLA, broken auth, mass assignment, excessive data exposure.</a:t>
            </a:r>
          </a:p>
        </p:txBody>
      </p:sp>
      <p:sp>
        <p:nvSpPr>
          <p:cNvPr id="20" name="SecurityCode"/>
          <p:cNvSpPr>
            <a:spLocks noGrp="1"/>
          </p:cNvSpPr>
          <p:nvPr/>
        </p:nvSpPr>
        <p:spPr>
          <a:xfrm>
            <a:off x="3505800" y="914400"/>
            <a:ext cx="5181000" cy="460000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12700">
            <a:solidFill>
              <a:srgbClr val="EF4444"/>
            </a:solidFill>
          </a:ln>
        </p:spPr>
        <p:txBody>
          <a:bodyPr lIns="182880" tIns="182880" rIns="182880" bIns="182880"/>
          <a:lstStyle/>
          <a:p>
            <a:pPr>
              <a:buNone/>
            </a:pPr>
            <a:r>
              <a:rPr lang="en-US" sz="1000" b="1" dirty="0">
                <a:solidFill>
                  <a:srgbClr val="EF4444"/>
                </a:solidFill>
              </a:rPr>
              <a:t>// Security middleware order (ORDER MATTERS)</a:t>
            </a:r>
          </a:p>
          <a:p>
            <a:pPr>
              <a:buNone/>
            </a:pPr>
            <a:r>
              <a:rPr lang="en-US" sz="1000" dirty="0">
                <a:solidFill>
                  <a:srgbClr val="10B981"/>
                </a:solidFill>
              </a:rPr>
              <a:t>app.UseHttpsRedirection();    // 1. HTTPS</a:t>
            </a:r>
          </a:p>
          <a:p>
            <a:pPr>
              <a:buNone/>
            </a:pPr>
            <a:r>
              <a:rPr lang="en-US" sz="1000" dirty="0">
                <a:solidFill>
                  <a:srgbClr val="10B981"/>
                </a:solidFill>
              </a:rPr>
              <a:t>app.UseHsts();               // 2. HSTS header</a:t>
            </a:r>
          </a:p>
          <a:p>
            <a:pPr>
              <a:buNone/>
            </a:pPr>
            <a:r>
              <a:rPr lang="en-US" sz="1000" dirty="0">
                <a:solidFill>
                  <a:srgbClr val="10B981"/>
                </a:solidFill>
              </a:rPr>
              <a:t>app.UseCors("policy");       // 3. CORS</a:t>
            </a:r>
          </a:p>
          <a:p>
            <a:pPr>
              <a:buNone/>
            </a:pPr>
            <a:r>
              <a:rPr lang="en-US" sz="1000" dirty="0">
                <a:solidFill>
                  <a:srgbClr val="F59E0B"/>
                </a:solidFill>
              </a:rPr>
              <a:t>app.UseRateLimiter();        // 4. Rate limit</a:t>
            </a:r>
          </a:p>
          <a:p>
            <a:pPr>
              <a:buNone/>
            </a:pPr>
            <a:r>
              <a:rPr lang="en-US" sz="1000" dirty="0">
                <a:solidFill>
                  <a:srgbClr val="7C3AED"/>
                </a:solidFill>
              </a:rPr>
              <a:t>app.UseAuthentication();     // 5. Who?</a:t>
            </a:r>
          </a:p>
          <a:p>
            <a:pPr>
              <a:buNone/>
            </a:pPr>
            <a:r>
              <a:rPr lang="en-US" sz="1000" dirty="0">
                <a:solidFill>
                  <a:srgbClr val="7C3AED"/>
                </a:solidFill>
              </a:rPr>
              <a:t>app.UseAuthorization();      // 6. What?</a:t>
            </a:r>
          </a:p>
          <a:p>
            <a:pPr>
              <a:buNone/>
            </a:pPr>
            <a:r>
              <a:rPr lang="en-US" sz="1000" dirty="0">
                <a:solidFill>
                  <a:srgbClr val="00D4FF"/>
                </a:solidFill>
              </a:rPr>
              <a:t>app.MapControllers();</a:t>
            </a:r>
          </a:p>
          <a:p>
            <a:pPr>
              <a:buNone/>
            </a:pPr>
            <a:r>
              <a:rPr lang="en-US" sz="200" dirty="0"/>
              <a:t> </a:t>
            </a:r>
          </a:p>
          <a:p>
            <a:pPr>
              <a:buNone/>
            </a:pPr>
            <a:r>
              <a:rPr lang="en-US" sz="1000" b="1" dirty="0">
                <a:solidFill>
                  <a:srgbClr val="F59E0B"/>
                </a:solidFill>
              </a:rPr>
              <a:t>// Rate limiting setup (.NET 7+)</a:t>
            </a:r>
          </a:p>
          <a:p>
            <a:pPr>
              <a:buNone/>
            </a:pPr>
            <a:r>
              <a:rPr lang="en-US" sz="1000" dirty="0">
                <a:solidFill>
                  <a:srgbClr val="94A3B8"/>
                </a:solidFill>
              </a:rPr>
              <a:t>builder.Services.AddRateLimiter(o =&gt;</a:t>
            </a:r>
          </a:p>
          <a:p>
            <a:pPr>
              <a:buNone/>
            </a:pPr>
            <a:r>
              <a:rPr lang="en-US" sz="1000" dirty="0">
                <a:solidFill>
                  <a:srgbClr val="94A3B8"/>
                </a:solidFill>
              </a:rPr>
              <a:t>    o.AddFixedWindowLimiter("api", opt =&gt; {</a:t>
            </a:r>
          </a:p>
          <a:p>
            <a:pPr>
              <a:buNone/>
            </a:pPr>
            <a:r>
              <a:rPr lang="en-US" sz="1000" dirty="0">
                <a:solidFill>
                  <a:srgbClr val="10B981"/>
                </a:solidFill>
              </a:rPr>
              <a:t>        opt.Window = TimeSpan.FromMinutes(1);</a:t>
            </a:r>
          </a:p>
          <a:p>
            <a:pPr>
              <a:buNone/>
            </a:pPr>
            <a:r>
              <a:rPr lang="en-US" sz="1000" dirty="0">
                <a:solidFill>
                  <a:srgbClr val="10B981"/>
                </a:solidFill>
              </a:rPr>
              <a:t>        opt.PermitLimit = 100; }));</a:t>
            </a:r>
          </a:p>
          <a:p>
            <a:pPr>
              <a:buNone/>
            </a:pPr>
            <a:r>
              <a:rPr lang="en-US" sz="200" dirty="0"/>
              <a:t> </a:t>
            </a:r>
          </a:p>
          <a:p>
            <a:pPr>
              <a:buNone/>
            </a:pPr>
            <a:r>
              <a:rPr lang="en-US" sz="1000" b="1" dirty="0">
                <a:solidFill>
                  <a:srgbClr val="EC4899"/>
                </a:solidFill>
              </a:rPr>
              <a:t>// Mass assignment protection</a:t>
            </a:r>
          </a:p>
          <a:p>
            <a:pPr>
              <a:buNone/>
            </a:pPr>
            <a:r>
              <a:rPr lang="en-US" sz="1000" dirty="0">
                <a:solidFill>
                  <a:srgbClr val="94A3B8"/>
                </a:solidFill>
              </a:rPr>
              <a:t>// Always use DTOs — NEVER bind to</a:t>
            </a:r>
          </a:p>
          <a:p>
            <a:pPr>
              <a:buNone/>
            </a:pPr>
            <a:r>
              <a:rPr lang="en-US" sz="1000" dirty="0">
                <a:solidFill>
                  <a:srgbClr val="94A3B8"/>
                </a:solidFill>
              </a:rPr>
              <a:t>// domain entities directly!</a:t>
            </a:r>
          </a:p>
        </p:txBody>
      </p:sp>
    </p:spTree>
    <p:extLst>
      <p:ext uri="{BB962C8B-B14F-4D97-AF65-F5344CB8AC3E}">
        <p14:creationId xmlns:p14="http://schemas.microsoft.com/office/powerpoint/2010/main" val="194608334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Authentication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sz="1500" b="1" dirty="0">
                <a:solidFill>
                  <a:srgbClr val="00D4FF"/>
                </a:solidFill>
              </a:rPr>
              <a:t>🔒 AuthN vs AuthZ</a:t>
            </a:r>
          </a:p>
          <a:p>
            <a:pPr marL="228600" indent="-228600">
              <a:buChar char="▸"/>
            </a:pPr>
            <a:r>
              <a:rPr lang="en-US" sz="1300" dirty="0">
                <a:solidFill>
                  <a:srgbClr val="94A3B8"/>
                </a:solidFill>
              </a:rPr>
              <a:t>Authentication (AuthN): WHO are you? — verify identity (JWT, Cookie, API Key)</a:t>
            </a:r>
          </a:p>
          <a:p>
            <a:pPr marL="228600" indent="-228600">
              <a:buChar char="▸"/>
            </a:pPr>
            <a:r>
              <a:rPr lang="en-US" sz="1300" dirty="0">
                <a:solidFill>
                  <a:srgbClr val="94A3B8"/>
                </a:solidFill>
              </a:rPr>
              <a:t>Authorization (AuthZ): WHAT can you do? — verify permissions (roles, claims, policies)</a:t>
            </a:r>
          </a:p>
          <a:p>
            <a:pPr>
              <a:buNone/>
            </a:pPr>
            <a:r>
              <a:rPr lang="en-US" sz="200" dirty="0"/>
              <a:t> </a:t>
            </a:r>
          </a:p>
          <a:p>
            <a:pPr>
              <a:buNone/>
            </a:pPr>
            <a:r>
              <a:rPr lang="en-US" sz="1500" b="1" dirty="0">
                <a:solidFill>
                  <a:srgbClr val="7C3AED"/>
                </a:solidFill>
              </a:rPr>
              <a:t>🗹 JWT Authentication Setup</a:t>
            </a:r>
          </a:p>
          <a:p>
            <a:pPr marL="228600" indent="-228600">
              <a:buChar char="▸"/>
            </a:pPr>
            <a:r>
              <a:rPr lang="en-US" sz="1300" dirty="0">
                <a:solidFill>
                  <a:srgbClr val="94A3B8"/>
                </a:solidFill>
              </a:rPr>
              <a:t>NuGet: Microsoft.AspNetCore.Authentication.JwtBearer</a:t>
            </a:r>
          </a:p>
          <a:p>
            <a:pPr marL="228600" indent="-228600">
              <a:buChar char="▸"/>
            </a:pPr>
            <a:r>
              <a:rPr lang="en-US" sz="1300" dirty="0">
                <a:solidFill>
                  <a:srgbClr val="94A3B8"/>
                </a:solidFill>
              </a:rPr>
              <a:t>Validates: Issuer, Audience, Lifetime, Signature (HMAC-SHA256 or RSA)</a:t>
            </a:r>
          </a:p>
          <a:p>
            <a:pPr marL="228600" indent="-228600">
              <a:buChar char="▸"/>
            </a:pPr>
            <a:r>
              <a:rPr lang="en-US" sz="1300" dirty="0">
                <a:solidFill>
                  <a:srgbClr val="94A3B8"/>
                </a:solidFill>
              </a:rPr>
              <a:t>Access claims via HttpContext.User.FindFirst("sub") or User.Identity.Name</a:t>
            </a:r>
          </a:p>
          <a:p>
            <a:pPr>
              <a:buNone/>
            </a:pPr>
            <a:r>
              <a:rPr lang="en-US" sz="200" dirty="0"/>
              <a:t> </a:t>
            </a:r>
          </a:p>
          <a:p>
            <a:pPr>
              <a:buNone/>
            </a:pPr>
            <a:r>
              <a:rPr lang="en-US" sz="1400" b="1" dirty="0">
                <a:solidFill>
                  <a:srgbClr val="10B981"/>
                </a:solidFill>
              </a:rPr>
              <a:t>💡 Refresh tokens</a:t>
            </a:r>
            <a:r>
              <a:rPr lang="en-US" sz="1300" dirty="0">
                <a:solidFill>
                  <a:srgbClr val="CBD5E1"/>
                </a:solidFill>
              </a:rPr>
              <a:t>  Short-lived access (15min) + long-lived refresh (7d) stored in HttpOnly cookie</a:t>
            </a:r>
          </a:p>
        </p:txBody>
      </p:sp>
      <p:sp>
        <p:nvSpPr>
          <p:cNvPr id="20" name="CodeBox"/>
          <p:cNvSpPr>
            <a:spLocks noGrp="1"/>
          </p:cNvSpPr>
          <p:nvPr/>
        </p:nvSpPr>
        <p:spPr>
          <a:xfrm>
            <a:off x="3600000" y="914400"/>
            <a:ext cx="5100000" cy="460000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12700">
            <a:solidFill>
              <a:srgbClr val="7C3AED"/>
            </a:solidFill>
          </a:ln>
        </p:spPr>
        <p:txBody>
          <a:bodyPr lIns="182880" tIns="182880" rIns="182880" bIns="182880"/>
          <a:lstStyle/>
          <a:p>
            <a:pPr>
              <a:buNone/>
            </a:pPr>
            <a:r>
              <a:rPr lang="en-US" sz="1000" dirty="0">
                <a:solidFill>
                  <a:srgbClr val="64748B"/>
                </a:solidFill>
              </a:rPr>
              <a:t>// Program.cs — JWT Bearer setup</a:t>
            </a:r>
          </a:p>
          <a:p>
            <a:pPr>
              <a:buNone/>
            </a:pPr>
            <a:r>
              <a:rPr lang="en-US" sz="1000" dirty="0">
                <a:solidFill>
                  <a:srgbClr val="94A3B8"/>
                </a:solidFill>
              </a:rPr>
              <a:t>builder.Services.AddAuthentication(</a:t>
            </a:r>
          </a:p>
          <a:p>
            <a:pPr>
              <a:buNone/>
            </a:pPr>
            <a:r>
              <a:rPr lang="en-US" sz="1000" dirty="0">
                <a:solidFill>
                  <a:srgbClr val="94A3B8"/>
                </a:solidFill>
              </a:rPr>
              <a:t>    JwtBearerDefaults.AuthenticationScheme)</a:t>
            </a:r>
          </a:p>
          <a:p>
            <a:pPr>
              <a:buNone/>
            </a:pPr>
            <a:r>
              <a:rPr lang="en-US" sz="1000" dirty="0">
                <a:solidFill>
                  <a:srgbClr val="94A3B8"/>
                </a:solidFill>
              </a:rPr>
              <a:t>    .AddJwtBearer(options =&gt; {</a:t>
            </a:r>
          </a:p>
          <a:p>
            <a:pPr>
              <a:buNone/>
            </a:pPr>
            <a:r>
              <a:rPr lang="en-US" sz="1000" dirty="0">
                <a:solidFill>
                  <a:srgbClr val="94A3B8"/>
                </a:solidFill>
              </a:rPr>
              <a:t>        options.TokenValidationParameters = new() {</a:t>
            </a:r>
          </a:p>
          <a:p>
            <a:pPr>
              <a:buNone/>
            </a:pPr>
            <a:r>
              <a:rPr lang="en-US" sz="1000" dirty="0">
                <a:solidFill>
                  <a:srgbClr val="10B981"/>
                </a:solidFill>
              </a:rPr>
              <a:t>            ValidateIssuer = true,</a:t>
            </a:r>
          </a:p>
          <a:p>
            <a:pPr>
              <a:buNone/>
            </a:pPr>
            <a:r>
              <a:rPr lang="en-US" sz="1000" dirty="0">
                <a:solidFill>
                  <a:srgbClr val="10B981"/>
                </a:solidFill>
              </a:rPr>
              <a:t>            ValidateAudience = true,</a:t>
            </a:r>
          </a:p>
          <a:p>
            <a:pPr>
              <a:buNone/>
            </a:pPr>
            <a:r>
              <a:rPr lang="en-US" sz="1000" dirty="0">
                <a:solidFill>
                  <a:srgbClr val="10B981"/>
                </a:solidFill>
              </a:rPr>
              <a:t>            ValidateLifetime = true,</a:t>
            </a:r>
          </a:p>
          <a:p>
            <a:pPr>
              <a:buNone/>
            </a:pPr>
            <a:r>
              <a:rPr lang="en-US" sz="1000" dirty="0">
                <a:solidFill>
                  <a:srgbClr val="10B981"/>
                </a:solidFill>
              </a:rPr>
              <a:t>            ValidateIssuerSigningKey = true,</a:t>
            </a:r>
          </a:p>
          <a:p>
            <a:pPr>
              <a:buNone/>
            </a:pPr>
            <a:r>
              <a:rPr lang="en-US" sz="1000" dirty="0">
                <a:solidFill>
                  <a:srgbClr val="10B981"/>
                </a:solidFill>
              </a:rPr>
              <a:t>            ValidIssuer = config["Jwt:Issuer"],</a:t>
            </a:r>
          </a:p>
          <a:p>
            <a:pPr>
              <a:buNone/>
            </a:pPr>
            <a:r>
              <a:rPr lang="en-US" sz="1000" dirty="0">
                <a:solidFill>
                  <a:srgbClr val="10B981"/>
                </a:solidFill>
              </a:rPr>
              <a:t>            ValidAudience = config["Jwt:Audience"],</a:t>
            </a:r>
          </a:p>
          <a:p>
            <a:pPr>
              <a:buNone/>
            </a:pPr>
            <a:r>
              <a:rPr lang="en-US" sz="1000" dirty="0">
                <a:solidFill>
                  <a:srgbClr val="F59E0B"/>
                </a:solidFill>
              </a:rPr>
              <a:t>            IssuerSigningKey = new SymmetricSecurityKey(</a:t>
            </a:r>
          </a:p>
          <a:p>
            <a:pPr>
              <a:buNone/>
            </a:pPr>
            <a:r>
              <a:rPr lang="en-US" sz="1000" dirty="0">
                <a:solidFill>
                  <a:srgbClr val="F59E0B"/>
                </a:solidFill>
              </a:rPr>
              <a:t>                Encoding.UTF8.GetBytes(config["Jwt:Key"]))</a:t>
            </a:r>
          </a:p>
          <a:p>
            <a:pPr>
              <a:buNone/>
            </a:pPr>
            <a:r>
              <a:rPr lang="en-US" sz="1000" dirty="0">
                <a:solidFill>
                  <a:srgbClr val="94A3B8"/>
                </a:solidFill>
              </a:rPr>
              <a:t>        };</a:t>
            </a:r>
          </a:p>
          <a:p>
            <a:pPr>
              <a:buNone/>
            </a:pPr>
            <a:r>
              <a:rPr lang="en-US" sz="1000" dirty="0">
                <a:solidFill>
                  <a:srgbClr val="94A3B8"/>
                </a:solidFill>
              </a:rPr>
              <a:t>    });</a:t>
            </a:r>
          </a:p>
        </p:txBody>
      </p:sp>
    </p:spTree>
    <p:extLst>
      <p:ext uri="{BB962C8B-B14F-4D97-AF65-F5344CB8AC3E}">
        <p14:creationId xmlns:p14="http://schemas.microsoft.com/office/powerpoint/2010/main" val="272768205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Authorization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00D9FF"/>
                </a:solidFill>
              </a:rPr>
              <a:t>Definition</a:t>
            </a:r>
            <a:r>
              <a:rPr lang="en-US" dirty="0"/>
              <a:t>: Decides WHAT an authenticated user can do.</a:t>
            </a:r>
          </a:p>
          <a:p>
            <a:r>
              <a:rPr lang="en-US" b="1" dirty="0">
                <a:solidFill>
                  <a:srgbClr val="00D9FF"/>
                </a:solidFill>
              </a:rPr>
              <a:t>Role-based</a:t>
            </a:r>
            <a:r>
              <a:rPr lang="en-US" dirty="0"/>
              <a:t>: [Authorize(Roles = "Admin,Manager")] — coarse-grained.</a:t>
            </a:r>
          </a:p>
          <a:p>
            <a:r>
              <a:rPr lang="en-US" b="1" dirty="0">
                <a:solidFill>
                  <a:srgbClr val="00D9FF"/>
                </a:solidFill>
              </a:rPr>
              <a:t>Policy-based</a:t>
            </a:r>
            <a:r>
              <a:rPr lang="en-US" dirty="0"/>
              <a:t>: AddPolicy("Adult", p =&gt; p.RequireClaim("age", "18+")) — flexible.</a:t>
            </a:r>
          </a:p>
          <a:p>
            <a:r>
              <a:rPr lang="en-US" b="1" dirty="0">
                <a:solidFill>
                  <a:srgbClr val="00D9FF"/>
                </a:solidFill>
              </a:rPr>
              <a:t>Resource-based</a:t>
            </a:r>
            <a:r>
              <a:rPr lang="en-US" dirty="0"/>
              <a:t>: IAuthorizationService.AuthorizeAsync(user, resource, policy)</a:t>
            </a:r>
          </a:p>
          <a:p>
            <a:r>
              <a:rPr lang="en-US" b="1" dirty="0">
                <a:solidFill>
                  <a:srgbClr val="39FF14"/>
                </a:solidFill>
              </a:rPr>
              <a:t>Best practice</a:t>
            </a:r>
            <a:r>
              <a:rPr lang="en-US" dirty="0"/>
              <a:t>: Prefer policies over hardcoded role checks — easier to audit and change.</a:t>
            </a:r>
          </a:p>
        </p:txBody>
      </p:sp>
    </p:spTree>
    <p:extLst>
      <p:ext uri="{BB962C8B-B14F-4D97-AF65-F5344CB8AC3E}">
        <p14:creationId xmlns:p14="http://schemas.microsoft.com/office/powerpoint/2010/main" val="78084436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457200" y="152400"/>
            <a:ext cx="8229600" cy="457200"/>
          </a:xfrm>
          <a:prstGeom prst="roundRect">
            <a:avLst>
              <a:gd name="adj" fmla="val 8000"/>
            </a:avLst>
          </a:prstGeom>
          <a:solidFill>
            <a:srgbClr val="0A0E1A"/>
          </a:solidFill>
          <a:ln w="19050">
            <a:solidFill>
              <a:srgbClr val="0A0E1A"/>
            </a:solidFill>
          </a:ln>
        </p:spPr>
        <p:txBody>
          <a:bodyPr lIns="91440" tIns="45720" rIns="91440" bIns="45720"/>
          <a:lstStyle/>
          <a:p>
            <a:pPr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🔑 Role-Based Authorization Model</a:t>
            </a:r>
          </a:p>
        </p:txBody>
      </p:sp>
      <p:sp>
        <p:nvSpPr>
          <p:cNvPr id="10" name="Req"/>
          <p:cNvSpPr>
            <a:spLocks noGrp="1"/>
          </p:cNvSpPr>
          <p:nvPr/>
        </p:nvSpPr>
        <p:spPr>
          <a:xfrm>
            <a:off x="457200" y="762000"/>
            <a:ext cx="1600200" cy="5334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9050">
            <a:solidFill>
              <a:srgbClr val="00D4FF"/>
            </a:solidFill>
          </a:ln>
        </p:spPr>
        <p:txBody>
          <a:bodyPr lIns="91440" tIns="45720" rIns="91440" bIns="45720"/>
          <a:lstStyle/>
          <a:p>
            <a:pPr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💻 HTTP Request
+ Bearer Token</a:t>
            </a:r>
          </a:p>
        </p:txBody>
      </p:sp>
      <p:sp>
        <p:nvSpPr>
          <p:cNvPr id="11" name="Auth"/>
          <p:cNvSpPr>
            <a:spLocks noGrp="1"/>
          </p:cNvSpPr>
          <p:nvPr/>
        </p:nvSpPr>
        <p:spPr>
          <a:xfrm>
            <a:off x="2133600" y="762000"/>
            <a:ext cx="1828800" cy="5334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9050">
            <a:solidFill>
              <a:srgbClr val="7C3AED"/>
            </a:solidFill>
          </a:ln>
        </p:spPr>
        <p:txBody>
          <a:bodyPr lIns="91440" tIns="45720" rIns="91440" bIns="45720"/>
          <a:lstStyle/>
          <a:p>
            <a:pPr algn="ctr">
              <a:buNone/>
            </a:pPr>
            <a:r>
              <a:rPr lang="en-US" sz="1100" b="0" dirty="0">
                <a:solidFill>
                  <a:srgbClr val="FFFFFF"/>
                </a:solidFill>
              </a:rPr>
              <a:t>🔒 Authentication
Middleware
(JWT Validation)</a:t>
            </a:r>
          </a:p>
        </p:txBody>
      </p:sp>
      <p:sp>
        <p:nvSpPr>
          <p:cNvPr id="12" name="Authz"/>
          <p:cNvSpPr>
            <a:spLocks noGrp="1"/>
          </p:cNvSpPr>
          <p:nvPr/>
        </p:nvSpPr>
        <p:spPr>
          <a:xfrm>
            <a:off x="4114800" y="762000"/>
            <a:ext cx="1828800" cy="5334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txBody>
          <a:bodyPr lIns="91440" tIns="45720" rIns="91440" bIns="45720"/>
          <a:lstStyle/>
          <a:p>
            <a:pPr algn="ctr">
              <a:buNone/>
            </a:pPr>
            <a:r>
              <a:rPr lang="en-US" sz="1100" b="0" dirty="0">
                <a:solidFill>
                  <a:srgbClr val="FFFFFF"/>
                </a:solidFill>
              </a:rPr>
              <a:t>🛡️ Authorization
Filter
([Authorize] checks)</a:t>
            </a:r>
          </a:p>
        </p:txBody>
      </p:sp>
      <p:sp>
        <p:nvSpPr>
          <p:cNvPr id="13" name="Decision"/>
          <p:cNvSpPr>
            <a:spLocks noGrp="1"/>
          </p:cNvSpPr>
          <p:nvPr/>
        </p:nvSpPr>
        <p:spPr>
          <a:xfrm>
            <a:off x="6096000" y="762000"/>
            <a:ext cx="1371600" cy="5334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txBody>
          <a:bodyPr lIns="91440" tIns="45720" rIns="91440" bIns="45720"/>
          <a:lstStyle/>
          <a:p>
            <a:pPr algn="ctr">
              <a:buNone/>
            </a:pPr>
            <a:r>
              <a:rPr lang="en-US" sz="1100" b="0" dirty="0">
                <a:solidFill>
                  <a:srgbClr val="FFFFFF"/>
                </a:solidFill>
              </a:rPr>
              <a:t>✅ Allow
or
❌ Deny</a:t>
            </a:r>
          </a:p>
        </p:txBody>
      </p:sp>
      <p:sp>
        <p:nvSpPr>
          <p:cNvPr id="20" name="A1"/>
          <p:cNvSpPr>
            <a:spLocks noGrp="1"/>
          </p:cNvSpPr>
          <p:nvPr/>
        </p:nvSpPr>
        <p:spPr>
          <a:xfrm>
            <a:off x="1600200" y="914400"/>
            <a:ext cx="533400" cy="2286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9050">
            <a:solidFill>
              <a:srgbClr val="00D4FF"/>
            </a:solidFill>
          </a:ln>
        </p:spPr>
        <p:txBody>
          <a:bodyPr lIns="91440" tIns="45720" rIns="91440" bIns="45720"/>
          <a:lstStyle/>
          <a:p>
            <a:pPr algn="ctr">
              <a:buNone/>
            </a:pPr>
            <a:r>
              <a:rPr lang="en-US" sz="800" b="0" dirty="0">
                <a:solidFill>
                  <a:srgbClr val="FFFFFF"/>
                </a:solidFill>
              </a:rPr>
              <a:t>►</a:t>
            </a:r>
          </a:p>
        </p:txBody>
      </p:sp>
      <p:sp>
        <p:nvSpPr>
          <p:cNvPr id="21" name="A2"/>
          <p:cNvSpPr>
            <a:spLocks noGrp="1"/>
          </p:cNvSpPr>
          <p:nvPr/>
        </p:nvSpPr>
        <p:spPr>
          <a:xfrm>
            <a:off x="3962400" y="914400"/>
            <a:ext cx="152400" cy="2286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9050">
            <a:solidFill>
              <a:srgbClr val="7C3AED"/>
            </a:solidFill>
          </a:ln>
        </p:spPr>
        <p:txBody>
          <a:bodyPr lIns="91440" tIns="45720" rIns="91440" bIns="45720"/>
          <a:lstStyle/>
          <a:p>
            <a:pPr algn="ctr">
              <a:buNone/>
            </a:pPr>
            <a:r>
              <a:rPr lang="en-US" sz="800" b="0" dirty="0">
                <a:solidFill>
                  <a:srgbClr val="FFFFFF"/>
                </a:solidFill>
              </a:rPr>
              <a:t>►</a:t>
            </a:r>
          </a:p>
        </p:txBody>
      </p:sp>
      <p:sp>
        <p:nvSpPr>
          <p:cNvPr id="22" name="A3"/>
          <p:cNvSpPr>
            <a:spLocks noGrp="1"/>
          </p:cNvSpPr>
          <p:nvPr/>
        </p:nvSpPr>
        <p:spPr>
          <a:xfrm>
            <a:off x="5943600" y="914400"/>
            <a:ext cx="152400" cy="2286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txBody>
          <a:bodyPr lIns="91440" tIns="45720" rIns="91440" bIns="45720"/>
          <a:lstStyle/>
          <a:p>
            <a:pPr algn="ctr">
              <a:buNone/>
            </a:pPr>
            <a:r>
              <a:rPr lang="en-US" sz="800" b="0" dirty="0">
                <a:solidFill>
                  <a:srgbClr val="FFFFFF"/>
                </a:solidFill>
              </a:rPr>
              <a:t>►</a:t>
            </a:r>
          </a:p>
        </p:txBody>
      </p:sp>
      <p:sp>
        <p:nvSpPr>
          <p:cNvPr id="30" name="RolesH"/>
          <p:cNvSpPr>
            <a:spLocks noGrp="1"/>
          </p:cNvSpPr>
          <p:nvPr/>
        </p:nvSpPr>
        <p:spPr>
          <a:xfrm>
            <a:off x="457200" y="1676400"/>
            <a:ext cx="8229600" cy="304800"/>
          </a:xfrm>
          <a:prstGeom prst="roundRect">
            <a:avLst>
              <a:gd name="adj" fmla="val 8000"/>
            </a:avLst>
          </a:prstGeom>
          <a:solidFill>
            <a:srgbClr val="0A0E1A"/>
          </a:solidFill>
          <a:ln w="19050">
            <a:solidFill>
              <a:srgbClr val="0A0E1A"/>
            </a:solidFill>
          </a:ln>
        </p:spPr>
        <p:txBody>
          <a:bodyPr lIns="91440" tIns="45720" rIns="91440" bIns="45720"/>
          <a:lstStyle/>
          <a:p>
            <a:pPr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ROLE EXAMPLES — Define in JWT claims, seed in Identity DB</a:t>
            </a:r>
          </a:p>
        </p:txBody>
      </p:sp>
      <p:sp>
        <p:nvSpPr>
          <p:cNvPr id="31" name="Admin"/>
          <p:cNvSpPr>
            <a:spLocks noGrp="1"/>
          </p:cNvSpPr>
          <p:nvPr/>
        </p:nvSpPr>
        <p:spPr>
          <a:xfrm>
            <a:off x="457200" y="2057400"/>
            <a:ext cx="1828800" cy="1295400"/>
          </a:xfrm>
          <a:prstGeom prst="roundRect">
            <a:avLst>
              <a:gd name="adj" fmla="val 8000"/>
            </a:avLst>
          </a:prstGeom>
          <a:solidFill>
            <a:srgbClr val="1A0A1F"/>
          </a:solidFill>
          <a:ln w="19050">
            <a:solidFill>
              <a:srgbClr val="7C3AED"/>
            </a:solidFill>
          </a:ln>
        </p:spPr>
        <p:txBody>
          <a:bodyPr lIns="91440" tIns="45720" rIns="91440" bIns="45720"/>
          <a:lstStyle/>
          <a:p>
            <a:pPr algn="ctr">
              <a:buNone/>
            </a:pPr>
            <a:r>
              <a:rPr lang="en-US" sz="1000" b="0" dirty="0">
                <a:solidFill>
                  <a:srgbClr val="FFFFFF"/>
                </a:solidFill>
              </a:rPr>
              <a:t>[Authorize(
Roles = "Admin")]
Full CRUD
Delete records
Manage users</a:t>
            </a:r>
          </a:p>
        </p:txBody>
      </p:sp>
      <p:sp>
        <p:nvSpPr>
          <p:cNvPr id="32" name="Manager"/>
          <p:cNvSpPr>
            <a:spLocks noGrp="1"/>
          </p:cNvSpPr>
          <p:nvPr/>
        </p:nvSpPr>
        <p:spPr>
          <a:xfrm>
            <a:off x="2438400" y="2057400"/>
            <a:ext cx="1828800" cy="1295400"/>
          </a:xfrm>
          <a:prstGeom prst="roundRect">
            <a:avLst>
              <a:gd name="adj" fmla="val 8000"/>
            </a:avLst>
          </a:prstGeom>
          <a:solidFill>
            <a:srgbClr val="0A1F1A"/>
          </a:solidFill>
          <a:ln w="19050">
            <a:solidFill>
              <a:srgbClr val="10B981"/>
            </a:solidFill>
          </a:ln>
        </p:spPr>
        <p:txBody>
          <a:bodyPr lIns="91440" tIns="45720" rIns="91440" bIns="45720"/>
          <a:lstStyle/>
          <a:p>
            <a:pPr algn="ctr">
              <a:buNone/>
            </a:pPr>
            <a:r>
              <a:rPr lang="en-US" sz="1000" b="0" dirty="0">
                <a:solidFill>
                  <a:srgbClr val="FFFFFF"/>
                </a:solidFill>
              </a:rPr>
              <a:t>[Authorize(
Roles = "Manager")]
Read + Write
View reports
Approve orders</a:t>
            </a:r>
          </a:p>
        </p:txBody>
      </p:sp>
      <p:sp>
        <p:nvSpPr>
          <p:cNvPr id="33" name="User"/>
          <p:cNvSpPr>
            <a:spLocks noGrp="1"/>
          </p:cNvSpPr>
          <p:nvPr/>
        </p:nvSpPr>
        <p:spPr>
          <a:xfrm>
            <a:off x="4419600" y="2057400"/>
            <a:ext cx="1828800" cy="1295400"/>
          </a:xfrm>
          <a:prstGeom prst="roundRect">
            <a:avLst>
              <a:gd name="adj" fmla="val 8000"/>
            </a:avLst>
          </a:prstGeom>
          <a:solidFill>
            <a:srgbClr val="0A1528"/>
          </a:solidFill>
          <a:ln w="19050">
            <a:solidFill>
              <a:srgbClr val="00D4FF"/>
            </a:solidFill>
          </a:ln>
        </p:spPr>
        <p:txBody>
          <a:bodyPr lIns="91440" tIns="45720" rIns="91440" bIns="45720"/>
          <a:lstStyle/>
          <a:p>
            <a:pPr algn="ctr">
              <a:buNone/>
            </a:pPr>
            <a:r>
              <a:rPr lang="en-US" sz="1000" b="0" dirty="0">
                <a:solidFill>
                  <a:srgbClr val="FFFFFF"/>
                </a:solidFill>
              </a:rPr>
              <a:t>[Authorize(
Roles = "User")]
Read own data
Place orders
View profile</a:t>
            </a:r>
          </a:p>
        </p:txBody>
      </p:sp>
      <p:sp>
        <p:nvSpPr>
          <p:cNvPr id="34" name="Guest"/>
          <p:cNvSpPr>
            <a:spLocks noGrp="1"/>
          </p:cNvSpPr>
          <p:nvPr/>
        </p:nvSpPr>
        <p:spPr>
          <a:xfrm>
            <a:off x="6400800" y="2057400"/>
            <a:ext cx="1828800" cy="1295400"/>
          </a:xfrm>
          <a:prstGeom prst="roundRect">
            <a:avLst>
              <a:gd name="adj" fmla="val 8000"/>
            </a:avLst>
          </a:prstGeom>
          <a:solidFill>
            <a:srgbClr val="1A1A0A"/>
          </a:solidFill>
          <a:ln w="19050">
            <a:solidFill>
              <a:srgbClr val="F59E0B"/>
            </a:solidFill>
          </a:ln>
        </p:spPr>
        <p:txBody>
          <a:bodyPr lIns="91440" tIns="45720" rIns="91440" bIns="45720"/>
          <a:lstStyle/>
          <a:p>
            <a:pPr algn="ctr">
              <a:buNone/>
            </a:pPr>
            <a:r>
              <a:rPr lang="en-US" sz="1000" b="0" dirty="0">
                <a:solidFill>
                  <a:srgbClr val="FFFFFF"/>
                </a:solidFill>
              </a:rPr>
              <a:t>[AllowAnonymous]
Public endpoints
Product catalog
Search only</a:t>
            </a:r>
          </a:p>
        </p:txBody>
      </p:sp>
      <p:sp>
        <p:nvSpPr>
          <p:cNvPr id="40" name="Policy"/>
          <p:cNvSpPr>
            <a:spLocks noGrp="1"/>
          </p:cNvSpPr>
          <p:nvPr/>
        </p:nvSpPr>
        <p:spPr>
          <a:xfrm>
            <a:off x="457200" y="3429000"/>
            <a:ext cx="8229600" cy="3800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9050">
            <a:solidFill>
              <a:srgbClr val="EC4899"/>
            </a:solidFill>
          </a:ln>
        </p:spPr>
        <p:txBody>
          <a:bodyPr lIns="91440" tIns="45720" rIns="91440" bIns="45720"/>
          <a:lstStyle/>
          <a:p>
            <a:pPr algn="ctr">
              <a:buNone/>
            </a:pPr>
            <a:r>
              <a:rPr lang="en-US" sz="1050" b="0" dirty="0">
                <a:solidFill>
                  <a:srgbClr val="FFFFFF"/>
                </a:solidFill>
              </a:rPr>
              <a:t>⚡ Advanced: Policy-based auth → builder.Services.AddAuthorization(o =&gt; o.AddPolicy("MinAge", p =&gt; p.RequireClaim("age")))  +  [Authorize(Policy="MinAge")]</a:t>
            </a:r>
          </a:p>
        </p:txBody>
      </p:sp>
    </p:spTree>
    <p:extLst>
      <p:ext uri="{BB962C8B-B14F-4D97-AF65-F5344CB8AC3E}">
        <p14:creationId xmlns:p14="http://schemas.microsoft.com/office/powerpoint/2010/main" val="46589855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83E735-2EE1-310C-F456-9D358D31A6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Lab 6: Roles + [Authorize]</a:t>
            </a:r>
          </a:p>
        </p:txBody>
      </p:sp>
      <p:sp>
        <p:nvSpPr>
          <p:cNvPr id="2000" name="Pill"/>
          <p:cNvSpPr/>
          <p:nvPr/>
        </p:nvSpPr>
        <p:spPr>
          <a:xfrm>
            <a:off x="7112000" y="635000"/>
            <a:ext cx="1143000" cy="355600"/>
          </a:xfrm>
          <a:prstGeom prst="roundRect">
            <a:avLst>
              <a:gd name="adj" fmla="val 50000"/>
            </a:avLst>
          </a:prstGeom>
          <a:solidFill>
            <a:srgbClr val="FF79C6"/>
          </a:solidFill>
          <a:ln>
            <a:noFill/>
          </a:ln>
        </p:spPr>
        <p:txBody>
          <a:bodyPr lIns="0" tIns="0" rIns="0" bIns="0" anchor="ctr" anchorCtr="1"/>
          <a:lstStyle/>
          <a:p>
            <a:pPr algn="ctr">
              <a:buNone/>
            </a:pPr>
            <a:r>
              <a:rPr lang="en-US" sz="1200" b="1" dirty="0">
                <a:solidFill>
                  <a:srgbClr val="0D1117"/>
                </a:solidFill>
              </a:rPr>
              <a:t>LAB</a:t>
            </a:r>
          </a:p>
        </p:txBody>
      </p:sp>
      <p:sp>
        <p:nvSpPr>
          <p:cNvPr id="2001" name="Pill"/>
          <p:cNvSpPr/>
          <p:nvPr/>
        </p:nvSpPr>
        <p:spPr>
          <a:xfrm>
            <a:off x="7112000" y="1041400"/>
            <a:ext cx="1143000" cy="279400"/>
          </a:xfrm>
          <a:prstGeom prst="roundRect">
            <a:avLst>
              <a:gd name="adj" fmla="val 50000"/>
            </a:avLst>
          </a:prstGeom>
          <a:solidFill>
            <a:srgbClr val="161B22"/>
          </a:solidFill>
          <a:ln>
            <a:noFill/>
          </a:ln>
        </p:spPr>
        <p:txBody>
          <a:bodyPr lIns="0" tIns="0" rIns="0" bIns="0" anchor="ctr" anchorCtr="1"/>
          <a:lstStyle/>
          <a:p>
            <a:pPr algn="ctr">
              <a:buNone/>
            </a:pPr>
            <a:r>
              <a:rPr lang="en-US" sz="900" b="1" dirty="0">
                <a:solidFill>
                  <a:srgbClr val="FFB86C"/>
                </a:solidFill>
              </a:rPr>
              <a:t>20 min</a:t>
            </a:r>
          </a:p>
        </p:txBody>
      </p:sp>
      <p:sp>
        <p:nvSpPr>
          <p:cNvPr id="2002" name="Card"/>
          <p:cNvSpPr/>
          <p:nvPr/>
        </p:nvSpPr>
        <p:spPr>
          <a:xfrm>
            <a:off x="508000" y="2222500"/>
            <a:ext cx="3937000" cy="2857500"/>
          </a:xfrm>
          <a:prstGeom prst="roundRect">
            <a:avLst>
              <a:gd name="adj" fmla="val 20000"/>
            </a:avLst>
          </a:prstGeom>
          <a:solidFill>
            <a:srgbClr val="161B22"/>
          </a:solidFill>
          <a:ln w="12700">
            <a:solidFill>
              <a:srgbClr val="39FF1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03" name="Text"/>
          <p:cNvSpPr txBox="1"/>
          <p:nvPr/>
        </p:nvSpPr>
        <p:spPr>
          <a:xfrm>
            <a:off x="508000" y="2222500"/>
            <a:ext cx="3937000" cy="508000"/>
          </a:xfrm>
          <a:prstGeom prst="rect">
            <a:avLst/>
          </a:prstGeom>
          <a:noFill/>
        </p:spPr>
        <p:txBody>
          <a:bodyPr wrap="square" lIns="72000" tIns="54000" rIns="72000" bIns="5400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9FF14"/>
                </a:solidFill>
              </a:rPr>
              <a:t>🎯  GOAL</a:t>
            </a:r>
          </a:p>
        </p:txBody>
      </p:sp>
      <p:sp>
        <p:nvSpPr>
          <p:cNvPr id="2004" name="Text"/>
          <p:cNvSpPr txBox="1"/>
          <p:nvPr/>
        </p:nvSpPr>
        <p:spPr>
          <a:xfrm>
            <a:off x="508000" y="2667000"/>
            <a:ext cx="3937000" cy="2413000"/>
          </a:xfrm>
          <a:prstGeom prst="rect">
            <a:avLst/>
          </a:prstGeom>
          <a:noFill/>
        </p:spPr>
        <p:txBody>
          <a:bodyPr wrap="square" lIns="72000" tIns="54000" rIns="72000" bIns="54000" anchor="t"/>
          <a:lstStyle/>
          <a:p>
            <a:pPr marL="0" indent="0" algn="l">
              <a:buNone/>
            </a:pPr>
            <a:r>
              <a:rPr lang="en-US" sz="1100" b="0" dirty="0">
                <a:solidFill>
                  <a:srgbClr val="E6EDF3"/>
                </a:solidFill>
              </a:rPr>
              <a:t>Lock down endpoints with role-based authorization.</a:t>
            </a:r>
          </a:p>
          <a:p>
            <a:pPr marL="0" indent="0" algn="l">
              <a:buNone/>
            </a:pPr>
            <a:r>
              <a:rPr lang="en-US" sz="1100" b="0" dirty="0">
                <a:solidFill>
                  <a:srgbClr val="E6EDF3"/>
                </a:solidFill>
              </a:rPr>
              <a:t> </a:t>
            </a:r>
          </a:p>
          <a:p>
            <a:pPr marL="0" indent="0" algn="l">
              <a:buNone/>
            </a:pPr>
            <a:r>
              <a:rPr lang="en-US" sz="1100" b="0" dirty="0">
                <a:solidFill>
                  <a:srgbClr val="C9D1D9"/>
                </a:solidFill>
              </a:rPr>
              <a:t>Outcomes:</a:t>
            </a:r>
          </a:p>
          <a:p>
            <a:pPr marL="0" indent="0" algn="l">
              <a:buNone/>
            </a:pPr>
            <a:r>
              <a:rPr lang="en-US" sz="1100" b="0" dirty="0">
                <a:solidFill>
                  <a:srgbClr val="E6EDF3"/>
                </a:solidFill>
              </a:rPr>
              <a:t>• Public reads, protected writes</a:t>
            </a:r>
          </a:p>
          <a:p>
            <a:pPr marL="0" indent="0" algn="l">
              <a:buNone/>
            </a:pPr>
            <a:r>
              <a:rPr lang="en-US" sz="1100" b="0" dirty="0">
                <a:solidFill>
                  <a:srgbClr val="E6EDF3"/>
                </a:solidFill>
              </a:rPr>
              <a:t>• Admin-only DELETE</a:t>
            </a:r>
          </a:p>
          <a:p>
            <a:pPr marL="0" indent="0" algn="l">
              <a:buNone/>
            </a:pPr>
            <a:r>
              <a:rPr lang="en-US" sz="1100" b="0" dirty="0">
                <a:solidFill>
                  <a:srgbClr val="E6EDF3"/>
                </a:solidFill>
              </a:rPr>
              <a:t>• 401 vs 403 understood</a:t>
            </a:r>
          </a:p>
        </p:txBody>
      </p:sp>
      <p:sp>
        <p:nvSpPr>
          <p:cNvPr id="2005" name="Card"/>
          <p:cNvSpPr/>
          <p:nvPr/>
        </p:nvSpPr>
        <p:spPr>
          <a:xfrm>
            <a:off x="4699000" y="2222500"/>
            <a:ext cx="3937000" cy="2857500"/>
          </a:xfrm>
          <a:prstGeom prst="roundRect">
            <a:avLst>
              <a:gd name="adj" fmla="val 20000"/>
            </a:avLst>
          </a:prstGeom>
          <a:solidFill>
            <a:srgbClr val="161B22"/>
          </a:solidFill>
          <a:ln w="12700">
            <a:solidFill>
              <a:srgbClr val="00D9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06" name="Text"/>
          <p:cNvSpPr txBox="1"/>
          <p:nvPr/>
        </p:nvSpPr>
        <p:spPr>
          <a:xfrm>
            <a:off x="4699000" y="2222500"/>
            <a:ext cx="3937000" cy="508000"/>
          </a:xfrm>
          <a:prstGeom prst="rect">
            <a:avLst/>
          </a:prstGeom>
          <a:noFill/>
        </p:spPr>
        <p:txBody>
          <a:bodyPr wrap="square" lIns="72000" tIns="54000" rIns="72000" bIns="5400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D9FF"/>
                </a:solidFill>
              </a:rPr>
              <a:t>🛠  STEPS</a:t>
            </a:r>
          </a:p>
        </p:txBody>
      </p:sp>
      <p:sp>
        <p:nvSpPr>
          <p:cNvPr id="2007" name="Text"/>
          <p:cNvSpPr txBox="1"/>
          <p:nvPr/>
        </p:nvSpPr>
        <p:spPr>
          <a:xfrm>
            <a:off x="4699000" y="2667000"/>
            <a:ext cx="3937000" cy="2413000"/>
          </a:xfrm>
          <a:prstGeom prst="rect">
            <a:avLst/>
          </a:prstGeom>
          <a:noFill/>
        </p:spPr>
        <p:txBody>
          <a:bodyPr wrap="square" lIns="72000" tIns="54000" rIns="72000" bIns="54000" anchor="t"/>
          <a:lstStyle/>
          <a:p>
            <a:pPr marL="0" indent="0" algn="l">
              <a:buNone/>
            </a:pPr>
            <a:r>
              <a:rPr lang="en-US" sz="1100" b="0" dirty="0">
                <a:solidFill>
                  <a:srgbClr val="E6EDF3"/>
                </a:solidFill>
              </a:rPr>
              <a:t>1.  Mark controller [Authorize].</a:t>
            </a:r>
          </a:p>
          <a:p>
            <a:pPr marL="0" indent="0" algn="l">
              <a:buNone/>
            </a:pPr>
            <a:r>
              <a:rPr lang="en-US" sz="1100" b="0" dirty="0">
                <a:solidFill>
                  <a:srgbClr val="E6EDF3"/>
                </a:solidFill>
              </a:rPr>
              <a:t>2.  Add [AllowAnonymous] to GET.</a:t>
            </a:r>
          </a:p>
          <a:p>
            <a:pPr marL="0" indent="0" algn="l">
              <a:buNone/>
            </a:pPr>
            <a:r>
              <a:rPr lang="en-US" sz="1100" b="0" dirty="0">
                <a:solidFill>
                  <a:srgbClr val="E6EDF3"/>
                </a:solidFill>
              </a:rPr>
              <a:t>3.  Add [Authorize(Roles="Admin")] to DELETE.</a:t>
            </a:r>
          </a:p>
          <a:p>
            <a:pPr marL="0" indent="0" algn="l">
              <a:buNone/>
            </a:pPr>
            <a:r>
              <a:rPr lang="en-US" sz="1100" b="0" dirty="0">
                <a:solidFill>
                  <a:srgbClr val="E6EDF3"/>
                </a:solidFill>
              </a:rPr>
              <a:t>4.  Define a policy: "CanEdit" in Program.cs.</a:t>
            </a:r>
          </a:p>
          <a:p>
            <a:pPr marL="0" indent="0" algn="l">
              <a:buNone/>
            </a:pPr>
            <a:r>
              <a:rPr lang="en-US" sz="1100" b="0" dirty="0">
                <a:solidFill>
                  <a:srgbClr val="E6EDF3"/>
                </a:solidFill>
              </a:rPr>
              <a:t>5.  Apply [Authorize(Policy="CanEdit")] to PUT.</a:t>
            </a:r>
          </a:p>
          <a:p>
            <a:pPr marL="0" indent="0" algn="l">
              <a:buNone/>
            </a:pPr>
            <a:r>
              <a:rPr lang="en-US" sz="1100" b="0" dirty="0">
                <a:solidFill>
                  <a:srgbClr val="E6EDF3"/>
                </a:solidFill>
              </a:rPr>
              <a:t>6.  Test all 4 cases with different tokens.</a:t>
            </a:r>
          </a:p>
        </p:txBody>
      </p:sp>
      <p:sp>
        <p:nvSpPr>
          <p:cNvPr id="2008" name="Card"/>
          <p:cNvSpPr/>
          <p:nvPr/>
        </p:nvSpPr>
        <p:spPr>
          <a:xfrm>
            <a:off x="508000" y="5270500"/>
            <a:ext cx="8128000" cy="1016000"/>
          </a:xfrm>
          <a:prstGeom prst="roundRect">
            <a:avLst>
              <a:gd name="adj" fmla="val 20000"/>
            </a:avLst>
          </a:prstGeom>
          <a:solidFill>
            <a:srgbClr val="161B22"/>
          </a:solidFill>
          <a:ln w="12700">
            <a:solidFill>
              <a:srgbClr val="BD93F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09" name="Text"/>
          <p:cNvSpPr txBox="1"/>
          <p:nvPr/>
        </p:nvSpPr>
        <p:spPr>
          <a:xfrm>
            <a:off x="508000" y="5270500"/>
            <a:ext cx="8128000" cy="1016000"/>
          </a:xfrm>
          <a:prstGeom prst="rect">
            <a:avLst/>
          </a:prstGeom>
          <a:noFill/>
        </p:spPr>
        <p:txBody>
          <a:bodyPr wrap="square" lIns="72000" tIns="54000" rIns="72000" bIns="5400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BD93F9"/>
                </a:solidFill>
              </a:rPr>
              <a:t>✅  CHECKPOINT</a:t>
            </a:r>
          </a:p>
          <a:p>
            <a:pPr marL="0" indent="0" algn="l">
              <a:buNone/>
            </a:pPr>
            <a:r>
              <a:rPr lang="en-US" sz="1000" b="0" dirty="0">
                <a:solidFill>
                  <a:srgbClr val="C9D1D9"/>
                </a:solidFill>
              </a:rPr>
              <a:t>No token → 401. Wrong role → 403. Admin role → 204 on delete. Document why each status code differs.</a:t>
            </a:r>
          </a:p>
        </p:txBody>
      </p:sp>
    </p:spTree>
    <p:extLst>
      <p:ext uri="{BB962C8B-B14F-4D97-AF65-F5344CB8AC3E}">
        <p14:creationId xmlns:p14="http://schemas.microsoft.com/office/powerpoint/2010/main" val="104648833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F9ED6-B25C-64D2-9EF3-4B0674B526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JWT Authentication Flow</a:t>
            </a:r>
          </a:p>
        </p:txBody>
      </p:sp>
      <p:sp>
        <p:nvSpPr>
          <p:cNvPr id="1100" name="J1100"/>
          <p:cNvSpPr/>
          <p:nvPr/>
        </p:nvSpPr>
        <p:spPr>
          <a:xfrm>
            <a:off x="508000" y="2286000"/>
            <a:ext cx="1778000" cy="889000"/>
          </a:xfrm>
          <a:prstGeom prst="roundRect">
            <a:avLst>
              <a:gd name="adj" fmla="val 15000"/>
            </a:avLst>
          </a:prstGeom>
          <a:solidFill>
            <a:srgbClr val="161B22"/>
          </a:solidFill>
          <a:ln w="19050">
            <a:solidFill>
              <a:srgbClr val="00D9FF"/>
            </a:solidFill>
          </a:ln>
        </p:spPr>
        <p:txBody>
          <a:bodyPr lIns="36000" tIns="18000" rIns="36000" bIns="18000" anchor="ctr" anchorCtr="1"/>
          <a:lstStyle/>
          <a:p>
            <a:pPr algn="ctr">
              <a:buNone/>
            </a:pPr>
            <a:r>
              <a:rPr lang="en-US" sz="1100" b="1" dirty="0">
                <a:solidFill>
                  <a:srgbClr val="00D9FF"/>
                </a:solidFill>
              </a:rPr>
              <a:t>CLIENT
(Browser / App)</a:t>
            </a:r>
          </a:p>
        </p:txBody>
      </p:sp>
      <p:sp>
        <p:nvSpPr>
          <p:cNvPr id="1101" name="J1101"/>
          <p:cNvSpPr/>
          <p:nvPr/>
        </p:nvSpPr>
        <p:spPr>
          <a:xfrm>
            <a:off x="6858000" y="2286000"/>
            <a:ext cx="1841500" cy="889000"/>
          </a:xfrm>
          <a:prstGeom prst="roundRect">
            <a:avLst>
              <a:gd name="adj" fmla="val 15000"/>
            </a:avLst>
          </a:prstGeom>
          <a:solidFill>
            <a:srgbClr val="161B22"/>
          </a:solidFill>
          <a:ln w="19050">
            <a:solidFill>
              <a:srgbClr val="39FF14"/>
            </a:solidFill>
          </a:ln>
        </p:spPr>
        <p:txBody>
          <a:bodyPr lIns="36000" tIns="18000" rIns="36000" bIns="18000" anchor="ctr" anchorCtr="1"/>
          <a:lstStyle/>
          <a:p>
            <a:pPr algn="ctr">
              <a:buNone/>
            </a:pPr>
            <a:r>
              <a:rPr lang="en-US" sz="1100" b="1" dirty="0">
                <a:solidFill>
                  <a:srgbClr val="39FF14"/>
                </a:solidFill>
              </a:rPr>
              <a:t>AUTH SERVER
/login</a:t>
            </a:r>
          </a:p>
        </p:txBody>
      </p:sp>
      <p:sp>
        <p:nvSpPr>
          <p:cNvPr id="1102" name="J1102"/>
          <p:cNvSpPr/>
          <p:nvPr/>
        </p:nvSpPr>
        <p:spPr>
          <a:xfrm>
            <a:off x="6858000" y="4445000"/>
            <a:ext cx="1841500" cy="889000"/>
          </a:xfrm>
          <a:prstGeom prst="roundRect">
            <a:avLst>
              <a:gd name="adj" fmla="val 15000"/>
            </a:avLst>
          </a:prstGeom>
          <a:solidFill>
            <a:srgbClr val="161B22"/>
          </a:solidFill>
          <a:ln w="19050">
            <a:solidFill>
              <a:srgbClr val="BD93F9"/>
            </a:solidFill>
          </a:ln>
        </p:spPr>
        <p:txBody>
          <a:bodyPr lIns="36000" tIns="18000" rIns="36000" bIns="18000" anchor="ctr" anchorCtr="1"/>
          <a:lstStyle/>
          <a:p>
            <a:pPr algn="ctr">
              <a:buNone/>
            </a:pPr>
            <a:r>
              <a:rPr lang="en-US" sz="1100" b="1" dirty="0">
                <a:solidFill>
                  <a:srgbClr val="BD93F9"/>
                </a:solidFill>
              </a:rPr>
              <a:t>WEB API
[Authorize]</a:t>
            </a:r>
          </a:p>
        </p:txBody>
      </p:sp>
      <p:cxnSp>
        <p:nvCxnSpPr>
          <p:cNvPr id="1103" name="A1103"/>
          <p:cNvCxnSpPr/>
          <p:nvPr/>
        </p:nvCxnSpPr>
        <p:spPr>
          <a:xfrm>
            <a:off x="2286000" y="2540000"/>
            <a:ext cx="4572000" cy="12700"/>
          </a:xfrm>
          <a:prstGeom prst="straightConnector1">
            <a:avLst/>
          </a:prstGeom>
          <a:ln w="22225">
            <a:solidFill>
              <a:srgbClr val="00D9FF"/>
            </a:solidFill>
            <a:tailEnd type="triangle" w="med" len="med"/>
          </a:ln>
        </p:spPr>
      </p:cxnSp>
      <p:sp>
        <p:nvSpPr>
          <p:cNvPr id="1104" name="T1104"/>
          <p:cNvSpPr txBox="1"/>
          <p:nvPr/>
        </p:nvSpPr>
        <p:spPr>
          <a:xfrm>
            <a:off x="2476500" y="2311400"/>
            <a:ext cx="4318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00D9FF"/>
                </a:solidFill>
              </a:rPr>
              <a:t>1. POST /login  { username, password }</a:t>
            </a:r>
          </a:p>
        </p:txBody>
      </p:sp>
      <p:cxnSp>
        <p:nvCxnSpPr>
          <p:cNvPr id="1105" name="A1105"/>
          <p:cNvCxnSpPr/>
          <p:nvPr/>
        </p:nvCxnSpPr>
        <p:spPr>
          <a:xfrm flipH="1">
            <a:off x="2286000" y="2984500"/>
            <a:ext cx="4572000" cy="12700"/>
          </a:xfrm>
          <a:prstGeom prst="straightConnector1">
            <a:avLst/>
          </a:prstGeom>
          <a:ln w="22225">
            <a:solidFill>
              <a:srgbClr val="39FF14"/>
            </a:solidFill>
            <a:tailEnd type="triangle" w="med" len="med"/>
          </a:ln>
        </p:spPr>
      </p:cxnSp>
      <p:sp>
        <p:nvSpPr>
          <p:cNvPr id="1106" name="T1106"/>
          <p:cNvSpPr txBox="1"/>
          <p:nvPr/>
        </p:nvSpPr>
        <p:spPr>
          <a:xfrm>
            <a:off x="2476500" y="3048000"/>
            <a:ext cx="4318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39FF14"/>
                </a:solidFill>
              </a:rPr>
              <a:t>2. 200 OK  { accessToken, refreshToken }</a:t>
            </a:r>
          </a:p>
        </p:txBody>
      </p:sp>
      <p:sp>
        <p:nvSpPr>
          <p:cNvPr id="1107" name="J1107"/>
          <p:cNvSpPr/>
          <p:nvPr/>
        </p:nvSpPr>
        <p:spPr>
          <a:xfrm>
            <a:off x="508000" y="3556000"/>
            <a:ext cx="1778000" cy="635000"/>
          </a:xfrm>
          <a:prstGeom prst="roundRect">
            <a:avLst>
              <a:gd name="adj" fmla="val 15000"/>
            </a:avLst>
          </a:prstGeom>
          <a:solidFill>
            <a:srgbClr val="0D1117"/>
          </a:solidFill>
          <a:ln w="19050">
            <a:solidFill>
              <a:srgbClr val="F1FA8C"/>
            </a:solidFill>
          </a:ln>
        </p:spPr>
        <p:txBody>
          <a:bodyPr lIns="36000" tIns="18000" rIns="36000" bIns="18000" anchor="ctr" anchorCtr="1"/>
          <a:lstStyle/>
          <a:p>
            <a:pPr algn="ctr">
              <a:buNone/>
            </a:pPr>
            <a:r>
              <a:rPr lang="en-US" sz="900" b="1" dirty="0">
                <a:solidFill>
                  <a:srgbClr val="F1FA8C"/>
                </a:solidFill>
              </a:rPr>
              <a:t>Store token
(localStorage/cookie)</a:t>
            </a:r>
          </a:p>
        </p:txBody>
      </p:sp>
      <p:cxnSp>
        <p:nvCxnSpPr>
          <p:cNvPr id="1108" name="A1108"/>
          <p:cNvCxnSpPr/>
          <p:nvPr/>
        </p:nvCxnSpPr>
        <p:spPr>
          <a:xfrm>
            <a:off x="2286000" y="4762500"/>
            <a:ext cx="4572000" cy="12700"/>
          </a:xfrm>
          <a:prstGeom prst="straightConnector1">
            <a:avLst/>
          </a:prstGeom>
          <a:ln w="22225">
            <a:solidFill>
              <a:srgbClr val="BD93F9"/>
            </a:solidFill>
            <a:tailEnd type="triangle" w="med" len="med"/>
          </a:ln>
        </p:spPr>
      </p:cxnSp>
      <p:sp>
        <p:nvSpPr>
          <p:cNvPr id="1109" name="T1109"/>
          <p:cNvSpPr txBox="1"/>
          <p:nvPr/>
        </p:nvSpPr>
        <p:spPr>
          <a:xfrm>
            <a:off x="2476500" y="4533900"/>
            <a:ext cx="4318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BD93F9"/>
                </a:solidFill>
              </a:rPr>
              <a:t>3. GET /api/data</a:t>
            </a:r>
          </a:p>
        </p:txBody>
      </p:sp>
      <p:sp>
        <p:nvSpPr>
          <p:cNvPr id="1110" name="T1110"/>
          <p:cNvSpPr txBox="1"/>
          <p:nvPr/>
        </p:nvSpPr>
        <p:spPr>
          <a:xfrm>
            <a:off x="2476500" y="4800600"/>
            <a:ext cx="4318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50" b="0" dirty="0">
                <a:solidFill>
                  <a:srgbClr val="FFB86C"/>
                </a:solidFill>
              </a:rPr>
              <a:t>Authorization: Bearer &lt;JWT&gt;</a:t>
            </a:r>
          </a:p>
        </p:txBody>
      </p:sp>
      <p:cxnSp>
        <p:nvCxnSpPr>
          <p:cNvPr id="1111" name="A1111"/>
          <p:cNvCxnSpPr/>
          <p:nvPr/>
        </p:nvCxnSpPr>
        <p:spPr>
          <a:xfrm flipH="1">
            <a:off x="2286000" y="5181600"/>
            <a:ext cx="4572000" cy="12700"/>
          </a:xfrm>
          <a:prstGeom prst="straightConnector1">
            <a:avLst/>
          </a:prstGeom>
          <a:ln w="22225">
            <a:solidFill>
              <a:srgbClr val="39FF14"/>
            </a:solidFill>
            <a:tailEnd type="triangle" w="med" len="med"/>
          </a:ln>
        </p:spPr>
      </p:cxnSp>
      <p:sp>
        <p:nvSpPr>
          <p:cNvPr id="1112" name="T1112"/>
          <p:cNvSpPr txBox="1"/>
          <p:nvPr/>
        </p:nvSpPr>
        <p:spPr>
          <a:xfrm>
            <a:off x="2476500" y="5232400"/>
            <a:ext cx="4318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39FF14"/>
                </a:solidFill>
              </a:rPr>
              <a:t>4. 200 OK  { data }   (token validated)</a:t>
            </a:r>
          </a:p>
        </p:txBody>
      </p:sp>
      <p:sp>
        <p:nvSpPr>
          <p:cNvPr id="1113" name="J1113"/>
          <p:cNvSpPr/>
          <p:nvPr/>
        </p:nvSpPr>
        <p:spPr>
          <a:xfrm>
            <a:off x="508000" y="5715000"/>
            <a:ext cx="8191500" cy="635000"/>
          </a:xfrm>
          <a:prstGeom prst="roundRect">
            <a:avLst>
              <a:gd name="adj" fmla="val 15000"/>
            </a:avLst>
          </a:prstGeom>
          <a:solidFill>
            <a:srgbClr val="161B22"/>
          </a:solidFill>
          <a:ln w="19050">
            <a:solidFill>
              <a:srgbClr val="FF79C6"/>
            </a:solidFill>
          </a:ln>
        </p:spPr>
        <p:txBody>
          <a:bodyPr lIns="36000" tIns="18000" rIns="36000" bIns="18000" anchor="ctr" anchorCtr="1"/>
          <a:lstStyle/>
          <a:p>
            <a:pPr algn="ctr">
              <a:buNone/>
            </a:pPr>
            <a:r>
              <a:rPr lang="en-US" sz="1000" b="1" dirty="0">
                <a:solidFill>
                  <a:srgbClr val="E6EDF3"/>
                </a:solidFill>
              </a:rPr>
              <a:t>JWT = Base64(Header).Base64(Payload).Signature   —   verified with secret/public key on every request</a:t>
            </a:r>
          </a:p>
        </p:txBody>
      </p:sp>
    </p:spTree>
    <p:extLst>
      <p:ext uri="{BB962C8B-B14F-4D97-AF65-F5344CB8AC3E}">
        <p14:creationId xmlns:p14="http://schemas.microsoft.com/office/powerpoint/2010/main" val="33060388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Token-Based Authentication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00D9FF"/>
                </a:solidFill>
              </a:rPr>
              <a:t>What is JWT</a:t>
            </a:r>
            <a:r>
              <a:rPr lang="en-US" dirty="0"/>
              <a:t>: Compact, signed JSON token — three Base64URL parts separated by dots.</a:t>
            </a:r>
          </a:p>
          <a:p>
            <a:r>
              <a:rPr lang="en-US" b="1" dirty="0">
                <a:solidFill>
                  <a:srgbClr val="00D9FF"/>
                </a:solidFill>
              </a:rPr>
              <a:t>Structure</a:t>
            </a:r>
            <a:r>
              <a:rPr lang="en-US" dirty="0"/>
              <a:t>: Header.Payload.Signature  —  signed with HMAC or RSA.</a:t>
            </a:r>
          </a:p>
          <a:p>
            <a:r>
              <a:rPr lang="en-US" b="1" dirty="0">
                <a:solidFill>
                  <a:srgbClr val="00D9FF"/>
                </a:solidFill>
              </a:rPr>
              <a:t>Stateless</a:t>
            </a:r>
            <a:r>
              <a:rPr lang="en-US" dirty="0"/>
              <a:t>: No server-side session — the token carries claims itself.</a:t>
            </a:r>
          </a:p>
          <a:p>
            <a:r>
              <a:rPr lang="en-US" b="1" dirty="0">
                <a:solidFill>
                  <a:srgbClr val="00D9FF"/>
                </a:solidFill>
              </a:rPr>
              <a:t>Bearer header</a:t>
            </a:r>
            <a:r>
              <a:rPr lang="en-US" dirty="0"/>
              <a:t>: Authorization: Bearer eyJhbGciOi...</a:t>
            </a:r>
          </a:p>
          <a:p>
            <a:r>
              <a:rPr lang="en-US" b="1" dirty="0">
                <a:solidFill>
                  <a:srgbClr val="FF79C6"/>
                </a:solidFill>
              </a:rPr>
              <a:t>Refresh tokens</a:t>
            </a:r>
            <a:r>
              <a:rPr lang="en-US" dirty="0"/>
              <a:t>: Short-lived access (15 min) + long-lived refresh stored securely.</a:t>
            </a:r>
          </a:p>
        </p:txBody>
      </p:sp>
      <p:sp>
        <p:nvSpPr>
          <p:cNvPr id="30" name="JWTLabel"/>
          <p:cNvSpPr>
            <a:spLocks noGrp="1"/>
          </p:cNvSpPr>
          <p:nvPr/>
        </p:nvSpPr>
        <p:spPr>
          <a:xfrm>
            <a:off x="3505800" y="914400"/>
            <a:ext cx="5181000" cy="304800"/>
          </a:xfrm>
          <a:prstGeom prst="roundRect">
            <a:avLst>
              <a:gd name="adj" fmla="val 5000"/>
            </a:avLst>
          </a:prstGeom>
          <a:solidFill>
            <a:srgbClr val="0A0E1A"/>
          </a:solidFill>
          <a:ln w="19050">
            <a:solidFill>
              <a:srgbClr val="0A0E1A"/>
            </a:solidFill>
          </a:ln>
        </p:spPr>
        <p:txBody>
          <a:bodyPr lIns="91440" tIns="45720" rIns="91440" bIns="45720"/>
          <a:lstStyle/>
          <a:p>
            <a:pPr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JWT = Header . Payload . Signature</a:t>
            </a:r>
          </a:p>
        </p:txBody>
      </p:sp>
      <p:sp>
        <p:nvSpPr>
          <p:cNvPr id="31" name="Header"/>
          <p:cNvSpPr>
            <a:spLocks noGrp="1"/>
          </p:cNvSpPr>
          <p:nvPr/>
        </p:nvSpPr>
        <p:spPr>
          <a:xfrm>
            <a:off x="3505800" y="1295400"/>
            <a:ext cx="1600200" cy="533400"/>
          </a:xfrm>
          <a:prstGeom prst="roundRect">
            <a:avLst>
              <a:gd name="adj" fmla="val 5000"/>
            </a:avLst>
          </a:prstGeom>
          <a:solidFill>
            <a:srgbClr val="1A0A2E"/>
          </a:solidFill>
          <a:ln w="19050">
            <a:solidFill>
              <a:srgbClr val="7C3AED"/>
            </a:solidFill>
          </a:ln>
        </p:spPr>
        <p:txBody>
          <a:bodyPr lIns="91440" tIns="45720" rIns="91440" bIns="45720"/>
          <a:lstStyle/>
          <a:p>
            <a:pPr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Header
alg: HS256
typ: JWT</a:t>
            </a:r>
          </a:p>
        </p:txBody>
      </p:sp>
      <p:sp>
        <p:nvSpPr>
          <p:cNvPr id="32" name="Payload"/>
          <p:cNvSpPr>
            <a:spLocks noGrp="1"/>
          </p:cNvSpPr>
          <p:nvPr/>
        </p:nvSpPr>
        <p:spPr>
          <a:xfrm>
            <a:off x="5182200" y="1295400"/>
            <a:ext cx="1600200" cy="533400"/>
          </a:xfrm>
          <a:prstGeom prst="roundRect">
            <a:avLst>
              <a:gd name="adj" fmla="val 5000"/>
            </a:avLst>
          </a:prstGeom>
          <a:solidFill>
            <a:srgbClr val="0A1F1A"/>
          </a:solidFill>
          <a:ln w="19050">
            <a:solidFill>
              <a:srgbClr val="10B981"/>
            </a:solidFill>
          </a:ln>
        </p:spPr>
        <p:txBody>
          <a:bodyPr lIns="91440" tIns="45720" rIns="91440" bIns="45720"/>
          <a:lstStyle/>
          <a:p>
            <a:pPr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Payload
sub, name, role
iat, exp</a:t>
            </a:r>
          </a:p>
        </p:txBody>
      </p:sp>
      <p:sp>
        <p:nvSpPr>
          <p:cNvPr id="33" name="Sig"/>
          <p:cNvSpPr>
            <a:spLocks noGrp="1"/>
          </p:cNvSpPr>
          <p:nvPr/>
        </p:nvSpPr>
        <p:spPr>
          <a:xfrm>
            <a:off x="6858600" y="1295400"/>
            <a:ext cx="1600200" cy="533400"/>
          </a:xfrm>
          <a:prstGeom prst="roundRect">
            <a:avLst>
              <a:gd name="adj" fmla="val 5000"/>
            </a:avLst>
          </a:prstGeom>
          <a:solidFill>
            <a:srgbClr val="1A0A0A"/>
          </a:solidFill>
          <a:ln w="19050">
            <a:solidFill>
              <a:srgbClr val="EF4444"/>
            </a:solidFill>
          </a:ln>
        </p:spPr>
        <p:txBody>
          <a:bodyPr lIns="91440" tIns="45720" rIns="91440" bIns="45720"/>
          <a:lstStyle/>
          <a:p>
            <a:pPr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Signature
HMAC of
Header+Payload</a:t>
            </a:r>
          </a:p>
        </p:txBody>
      </p:sp>
      <p:sp>
        <p:nvSpPr>
          <p:cNvPr id="20" name="JWTCode"/>
          <p:cNvSpPr>
            <a:spLocks noGrp="1"/>
          </p:cNvSpPr>
          <p:nvPr/>
        </p:nvSpPr>
        <p:spPr>
          <a:xfrm>
            <a:off x="3505800" y="1914000"/>
            <a:ext cx="5181000" cy="360000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12700">
            <a:solidFill>
              <a:srgbClr val="7C3AED"/>
            </a:solidFill>
          </a:ln>
        </p:spPr>
        <p:txBody>
          <a:bodyPr lIns="182880" tIns="182880" rIns="182880" bIns="182880"/>
          <a:lstStyle/>
          <a:p>
            <a:pPr>
              <a:buNone/>
            </a:pPr>
            <a:r>
              <a:rPr lang="en-US" sz="1000" dirty="0">
                <a:solidFill>
                  <a:srgbClr val="64748B"/>
                </a:solidFill>
              </a:rPr>
              <a:t>// Generate JWT token</a:t>
            </a:r>
          </a:p>
          <a:p>
            <a:pPr>
              <a:buNone/>
            </a:pPr>
            <a:r>
              <a:rPr lang="en-US" sz="1000" dirty="0">
                <a:solidFill>
                  <a:srgbClr val="94A3B8"/>
                </a:solidFill>
              </a:rPr>
              <a:t>var key = new SymmetricSecurityKey(</a:t>
            </a:r>
          </a:p>
          <a:p>
            <a:pPr>
              <a:buNone/>
            </a:pPr>
            <a:r>
              <a:rPr lang="en-US" sz="1000" dirty="0">
                <a:solidFill>
                  <a:srgbClr val="94A3B8"/>
                </a:solidFill>
              </a:rPr>
              <a:t>    Encoding.UTF8.GetBytes(_config["Jwt:Key"]));</a:t>
            </a:r>
          </a:p>
          <a:p>
            <a:pPr>
              <a:buNone/>
            </a:pPr>
            <a:r>
              <a:rPr lang="en-US" sz="1000" dirty="0">
                <a:solidFill>
                  <a:srgbClr val="94A3B8"/>
                </a:solidFill>
              </a:rPr>
              <a:t>var creds = new SigningCredentials(key,</a:t>
            </a:r>
          </a:p>
          <a:p>
            <a:pPr>
              <a:buNone/>
            </a:pPr>
            <a:r>
              <a:rPr lang="en-US" sz="1000" dirty="0">
                <a:solidFill>
                  <a:srgbClr val="F59E0B"/>
                </a:solidFill>
              </a:rPr>
              <a:t>    SecurityAlgorithms.HmacSha256);</a:t>
            </a:r>
          </a:p>
          <a:p>
            <a:pPr>
              <a:buNone/>
            </a:pPr>
            <a:r>
              <a:rPr lang="en-US" sz="200" dirty="0"/>
              <a:t> </a:t>
            </a:r>
          </a:p>
          <a:p>
            <a:pPr>
              <a:buNone/>
            </a:pPr>
            <a:r>
              <a:rPr lang="en-US" sz="1000" dirty="0">
                <a:solidFill>
                  <a:srgbClr val="94A3B8"/>
                </a:solidFill>
              </a:rPr>
              <a:t>var claims = new[] {</a:t>
            </a:r>
          </a:p>
          <a:p>
            <a:pPr>
              <a:buNone/>
            </a:pPr>
            <a:r>
              <a:rPr lang="en-US" sz="1000" dirty="0">
                <a:solidFill>
                  <a:srgbClr val="10B981"/>
                </a:solidFill>
              </a:rPr>
              <a:t>    new Claim(JwtRegisteredClaimNames.Sub, user.Id),</a:t>
            </a:r>
          </a:p>
          <a:p>
            <a:pPr>
              <a:buNone/>
            </a:pPr>
            <a:r>
              <a:rPr lang="en-US" sz="1000" dirty="0">
                <a:solidFill>
                  <a:srgbClr val="10B981"/>
                </a:solidFill>
              </a:rPr>
              <a:t>    new Claim("role", user.Role),</a:t>
            </a:r>
          </a:p>
          <a:p>
            <a:pPr>
              <a:buNone/>
            </a:pPr>
            <a:r>
              <a:rPr lang="en-US" sz="1000" dirty="0">
                <a:solidFill>
                  <a:srgbClr val="10B981"/>
                </a:solidFill>
              </a:rPr>
              <a:t>    new Claim(JwtRegisteredClaimNames.Jti, Guid.NewGuid().ToString())</a:t>
            </a:r>
          </a:p>
          <a:p>
            <a:pPr>
              <a:buNone/>
            </a:pPr>
            <a:r>
              <a:rPr lang="en-US" sz="1000" dirty="0">
                <a:solidFill>
                  <a:srgbClr val="94A3B8"/>
                </a:solidFill>
              </a:rPr>
              <a:t>};</a:t>
            </a:r>
          </a:p>
          <a:p>
            <a:pPr>
              <a:buNone/>
            </a:pPr>
            <a:r>
              <a:rPr lang="en-US" sz="200" dirty="0"/>
              <a:t> </a:t>
            </a:r>
          </a:p>
          <a:p>
            <a:pPr>
              <a:buNone/>
            </a:pPr>
            <a:r>
              <a:rPr lang="en-US" sz="1000" dirty="0">
                <a:solidFill>
                  <a:srgbClr val="94A3B8"/>
                </a:solidFill>
              </a:rPr>
              <a:t>var token = new JwtSecurityToken(</a:t>
            </a:r>
          </a:p>
          <a:p>
            <a:pPr>
              <a:buNone/>
            </a:pPr>
            <a:r>
              <a:rPr lang="en-US" sz="1000" dirty="0">
                <a:solidFill>
                  <a:srgbClr val="94A3B8"/>
                </a:solidFill>
              </a:rPr>
              <a:t>    issuer: _config["Jwt:Issuer"],</a:t>
            </a:r>
          </a:p>
          <a:p>
            <a:pPr>
              <a:buNone/>
            </a:pPr>
            <a:r>
              <a:rPr lang="en-US" sz="1000" dirty="0">
                <a:solidFill>
                  <a:srgbClr val="94A3B8"/>
                </a:solidFill>
              </a:rPr>
              <a:t>    audience: _config["Jwt:Audience"],</a:t>
            </a:r>
          </a:p>
          <a:p>
            <a:pPr>
              <a:buNone/>
            </a:pPr>
            <a:r>
              <a:rPr lang="en-US" sz="1000" dirty="0">
                <a:solidFill>
                  <a:srgbClr val="7C3AED"/>
                </a:solidFill>
              </a:rPr>
              <a:t>    claims: claims,</a:t>
            </a:r>
          </a:p>
          <a:p>
            <a:pPr>
              <a:buNone/>
            </a:pPr>
            <a:r>
              <a:rPr lang="en-US" sz="1000" dirty="0">
                <a:solidFill>
                  <a:srgbClr val="EF4444"/>
                </a:solidFill>
              </a:rPr>
              <a:t>    expires: DateTime.UtcNow.AddMinutes(15),</a:t>
            </a:r>
          </a:p>
          <a:p>
            <a:pPr>
              <a:buNone/>
            </a:pPr>
            <a:r>
              <a:rPr lang="en-US" sz="1000" dirty="0">
                <a:solidFill>
                  <a:srgbClr val="94A3B8"/>
                </a:solidFill>
              </a:rPr>
              <a:t>    signingCredentials: creds);</a:t>
            </a:r>
          </a:p>
          <a:p>
            <a:pPr>
              <a:buNone/>
            </a:pPr>
            <a:r>
              <a:rPr lang="en-US" sz="1000" dirty="0">
                <a:solidFill>
                  <a:srgbClr val="00D4FF"/>
                </a:solidFill>
              </a:rPr>
              <a:t>return new JwtSecurityTokenHandler().WriteToken(token);</a:t>
            </a:r>
          </a:p>
        </p:txBody>
      </p:sp>
    </p:spTree>
    <p:extLst>
      <p:ext uri="{BB962C8B-B14F-4D97-AF65-F5344CB8AC3E}">
        <p14:creationId xmlns:p14="http://schemas.microsoft.com/office/powerpoint/2010/main" val="234988474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API Authentication/Authorization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00D9FF"/>
                </a:solidFill>
              </a:rPr>
              <a:t>[Authorize]</a:t>
            </a:r>
            <a:r>
              <a:rPr lang="en-US" dirty="0"/>
              <a:t>: Decorate controller or action to require authentication.</a:t>
            </a:r>
          </a:p>
          <a:p>
            <a:r>
              <a:rPr lang="en-US" b="1" dirty="0">
                <a:solidFill>
                  <a:srgbClr val="00D9FF"/>
                </a:solidFill>
              </a:rPr>
              <a:t>[AllowAnonymous]</a:t>
            </a:r>
            <a:r>
              <a:rPr lang="en-US" dirty="0"/>
              <a:t>: Selectively open endpoints (login, register, health).</a:t>
            </a:r>
          </a:p>
          <a:p>
            <a:r>
              <a:rPr lang="en-US" b="1" dirty="0">
                <a:solidFill>
                  <a:srgbClr val="00D9FF"/>
                </a:solidFill>
              </a:rPr>
              <a:t>Scheme order</a:t>
            </a:r>
            <a:r>
              <a:rPr lang="en-US" dirty="0"/>
              <a:t>: UseAuthentication() must come before UseAuthorization().</a:t>
            </a:r>
          </a:p>
          <a:p>
            <a:r>
              <a:rPr lang="en-US" b="1" dirty="0">
                <a:solidFill>
                  <a:srgbClr val="00D9FF"/>
                </a:solidFill>
              </a:rPr>
              <a:t>Claims access</a:t>
            </a:r>
            <a:r>
              <a:rPr lang="en-US" dirty="0"/>
              <a:t>: Read User.Identity.Name and User.Claims inside actions.</a:t>
            </a:r>
          </a:p>
          <a:p>
            <a:r>
              <a:rPr lang="en-US" b="1" dirty="0">
                <a:solidFill>
                  <a:srgbClr val="39FF14"/>
                </a:solidFill>
              </a:rPr>
              <a:t>Tip</a:t>
            </a:r>
            <a:r>
              <a:rPr lang="en-US" dirty="0"/>
              <a:t>: Combine [Authorize(Roles="Admin")] with policies for fine control.</a:t>
            </a:r>
          </a:p>
        </p:txBody>
      </p:sp>
    </p:spTree>
    <p:extLst>
      <p:ext uri="{BB962C8B-B14F-4D97-AF65-F5344CB8AC3E}">
        <p14:creationId xmlns:p14="http://schemas.microsoft.com/office/powerpoint/2010/main" val="215325666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Cookie Middleware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00D9FF"/>
                </a:solidFill>
              </a:rPr>
              <a:t>Cookie auth</a:t>
            </a:r>
            <a:r>
              <a:rPr lang="en-US" dirty="0"/>
              <a:t>: Server issues an encrypted cookie after login — browser sends it automatically.</a:t>
            </a:r>
          </a:p>
          <a:p>
            <a:r>
              <a:rPr lang="en-US" b="1" dirty="0">
                <a:solidFill>
                  <a:srgbClr val="00D9FF"/>
                </a:solidFill>
              </a:rPr>
              <a:t>Configure</a:t>
            </a:r>
            <a:r>
              <a:rPr lang="en-US" dirty="0"/>
              <a:t>: AddAuthentication(CookieAuthenticationDefaults.AuthenticationScheme).AddCookie()</a:t>
            </a:r>
          </a:p>
          <a:p>
            <a:r>
              <a:rPr lang="en-US" b="1" dirty="0">
                <a:solidFill>
                  <a:srgbClr val="00D9FF"/>
                </a:solidFill>
              </a:rPr>
              <a:t>Security flags</a:t>
            </a:r>
            <a:r>
              <a:rPr lang="en-US" dirty="0"/>
              <a:t>: HttpOnly, Secure, SameSite=Strict protect against XSS and CSRF.</a:t>
            </a:r>
          </a:p>
          <a:p>
            <a:r>
              <a:rPr lang="en-US" b="1" dirty="0">
                <a:solidFill>
                  <a:srgbClr val="00D9FF"/>
                </a:solidFill>
              </a:rPr>
              <a:t>When to use</a:t>
            </a:r>
            <a:r>
              <a:rPr lang="en-US" dirty="0"/>
              <a:t>: Same-domain server-rendered apps (MVC, Razor Pages, Blazor Server).</a:t>
            </a:r>
          </a:p>
          <a:p>
            <a:r>
              <a:rPr lang="en-US" b="1" dirty="0">
                <a:solidFill>
                  <a:srgbClr val="FF79C6"/>
                </a:solidFill>
              </a:rPr>
              <a:t>Cookies vs JWT</a:t>
            </a:r>
            <a:r>
              <a:rPr lang="en-US" dirty="0"/>
              <a:t>: Cookies = browser apps; JWT = SPAs, mobile, microservices.</a:t>
            </a:r>
          </a:p>
        </p:txBody>
      </p:sp>
    </p:spTree>
    <p:extLst>
      <p:ext uri="{BB962C8B-B14F-4D97-AF65-F5344CB8AC3E}">
        <p14:creationId xmlns:p14="http://schemas.microsoft.com/office/powerpoint/2010/main" val="133596738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C7D73-355B-9C22-7B91-724D8E57B7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 7: JWT Auth Pipeline</a:t>
            </a:r>
          </a:p>
        </p:txBody>
      </p:sp>
      <p:sp>
        <p:nvSpPr>
          <p:cNvPr id="2000" name="Pill"/>
          <p:cNvSpPr/>
          <p:nvPr/>
        </p:nvSpPr>
        <p:spPr>
          <a:xfrm>
            <a:off x="7112000" y="635000"/>
            <a:ext cx="1143000" cy="355600"/>
          </a:xfrm>
          <a:prstGeom prst="roundRect">
            <a:avLst>
              <a:gd name="adj" fmla="val 50000"/>
            </a:avLst>
          </a:prstGeom>
          <a:solidFill>
            <a:srgbClr val="F1FA8C"/>
          </a:solidFill>
          <a:ln>
            <a:noFill/>
          </a:ln>
        </p:spPr>
        <p:txBody>
          <a:bodyPr lIns="0" tIns="0" rIns="0" bIns="0" anchor="ctr" anchorCtr="1"/>
          <a:lstStyle/>
          <a:p>
            <a:pPr algn="ctr">
              <a:buNone/>
            </a:pPr>
            <a:r>
              <a:rPr lang="en-US" sz="1200" b="1" dirty="0">
                <a:solidFill>
                  <a:srgbClr val="0D1117"/>
                </a:solidFill>
              </a:rPr>
              <a:t>LAB</a:t>
            </a:r>
          </a:p>
        </p:txBody>
      </p:sp>
      <p:sp>
        <p:nvSpPr>
          <p:cNvPr id="2001" name="Pill"/>
          <p:cNvSpPr/>
          <p:nvPr/>
        </p:nvSpPr>
        <p:spPr>
          <a:xfrm>
            <a:off x="7112000" y="1041400"/>
            <a:ext cx="1143000" cy="279400"/>
          </a:xfrm>
          <a:prstGeom prst="roundRect">
            <a:avLst>
              <a:gd name="adj" fmla="val 50000"/>
            </a:avLst>
          </a:prstGeom>
          <a:solidFill>
            <a:srgbClr val="161B22"/>
          </a:solidFill>
          <a:ln>
            <a:noFill/>
          </a:ln>
        </p:spPr>
        <p:txBody>
          <a:bodyPr lIns="0" tIns="0" rIns="0" bIns="0" anchor="ctr" anchorCtr="1"/>
          <a:lstStyle/>
          <a:p>
            <a:pPr algn="ctr">
              <a:buNone/>
            </a:pPr>
            <a:r>
              <a:rPr lang="en-US" sz="900" b="1" dirty="0">
                <a:solidFill>
                  <a:srgbClr val="FFB86C"/>
                </a:solidFill>
              </a:rPr>
              <a:t>30 min</a:t>
            </a:r>
          </a:p>
        </p:txBody>
      </p:sp>
      <p:sp>
        <p:nvSpPr>
          <p:cNvPr id="2002" name="Card"/>
          <p:cNvSpPr/>
          <p:nvPr/>
        </p:nvSpPr>
        <p:spPr>
          <a:xfrm>
            <a:off x="508000" y="2222500"/>
            <a:ext cx="3937000" cy="2857500"/>
          </a:xfrm>
          <a:prstGeom prst="roundRect">
            <a:avLst>
              <a:gd name="adj" fmla="val 20000"/>
            </a:avLst>
          </a:prstGeom>
          <a:solidFill>
            <a:srgbClr val="161B22"/>
          </a:solidFill>
          <a:ln w="12700">
            <a:solidFill>
              <a:srgbClr val="FFB86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03" name="Text"/>
          <p:cNvSpPr txBox="1"/>
          <p:nvPr/>
        </p:nvSpPr>
        <p:spPr>
          <a:xfrm>
            <a:off x="508000" y="2222500"/>
            <a:ext cx="3937000" cy="508000"/>
          </a:xfrm>
          <a:prstGeom prst="rect">
            <a:avLst/>
          </a:prstGeom>
          <a:noFill/>
        </p:spPr>
        <p:txBody>
          <a:bodyPr wrap="square" lIns="72000" tIns="54000" rIns="72000" bIns="5400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B86C"/>
                </a:solidFill>
              </a:rPr>
              <a:t>🎯  GOAL</a:t>
            </a:r>
          </a:p>
        </p:txBody>
      </p:sp>
      <p:sp>
        <p:nvSpPr>
          <p:cNvPr id="2004" name="Text"/>
          <p:cNvSpPr txBox="1"/>
          <p:nvPr/>
        </p:nvSpPr>
        <p:spPr>
          <a:xfrm>
            <a:off x="508000" y="2667000"/>
            <a:ext cx="3937000" cy="2413000"/>
          </a:xfrm>
          <a:prstGeom prst="rect">
            <a:avLst/>
          </a:prstGeom>
          <a:noFill/>
        </p:spPr>
        <p:txBody>
          <a:bodyPr wrap="square" lIns="72000" tIns="54000" rIns="72000" bIns="54000" anchor="t"/>
          <a:lstStyle/>
          <a:p>
            <a:pPr marL="0" indent="0" algn="l">
              <a:buNone/>
            </a:pPr>
            <a:r>
              <a:rPr lang="en-US" sz="1100" b="0" dirty="0">
                <a:solidFill>
                  <a:srgbClr val="E6EDF3"/>
                </a:solidFill>
              </a:rPr>
              <a:t>Build a full JWT authentication pipeline — login endpoint issues tokens; protected routes require valid Bearer token.</a:t>
            </a:r>
          </a:p>
          <a:p>
            <a:pPr marL="0" indent="0" algn="l">
              <a:buNone/>
            </a:pPr>
            <a:r>
              <a:rPr lang="en-US" sz="1100" b="0" dirty="0">
                <a:solidFill>
                  <a:srgbClr val="E6EDF3"/>
                </a:solidFill>
              </a:rPr>
              <a:t> </a:t>
            </a:r>
          </a:p>
          <a:p>
            <a:pPr marL="0" indent="0" algn="l">
              <a:buNone/>
            </a:pPr>
            <a:r>
              <a:rPr lang="en-US" sz="1000" b="0" dirty="0">
                <a:solidFill>
                  <a:srgbClr val="C9D1D9"/>
                </a:solidFill>
              </a:rPr>
              <a:t>Deliverable: any route marked [Authorize] returns 401 without a valid token.</a:t>
            </a:r>
          </a:p>
        </p:txBody>
      </p:sp>
      <p:sp>
        <p:nvSpPr>
          <p:cNvPr id="2005" name="Card"/>
          <p:cNvSpPr/>
          <p:nvPr/>
        </p:nvSpPr>
        <p:spPr>
          <a:xfrm>
            <a:off x="4699000" y="2222500"/>
            <a:ext cx="3937000" cy="2857500"/>
          </a:xfrm>
          <a:prstGeom prst="roundRect">
            <a:avLst>
              <a:gd name="adj" fmla="val 20000"/>
            </a:avLst>
          </a:prstGeom>
          <a:solidFill>
            <a:srgbClr val="161B22"/>
          </a:solidFill>
          <a:ln w="12700">
            <a:solidFill>
              <a:srgbClr val="00D9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06" name="Text"/>
          <p:cNvSpPr txBox="1"/>
          <p:nvPr/>
        </p:nvSpPr>
        <p:spPr>
          <a:xfrm>
            <a:off x="4699000" y="2222500"/>
            <a:ext cx="3937000" cy="508000"/>
          </a:xfrm>
          <a:prstGeom prst="rect">
            <a:avLst/>
          </a:prstGeom>
          <a:noFill/>
        </p:spPr>
        <p:txBody>
          <a:bodyPr wrap="square" lIns="72000" tIns="54000" rIns="72000" bIns="5400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D9FF"/>
                </a:solidFill>
              </a:rPr>
              <a:t>🛠  STEPS</a:t>
            </a:r>
          </a:p>
        </p:txBody>
      </p:sp>
      <p:sp>
        <p:nvSpPr>
          <p:cNvPr id="2007" name="Text"/>
          <p:cNvSpPr txBox="1"/>
          <p:nvPr/>
        </p:nvSpPr>
        <p:spPr>
          <a:xfrm>
            <a:off x="4699000" y="2667000"/>
            <a:ext cx="3937000" cy="2413000"/>
          </a:xfrm>
          <a:prstGeom prst="rect">
            <a:avLst/>
          </a:prstGeom>
          <a:noFill/>
        </p:spPr>
        <p:txBody>
          <a:bodyPr wrap="square" lIns="72000" tIns="54000" rIns="72000" bIns="54000" anchor="t"/>
          <a:lstStyle/>
          <a:p>
            <a:pPr marL="0" indent="0" algn="l">
              <a:buNone/>
            </a:pPr>
            <a:r>
              <a:rPr lang="en-US" sz="1050" b="0" dirty="0">
                <a:solidFill>
                  <a:srgbClr val="E6EDF3"/>
                </a:solidFill>
              </a:rPr>
              <a:t>1.  Install Microsoft.AspNetCore.Authentication.JwtBearer.</a:t>
            </a:r>
          </a:p>
          <a:p>
            <a:pPr marL="0" indent="0" algn="l">
              <a:buNone/>
            </a:pPr>
            <a:r>
              <a:rPr lang="en-US" sz="1050" b="0" dirty="0">
                <a:solidFill>
                  <a:srgbClr val="E6EDF3"/>
                </a:solidFill>
              </a:rPr>
              <a:t>2.  Add JWT config to appsettings.json (Secret, Issuer, Audience).</a:t>
            </a:r>
          </a:p>
          <a:p>
            <a:pPr marL="0" indent="0" algn="l">
              <a:buNone/>
            </a:pPr>
            <a:r>
              <a:rPr lang="en-US" sz="1050" b="0" dirty="0">
                <a:solidFill>
                  <a:srgbClr val="E6EDF3"/>
                </a:solidFill>
              </a:rPr>
              <a:t>3.  Register AddAuthentication().AddJwtBearer() in Program.cs.</a:t>
            </a:r>
          </a:p>
          <a:p>
            <a:pPr marL="0" indent="0" algn="l">
              <a:buNone/>
            </a:pPr>
            <a:r>
              <a:rPr lang="en-US" sz="1050" b="0" dirty="0">
                <a:solidFill>
                  <a:srgbClr val="E6EDF3"/>
                </a:solidFill>
              </a:rPr>
              <a:t>4.  Create POST /auth/login → validate creds → return token.</a:t>
            </a:r>
          </a:p>
          <a:p>
            <a:pPr marL="0" indent="0" algn="l">
              <a:buNone/>
            </a:pPr>
            <a:r>
              <a:rPr lang="en-US" sz="1050" b="0" dirty="0">
                <a:solidFill>
                  <a:srgbClr val="E6EDF3"/>
                </a:solidFill>
              </a:rPr>
              <a:t>5.  Add [Authorize] to a controller or action.</a:t>
            </a:r>
          </a:p>
          <a:p>
            <a:pPr marL="0" indent="0" algn="l">
              <a:buNone/>
            </a:pPr>
            <a:r>
              <a:rPr lang="en-US" sz="1050" b="0" dirty="0">
                <a:solidFill>
                  <a:srgbClr val="E6EDF3"/>
                </a:solidFill>
              </a:rPr>
              <a:t>6.  Test with Postman: login → copy token → Bearer header.</a:t>
            </a:r>
          </a:p>
        </p:txBody>
      </p:sp>
      <p:sp>
        <p:nvSpPr>
          <p:cNvPr id="2008" name="Card"/>
          <p:cNvSpPr/>
          <p:nvPr/>
        </p:nvSpPr>
        <p:spPr>
          <a:xfrm>
            <a:off x="508000" y="5270500"/>
            <a:ext cx="8128000" cy="1016000"/>
          </a:xfrm>
          <a:prstGeom prst="roundRect">
            <a:avLst>
              <a:gd name="adj" fmla="val 20000"/>
            </a:avLst>
          </a:prstGeom>
          <a:solidFill>
            <a:srgbClr val="161B22"/>
          </a:solidFill>
          <a:ln w="12700">
            <a:solidFill>
              <a:srgbClr val="F1FA8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09" name="Text"/>
          <p:cNvSpPr txBox="1"/>
          <p:nvPr/>
        </p:nvSpPr>
        <p:spPr>
          <a:xfrm>
            <a:off x="508000" y="5270500"/>
            <a:ext cx="8128000" cy="1016000"/>
          </a:xfrm>
          <a:prstGeom prst="rect">
            <a:avLst/>
          </a:prstGeom>
          <a:noFill/>
        </p:spPr>
        <p:txBody>
          <a:bodyPr wrap="square" lIns="72000" tIns="54000" rIns="72000" bIns="5400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1FA8C"/>
                </a:solidFill>
              </a:rPr>
              <a:t>⭐  BONUS CHALLENGE</a:t>
            </a:r>
          </a:p>
          <a:p>
            <a:pPr marL="0" indent="0" algn="l">
              <a:buNone/>
            </a:pPr>
            <a:r>
              <a:rPr lang="en-US" sz="1000" b="0" dirty="0">
                <a:solidFill>
                  <a:srgbClr val="C9D1D9"/>
                </a:solidFill>
              </a:rPr>
              <a:t>Add a /auth/refresh endpoint with a long-lived refresh token stored in an HttpOnly cookie. Implement token revocation via a deny-list.</a:t>
            </a:r>
          </a:p>
        </p:txBody>
      </p:sp>
    </p:spTree>
    <p:extLst>
      <p:ext uri="{BB962C8B-B14F-4D97-AF65-F5344CB8AC3E}">
        <p14:creationId xmlns:p14="http://schemas.microsoft.com/office/powerpoint/2010/main" val="404996207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 [1779679271731]">
  <a:themeElements>
    <a:clrScheme name="Integral">
      <a:dk1>
        <a:srgbClr val="E8F4FD"/>
      </a:dk1>
      <a:lt1>
        <a:srgbClr val="0A0E1A"/>
      </a:lt1>
      <a:dk2>
        <a:srgbClr val="1E293B"/>
      </a:dk2>
      <a:lt2>
        <a:srgbClr val="334155"/>
      </a:lt2>
      <a:accent1>
        <a:srgbClr val="00D4FF"/>
      </a:accent1>
      <a:accent2>
        <a:srgbClr val="7C3AED"/>
      </a:accent2>
      <a:accent3>
        <a:srgbClr val="10B981"/>
      </a:accent3>
      <a:accent4>
        <a:srgbClr val="F59E0B"/>
      </a:accent4>
      <a:accent5>
        <a:srgbClr val="EF4444"/>
      </a:accent5>
      <a:accent6>
        <a:srgbClr val="EC4899"/>
      </a:accent6>
      <a:hlink>
        <a:srgbClr val="6B9F25"/>
      </a:hlink>
      <a:folHlink>
        <a:srgbClr val="B26B02"/>
      </a:folHlink>
    </a:clrScheme>
    <a:fontScheme name="Integral">
      <a:majorFont>
        <a:latin typeface="Segoe UI Semibol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Segoe UI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3825F61-1DA6-465C-AABA-DD5E5E2F7E49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53b1bd6b-2754-44d3-abc5-1608da3e85d8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528</TotalTime>
  <Words>4555</Words>
  <Application>Microsoft Office PowerPoint</Application>
  <PresentationFormat>On-screen Show (4:3)</PresentationFormat>
  <Paragraphs>579</Paragraphs>
  <Slides>36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2" baseType="lpstr">
      <vt:lpstr>Arial</vt:lpstr>
      <vt:lpstr>Segoe UI</vt:lpstr>
      <vt:lpstr>Segoe UI Semibold</vt:lpstr>
      <vt:lpstr>Tw Cen MT</vt:lpstr>
      <vt:lpstr>Wingdings 3</vt:lpstr>
      <vt:lpstr>Integral [1779679271731]</vt:lpstr>
      <vt:lpstr>Module 25: Web API CRUD Building RESTful APIs with ASP.NET Core</vt:lpstr>
      <vt:lpstr>HTTP Request Lifecycle</vt:lpstr>
      <vt:lpstr>Retrieval Operations (GET)</vt:lpstr>
      <vt:lpstr>Create Operations (POST)</vt:lpstr>
      <vt:lpstr>Lab 1: First Endpoints</vt:lpstr>
      <vt:lpstr>Update Operations (PUT/PATCH)</vt:lpstr>
      <vt:lpstr>Delete Operations (DELETE)</vt:lpstr>
      <vt:lpstr>HTTP Verbs ↔ CRUD Map</vt:lpstr>
      <vt:lpstr>Handling Bad Requests</vt:lpstr>
      <vt:lpstr>PowerPoint Presentation</vt:lpstr>
      <vt:lpstr>Lab 2: Full CRUD + Validation</vt:lpstr>
      <vt:lpstr>Async Task Usage</vt:lpstr>
      <vt:lpstr>CORS (Cross-Origin Resource Sharing)</vt:lpstr>
      <vt:lpstr>PowerPoint Presentation</vt:lpstr>
      <vt:lpstr>Testing with Postman</vt:lpstr>
      <vt:lpstr>Lab 3: Async + CORS</vt:lpstr>
      <vt:lpstr>Exception Handling in Web API</vt:lpstr>
      <vt:lpstr>Global Error Handling</vt:lpstr>
      <vt:lpstr>PowerPoint Presentation</vt:lpstr>
      <vt:lpstr>Tracing in Web API</vt:lpstr>
      <vt:lpstr>Lab 4: Errors + Logging</vt:lpstr>
      <vt:lpstr>ASP.NET Core Middleware Pipeline</vt:lpstr>
      <vt:lpstr>Unit Testing Web API</vt:lpstr>
      <vt:lpstr>PowerPoint Presentation</vt:lpstr>
      <vt:lpstr>Testing Controllers</vt:lpstr>
      <vt:lpstr>Lab 5: Controller Tests</vt:lpstr>
      <vt:lpstr>Securing Application</vt:lpstr>
      <vt:lpstr>Authentication</vt:lpstr>
      <vt:lpstr>Authorization</vt:lpstr>
      <vt:lpstr>PowerPoint Presentation</vt:lpstr>
      <vt:lpstr>Lab 6: Roles + [Authorize]</vt:lpstr>
      <vt:lpstr>JWT Authentication Flow</vt:lpstr>
      <vt:lpstr>Token-Based Authentication</vt:lpstr>
      <vt:lpstr>API Authentication/Authorization</vt:lpstr>
      <vt:lpstr>Cookie Middleware</vt:lpstr>
      <vt:lpstr>Lab 7: JWT Auth Pipeline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Vikash Verma</cp:lastModifiedBy>
  <cp:revision>6</cp:revision>
  <dcterms:created xsi:type="dcterms:W3CDTF">2013-01-27T09:14:16Z</dcterms:created>
  <dcterms:modified xsi:type="dcterms:W3CDTF">2026-05-25T04:05:54Z</dcterms:modified>
  <cp:category/>
</cp:coreProperties>
</file>