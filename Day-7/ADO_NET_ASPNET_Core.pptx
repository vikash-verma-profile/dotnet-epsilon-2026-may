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81" r:id="rId3"/>
    <p:sldId id="283" r:id="rId4"/>
    <p:sldId id="286" r:id="rId5"/>
    <p:sldId id="288" r:id="rId6"/>
    <p:sldId id="291" r:id="rId7"/>
    <p:sldId id="293" r:id="rId8"/>
    <p:sldId id="295" r:id="rId9"/>
    <p:sldId id="297" r:id="rId10"/>
    <p:sldId id="299" r:id="rId11"/>
    <p:sldId id="301" r:id="rId12"/>
    <p:sldId id="303" r:id="rId13"/>
    <p:sldId id="305" r:id="rId14"/>
    <p:sldId id="307" r:id="rId15"/>
    <p:sldId id="309" r:id="rId16"/>
    <p:sldId id="310" r:id="rId17"/>
    <p:sldId id="311" r:id="rId18"/>
    <p:sldId id="312" r:id="rId19"/>
    <p:sldId id="316" r:id="rId20"/>
    <p:sldId id="317" r:id="rId21"/>
    <p:sldId id="318" r:id="rId22"/>
    <p:sldId id="319" r:id="rId23"/>
    <p:sldId id="321" r:id="rId24"/>
    <p:sldId id="32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73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1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699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4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9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0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3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4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59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18: Data Access using ADO.NET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Data Access &amp; Web Foundations in .NET</a:t>
            </a:r>
          </a:p>
          <a:p>
            <a:pPr algn="ctr">
              <a:buNone/>
            </a:pPr>
            <a:endParaRPr lang="en-US" sz="1400" dirty="0"/>
          </a:p>
          <a:p>
            <a:pPr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Module 18 </a:t>
            </a:r>
            <a:r>
              <a:rPr lang="en-US" sz="1600" dirty="0">
                <a:solidFill>
                  <a:schemeClr val="tx2"/>
                </a:solidFill>
              </a:rPr>
              <a:t>ADO.NET  ▸  </a:t>
            </a:r>
            <a:r>
              <a:rPr lang="en-US" sz="1600" b="1" dirty="0">
                <a:solidFill>
                  <a:schemeClr val="accent4"/>
                </a:solidFill>
              </a:rPr>
              <a:t>Module 19 </a:t>
            </a:r>
            <a:r>
              <a:rPr lang="en-US" sz="1600" dirty="0">
                <a:solidFill>
                  <a:schemeClr val="tx2"/>
                </a:solidFill>
              </a:rPr>
              <a:t>ASP.NET Core  ▸  </a:t>
            </a:r>
            <a:r>
              <a:rPr lang="en-US" sz="1600" b="1" dirty="0">
                <a:solidFill>
                  <a:schemeClr val="accent5"/>
                </a:solidFill>
              </a:rPr>
              <a:t>Module 20 </a:t>
            </a:r>
            <a:r>
              <a:rPr lang="en-US" sz="1600" dirty="0">
                <a:solidFill>
                  <a:schemeClr val="tx2"/>
                </a:solidFill>
              </a:rPr>
              <a:t>DI &amp; Middleware</a:t>
            </a:r>
          </a:p>
          <a:p>
            <a:pPr algn="ctr">
              <a:buNone/>
            </a:pPr>
            <a:endParaRPr lang="en-US" sz="1400" dirty="0"/>
          </a:p>
          <a:p>
            <a:pPr algn="ctr">
              <a:buNone/>
            </a:pPr>
            <a:r>
              <a:rPr lang="en-US" sz="1500" i="1" dirty="0">
                <a:solidFill>
                  <a:schemeClr val="tx2"/>
                </a:solidFill>
              </a:rPr>
              <a:t>Theory  •  Architecture diagrams  •  Hands-on labs</a:t>
            </a:r>
          </a:p>
        </p:txBody>
      </p:sp>
    </p:spTree>
    <p:extLst>
      <p:ext uri="{BB962C8B-B14F-4D97-AF65-F5344CB8AC3E}">
        <p14:creationId xmlns:p14="http://schemas.microsoft.com/office/powerpoint/2010/main" val="61554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ADO.NET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19050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Data access framework </a:t>
            </a:r>
            <a:r>
              <a:rPr lang="en-US" sz="1500" dirty="0">
                <a:solidFill>
                  <a:schemeClr val="tx2"/>
                </a:solidFill>
              </a:rPr>
              <a:t>shipped with .NET for relational databases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Two models: </a:t>
            </a:r>
            <a:r>
              <a:rPr lang="en-US" sz="1500" dirty="0">
                <a:solidFill>
                  <a:schemeClr val="tx2"/>
                </a:solidFill>
              </a:rPr>
              <a:t>connected (DataReader) and disconnected (DataSet)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Core objects: </a:t>
            </a:r>
            <a:r>
              <a:rPr lang="en-US" sz="1500" dirty="0">
                <a:solidFill>
                  <a:schemeClr val="tx2"/>
                </a:solidFill>
              </a:rPr>
              <a:t>Connection, Command, DataReader, DataAdapter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0353C3-FBE3-4D3F-9A28-6C684738E838}"/>
              </a:ext>
            </a:extLst>
          </p:cNvPr>
          <p:cNvSpPr/>
          <p:nvPr/>
        </p:nvSpPr>
        <p:spPr>
          <a:xfrm>
            <a:off x="952500" y="4572000"/>
            <a:ext cx="1841500" cy="1016000"/>
          </a:xfrm>
          <a:prstGeom prst="roundRect">
            <a:avLst/>
          </a:prstGeom>
          <a:solidFill>
            <a:srgbClr val="1F4E5F"/>
          </a:solidFill>
          <a:ln w="15875" cap="flat" cmpd="sng" algn="ctr">
            <a:solidFill>
              <a:srgbClr val="1F4E5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nl-NL" sz="1400" b="1">
                <a:solidFill>
                  <a:srgbClr val="FFFFFF"/>
                </a:solidFill>
              </a:rPr>
              <a:t>.NET App
C# / VB.NET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5D6A2A8-E194-40C4-98D6-F71FD898871C}"/>
              </a:ext>
            </a:extLst>
          </p:cNvPr>
          <p:cNvSpPr/>
          <p:nvPr/>
        </p:nvSpPr>
        <p:spPr>
          <a:xfrm>
            <a:off x="2844800" y="4876800"/>
            <a:ext cx="469900" cy="406400"/>
          </a:xfrm>
          <a:prstGeom prst="right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104A2B-052B-4C93-A4D1-21B347514D38}"/>
              </a:ext>
            </a:extLst>
          </p:cNvPr>
          <p:cNvSpPr/>
          <p:nvPr/>
        </p:nvSpPr>
        <p:spPr>
          <a:xfrm>
            <a:off x="3365500" y="4572000"/>
            <a:ext cx="2095500" cy="1016000"/>
          </a:xfrm>
          <a:prstGeom prst="roundRect">
            <a:avLst/>
          </a:prstGeom>
          <a:solidFill>
            <a:srgbClr val="1F4E5F"/>
          </a:solidFill>
          <a:ln w="15875" cap="flat" cmpd="sng" algn="ctr">
            <a:solidFill>
              <a:srgbClr val="1F4E5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ADO.NET
Connection / Command / Reader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38EC9E0-22CF-43C2-8F20-EF34500DE734}"/>
              </a:ext>
            </a:extLst>
          </p:cNvPr>
          <p:cNvSpPr/>
          <p:nvPr/>
        </p:nvSpPr>
        <p:spPr>
          <a:xfrm>
            <a:off x="5486400" y="4876800"/>
            <a:ext cx="469900" cy="406400"/>
          </a:xfrm>
          <a:prstGeom prst="right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F0D7C6-3FF8-4750-B4E9-665509A0D070}"/>
              </a:ext>
            </a:extLst>
          </p:cNvPr>
          <p:cNvSpPr/>
          <p:nvPr/>
        </p:nvSpPr>
        <p:spPr>
          <a:xfrm>
            <a:off x="6032500" y="4572000"/>
            <a:ext cx="2095500" cy="1016000"/>
          </a:xfrm>
          <a:prstGeom prst="roundRect">
            <a:avLst/>
          </a:prstGeom>
          <a:solidFill>
            <a:srgbClr val="1F4E5F"/>
          </a:solidFill>
          <a:ln w="15875" cap="flat" cmpd="sng" algn="ctr">
            <a:solidFill>
              <a:srgbClr val="1F4E5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Database
SQL Server / Oracle / MySQL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EA008-F88A-40F3-A635-7631C049F08B}"/>
              </a:ext>
            </a:extLst>
          </p:cNvPr>
          <p:cNvSpPr txBox="1"/>
          <p:nvPr/>
        </p:nvSpPr>
        <p:spPr>
          <a:xfrm>
            <a:off x="952500" y="5778500"/>
            <a:ext cx="717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335B74"/>
                </a:solidFill>
              </a:rPr>
              <a:t>Architecture: how your app reaches the database</a:t>
            </a:r>
            <a:endParaRPr lang="en-IN" sz="1200" i="1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61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22225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Purpose: </a:t>
            </a:r>
            <a:r>
              <a:rPr lang="en-US" sz="1500" dirty="0">
                <a:solidFill>
                  <a:schemeClr val="tx2"/>
                </a:solidFill>
              </a:rPr>
              <a:t>opens a session with the database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Provider classes: </a:t>
            </a:r>
            <a:r>
              <a:rPr lang="en-US" sz="1500" dirty="0">
                <a:solidFill>
                  <a:schemeClr val="tx2"/>
                </a:solidFill>
              </a:rPr>
              <a:t>SqlConnection, OracleConnection, MySqlConnection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Key methods: </a:t>
            </a:r>
            <a:r>
              <a:rPr lang="en-US" sz="1500" dirty="0">
                <a:solidFill>
                  <a:schemeClr val="tx2"/>
                </a:solidFill>
              </a:rPr>
              <a:t>Open(), Close(), Dispose()  —  prefer </a:t>
            </a:r>
            <a:r>
              <a:rPr lang="en-US" sz="1500" b="1" dirty="0">
                <a:solidFill>
                  <a:schemeClr val="accent4"/>
                </a:solidFill>
              </a:rPr>
              <a:t>using</a:t>
            </a:r>
            <a:r>
              <a:rPr lang="en-US" sz="1500" dirty="0">
                <a:solidFill>
                  <a:schemeClr val="tx2"/>
                </a:solidFill>
              </a:rPr>
              <a:t> blocks for auto-cleanup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Connection string </a:t>
            </a:r>
            <a:r>
              <a:rPr lang="en-US" sz="1500" dirty="0">
                <a:solidFill>
                  <a:schemeClr val="tx2"/>
                </a:solidFill>
              </a:rPr>
              <a:t>holds server, database, auth, timeouts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F5C5DC-D906-4468-8236-51A60B269981}"/>
              </a:ext>
            </a:extLst>
          </p:cNvPr>
          <p:cNvSpPr/>
          <p:nvPr/>
        </p:nvSpPr>
        <p:spPr>
          <a:xfrm>
            <a:off x="762000" y="4699000"/>
            <a:ext cx="7289800" cy="1524000"/>
          </a:xfrm>
          <a:prstGeom prst="roundRect">
            <a:avLst/>
          </a:prstGeom>
          <a:solidFill>
            <a:srgbClr val="EAF6FB"/>
          </a:solidFill>
          <a:ln w="1905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CADE4"/>
                </a:solidFill>
              </a:rPr>
              <a:t>🔎 Look for — Connection string anatomy</a:t>
            </a:r>
          </a:p>
          <a:p>
            <a:pPr algn="l">
              <a:buNone/>
            </a:pPr>
            <a:r>
              <a:rPr lang="en-US" sz="1300" dirty="0">
                <a:latin typeface="Consolas"/>
              </a:rPr>
              <a:t>Server=.;Database=Shop;User Id=sa;Password=***;</a:t>
            </a:r>
          </a:p>
          <a:p>
            <a:pPr algn="l">
              <a:buFont typeface="Arial"/>
              <a:buChar char="•"/>
            </a:pPr>
            <a:r>
              <a:rPr lang="en-US" sz="1300" b="1" dirty="0">
                <a:solidFill>
                  <a:schemeClr val="accent4"/>
                </a:solidFill>
              </a:rPr>
              <a:t>Server </a:t>
            </a:r>
            <a:r>
              <a:rPr lang="en-US" sz="1300" dirty="0">
                <a:solidFill>
                  <a:schemeClr val="tx2"/>
                </a:solidFill>
              </a:rPr>
              <a:t>= host  •  </a:t>
            </a:r>
            <a:r>
              <a:rPr lang="en-US" sz="1300" b="1" dirty="0">
                <a:solidFill>
                  <a:schemeClr val="accent4"/>
                </a:solidFill>
              </a:rPr>
              <a:t>Database </a:t>
            </a:r>
            <a:r>
              <a:rPr lang="en-US" sz="1300" dirty="0">
                <a:solidFill>
                  <a:schemeClr val="tx2"/>
                </a:solidFill>
              </a:rPr>
              <a:t>= catalog  •  </a:t>
            </a:r>
            <a:r>
              <a:rPr lang="en-US" sz="1300" b="1" dirty="0">
                <a:solidFill>
                  <a:schemeClr val="accent4"/>
                </a:solidFill>
              </a:rPr>
              <a:t>User Id / Password </a:t>
            </a:r>
            <a:r>
              <a:rPr lang="en-US" sz="1300" dirty="0">
                <a:solidFill>
                  <a:schemeClr val="tx2"/>
                </a:solidFill>
              </a:rPr>
              <a:t>= credentials</a:t>
            </a:r>
          </a:p>
        </p:txBody>
      </p:sp>
    </p:spTree>
    <p:extLst>
      <p:ext uri="{BB962C8B-B14F-4D97-AF65-F5344CB8AC3E}">
        <p14:creationId xmlns:p14="http://schemas.microsoft.com/office/powerpoint/2010/main" val="50671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accent4"/>
                </a:solidFill>
              </a:rPr>
              <a:t>🔬 Lab 1: Open a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445000" cy="4023360"/>
          </a:xfrm>
        </p:spPr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chemeClr val="accent2"/>
                </a:solidFill>
              </a:rPr>
              <a:t>Goal: </a:t>
            </a:r>
            <a:r>
              <a:rPr lang="en-US" sz="1500" dirty="0">
                <a:solidFill>
                  <a:schemeClr val="tx2"/>
                </a:solidFill>
              </a:rPr>
              <a:t>open a SqlConnection, print its State, then close it cleanly.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Steps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Add a console app, install </a:t>
            </a:r>
            <a:r>
              <a:rPr lang="en-US" sz="1500" b="1" dirty="0">
                <a:latin typeface="Consolas"/>
              </a:rPr>
              <a:t>Microsoft.Data.SqlClient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Wrap your connection in a </a:t>
            </a:r>
            <a:r>
              <a:rPr lang="en-US" sz="1500" b="1" dirty="0">
                <a:latin typeface="Consolas"/>
              </a:rPr>
              <a:t>using</a:t>
            </a:r>
            <a:r>
              <a:rPr lang="en-US" sz="1500" dirty="0">
                <a:solidFill>
                  <a:schemeClr val="tx2"/>
                </a:solidFill>
              </a:rPr>
              <a:t> block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Call </a:t>
            </a:r>
            <a:r>
              <a:rPr lang="en-US" sz="1500" b="1" dirty="0">
                <a:latin typeface="Consolas"/>
              </a:rPr>
              <a:t>conn.Open()</a:t>
            </a:r>
            <a:r>
              <a:rPr lang="en-US" sz="1500" dirty="0">
                <a:solidFill>
                  <a:schemeClr val="tx2"/>
                </a:solidFill>
              </a:rPr>
              <a:t> and print </a:t>
            </a:r>
            <a:r>
              <a:rPr lang="en-US" sz="1500" b="1" dirty="0">
                <a:latin typeface="Consolas"/>
              </a:rPr>
              <a:t>conn.State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Wrap with try/catch for invalid credentials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8EB70E-B4EA-44C1-ABCE-00640BEE5062}"/>
              </a:ext>
            </a:extLst>
          </p:cNvPr>
          <p:cNvSpPr/>
          <p:nvPr/>
        </p:nvSpPr>
        <p:spPr>
          <a:xfrm>
            <a:off x="5397500" y="2286000"/>
            <a:ext cx="2730500" cy="1651000"/>
          </a:xfrm>
          <a:prstGeom prst="roundRect">
            <a:avLst/>
          </a:prstGeom>
          <a:solidFill>
            <a:srgbClr val="FFF4E0"/>
          </a:solidFill>
          <a:ln w="19050" cap="flat" cmpd="sng" algn="ctr">
            <a:solidFill>
              <a:srgbClr val="E8A33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C97F1A"/>
                </a:solidFill>
              </a:rPr>
              <a:t>💡 Hint</a:t>
            </a:r>
          </a:p>
          <a:p>
            <a:pPr>
              <a:buNone/>
            </a:pPr>
            <a:r>
              <a:rPr lang="en-US" sz="1200" dirty="0">
                <a:solidFill>
                  <a:srgbClr val="335B74"/>
                </a:solidFill>
              </a:rPr>
              <a:t>The </a:t>
            </a:r>
            <a:r>
              <a:rPr lang="en-US" sz="1200" b="1" dirty="0">
                <a:latin typeface="Consolas"/>
              </a:rPr>
              <a:t>using</a:t>
            </a:r>
            <a:r>
              <a:rPr lang="en-US" sz="1200" dirty="0">
                <a:solidFill>
                  <a:srgbClr val="335B74"/>
                </a:solidFill>
              </a:rPr>
              <a:t> block disposes the connection automatically — even on exceptions.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55EB5C-94A3-45E5-94EF-46CB5C2F0BBC}"/>
              </a:ext>
            </a:extLst>
          </p:cNvPr>
          <p:cNvSpPr/>
          <p:nvPr/>
        </p:nvSpPr>
        <p:spPr>
          <a:xfrm>
            <a:off x="5397500" y="4127500"/>
            <a:ext cx="2730500" cy="1651000"/>
          </a:xfrm>
          <a:prstGeom prst="roundRect">
            <a:avLst/>
          </a:prstGeom>
          <a:solidFill>
            <a:srgbClr val="E8F5EC"/>
          </a:solidFill>
          <a:ln w="1905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2D8C6A"/>
                </a:solidFill>
              </a:rPr>
              <a:t>✅ Expected output</a:t>
            </a:r>
          </a:p>
          <a:p>
            <a:pPr>
              <a:buNone/>
            </a:pPr>
            <a:r>
              <a:rPr lang="en-US" sz="1300" b="1" dirty="0">
                <a:latin typeface="Consolas"/>
              </a:rPr>
              <a:t>State: Open</a:t>
            </a:r>
          </a:p>
          <a:p>
            <a:pPr>
              <a:buNone/>
            </a:pPr>
            <a:r>
              <a:rPr lang="en-US" sz="1200" i="1" dirty="0">
                <a:solidFill>
                  <a:srgbClr val="335B74"/>
                </a:solidFill>
              </a:rPr>
              <a:t>(then disposed at end of using)</a:t>
            </a:r>
          </a:p>
        </p:txBody>
      </p:sp>
    </p:spTree>
    <p:extLst>
      <p:ext uri="{BB962C8B-B14F-4D97-AF65-F5344CB8AC3E}">
        <p14:creationId xmlns:p14="http://schemas.microsoft.com/office/powerpoint/2010/main" val="387938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Command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16510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Purpose: </a:t>
            </a:r>
            <a:r>
              <a:rPr lang="en-US" sz="1500" dirty="0">
                <a:solidFill>
                  <a:schemeClr val="tx2"/>
                </a:solidFill>
              </a:rPr>
              <a:t>carries the SQL or stored-proc call to the database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CommandType: </a:t>
            </a:r>
            <a:r>
              <a:rPr lang="en-US" sz="1500" dirty="0">
                <a:solidFill>
                  <a:schemeClr val="tx2"/>
                </a:solidFill>
              </a:rPr>
              <a:t>Text (inline SQL), StoredProcedure, TableDirect</a:t>
            </a:r>
          </a:p>
          <a:p>
            <a:pPr>
              <a:buFont typeface="Arial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Always supply </a:t>
            </a:r>
            <a:r>
              <a:rPr lang="en-US" sz="1500" dirty="0">
                <a:solidFill>
                  <a:schemeClr val="tx2"/>
                </a:solidFill>
              </a:rPr>
              <a:t>a Connection, optional Transaction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F9354D-B7A8-4DF0-A088-CE8C5A43D0E6}"/>
              </a:ext>
            </a:extLst>
          </p:cNvPr>
          <p:cNvSpPr/>
          <p:nvPr/>
        </p:nvSpPr>
        <p:spPr>
          <a:xfrm>
            <a:off x="762000" y="4127500"/>
            <a:ext cx="2286000" cy="20955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latin typeface="Consolas"/>
              </a:rPr>
              <a:t>ExecuteNonQuery()</a:t>
            </a:r>
          </a:p>
          <a:p>
            <a:pPr algn="ctr">
              <a:buNone/>
            </a:pPr>
            <a:endParaRPr lang="en-US" sz="800" dirty="0"/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INSERT / UPDATE / DELETE</a:t>
            </a:r>
          </a:p>
          <a:p>
            <a:pPr algn="ctr">
              <a:buNone/>
            </a:pPr>
            <a:endParaRPr lang="en-US" sz="800" dirty="0"/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Returns</a:t>
            </a:r>
          </a:p>
          <a:p>
            <a:pPr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int rows affected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C6C7AF-3CC1-4335-BA43-8FC0B35523AB}"/>
              </a:ext>
            </a:extLst>
          </p:cNvPr>
          <p:cNvSpPr/>
          <p:nvPr/>
        </p:nvSpPr>
        <p:spPr>
          <a:xfrm>
            <a:off x="3302000" y="4127500"/>
            <a:ext cx="2286000" cy="2095500"/>
          </a:xfrm>
          <a:prstGeom prst="round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latin typeface="Consolas"/>
              </a:rPr>
              <a:t>ExecuteReader()</a:t>
            </a:r>
          </a:p>
          <a:p>
            <a:pPr algn="ctr">
              <a:buNone/>
            </a:pPr>
            <a:endParaRPr lang="en-US" sz="800" dirty="0"/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SELECT returning rows</a:t>
            </a:r>
          </a:p>
          <a:p>
            <a:pPr algn="ctr">
              <a:buNone/>
            </a:pPr>
            <a:endParaRPr lang="en-US" sz="800" dirty="0"/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Returns</a:t>
            </a:r>
          </a:p>
          <a:p>
            <a:pPr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SqlDataReader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09596A-0574-4897-937E-547665B66F42}"/>
              </a:ext>
            </a:extLst>
          </p:cNvPr>
          <p:cNvSpPr/>
          <p:nvPr/>
        </p:nvSpPr>
        <p:spPr>
          <a:xfrm>
            <a:off x="5842000" y="4127500"/>
            <a:ext cx="2286000" cy="2095500"/>
          </a:xfrm>
          <a:prstGeom prst="round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latin typeface="Consolas"/>
              </a:rPr>
              <a:t>ExecuteScalar()</a:t>
            </a:r>
          </a:p>
          <a:p>
            <a:pPr algn="ctr">
              <a:buNone/>
            </a:pPr>
            <a:endParaRPr lang="en-US" sz="800" dirty="0"/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SELECT single value</a:t>
            </a:r>
          </a:p>
          <a:p>
            <a:pPr algn="ctr">
              <a:buNone/>
            </a:pPr>
            <a:endParaRPr lang="en-US" sz="800" dirty="0"/>
          </a:p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Returns</a:t>
            </a:r>
          </a:p>
          <a:p>
            <a:pPr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object (one cell)</a:t>
            </a:r>
          </a:p>
        </p:txBody>
      </p:sp>
    </p:spTree>
    <p:extLst>
      <p:ext uri="{BB962C8B-B14F-4D97-AF65-F5344CB8AC3E}">
        <p14:creationId xmlns:p14="http://schemas.microsoft.com/office/powerpoint/2010/main" val="2894775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accent4"/>
                </a:solidFill>
              </a:rPr>
              <a:t>🔬 Lab 2: Insert Safely with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445000" cy="4023360"/>
          </a:xfrm>
        </p:spPr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chemeClr val="accent2"/>
                </a:solidFill>
              </a:rPr>
              <a:t>Goal: </a:t>
            </a:r>
            <a:r>
              <a:rPr lang="en-US" sz="1500" dirty="0">
                <a:solidFill>
                  <a:schemeClr val="tx2"/>
                </a:solidFill>
              </a:rPr>
              <a:t>insert a Customer row using parameterised SQL to block injection.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Steps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Write SQL with placeholders: </a:t>
            </a:r>
            <a:r>
              <a:rPr lang="en-US" sz="1500" b="1" dirty="0">
                <a:latin typeface="Consolas"/>
              </a:rPr>
              <a:t>VALUES (@Name, @Email)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Bind with </a:t>
            </a:r>
            <a:r>
              <a:rPr lang="en-US" sz="1500" b="1" dirty="0">
                <a:latin typeface="Consolas"/>
              </a:rPr>
              <a:t>cmd.Parameters.AddWithValue(...)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Call </a:t>
            </a:r>
            <a:r>
              <a:rPr lang="en-US" sz="1500" b="1" dirty="0">
                <a:latin typeface="Consolas"/>
              </a:rPr>
              <a:t>ExecuteNonQuery()</a:t>
            </a:r>
            <a:r>
              <a:rPr lang="en-US" sz="1500" dirty="0">
                <a:solidFill>
                  <a:schemeClr val="tx2"/>
                </a:solidFill>
              </a:rPr>
              <a:t> and print rows affected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solidFill>
                  <a:schemeClr val="tx2"/>
                </a:solidFill>
              </a:rPr>
              <a:t>Try passing </a:t>
            </a:r>
            <a:r>
              <a:rPr lang="en-US" sz="1500" b="1" dirty="0">
                <a:latin typeface="Consolas"/>
              </a:rPr>
              <a:t>"x'; DROP TABLE..."</a:t>
            </a:r>
            <a:r>
              <a:rPr lang="en-US" sz="1500" dirty="0">
                <a:solidFill>
                  <a:schemeClr val="tx2"/>
                </a:solidFill>
              </a:rPr>
              <a:t> — observe it's treated as data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A56B5F-58B8-41FD-9DAA-E3A0B0A2646E}"/>
              </a:ext>
            </a:extLst>
          </p:cNvPr>
          <p:cNvSpPr/>
          <p:nvPr/>
        </p:nvSpPr>
        <p:spPr>
          <a:xfrm>
            <a:off x="5397500" y="2286000"/>
            <a:ext cx="2730500" cy="1651000"/>
          </a:xfrm>
          <a:prstGeom prst="roundRect">
            <a:avLst/>
          </a:prstGeom>
          <a:solidFill>
            <a:srgbClr val="FFF4E0"/>
          </a:solidFill>
          <a:ln w="19050" cap="flat" cmpd="sng" algn="ctr">
            <a:solidFill>
              <a:srgbClr val="E8A33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C97F1A"/>
                </a:solidFill>
              </a:rPr>
              <a:t>💡 Hint</a:t>
            </a:r>
          </a:p>
          <a:p>
            <a:pPr>
              <a:buNone/>
            </a:pPr>
            <a:r>
              <a:rPr lang="en-US" sz="1200" dirty="0">
                <a:solidFill>
                  <a:srgbClr val="335B74"/>
                </a:solidFill>
              </a:rPr>
              <a:t>String concatenation = SQL injection. Parameters are sent separately from the SQL and treated strictly as values.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FDA8D7-531A-4596-865A-E231A29BDC9A}"/>
              </a:ext>
            </a:extLst>
          </p:cNvPr>
          <p:cNvSpPr/>
          <p:nvPr/>
        </p:nvSpPr>
        <p:spPr>
          <a:xfrm>
            <a:off x="5397500" y="4127500"/>
            <a:ext cx="2730500" cy="1651000"/>
          </a:xfrm>
          <a:prstGeom prst="roundRect">
            <a:avLst/>
          </a:prstGeom>
          <a:solidFill>
            <a:srgbClr val="E8F5EC"/>
          </a:solidFill>
          <a:ln w="1905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2D8C6A"/>
                </a:solidFill>
              </a:rPr>
              <a:t>✅ Expected output</a:t>
            </a:r>
          </a:p>
          <a:p>
            <a:pPr>
              <a:buNone/>
            </a:pPr>
            <a:r>
              <a:rPr lang="en-US" sz="1300" b="1" dirty="0">
                <a:latin typeface="Consolas"/>
              </a:rPr>
              <a:t>Rows affected: 1</a:t>
            </a:r>
          </a:p>
          <a:p>
            <a:pPr>
              <a:buNone/>
            </a:pPr>
            <a:r>
              <a:rPr lang="en-US" sz="1200" i="1" dirty="0">
                <a:solidFill>
                  <a:srgbClr val="335B74"/>
                </a:solidFill>
              </a:rPr>
              <a:t>Injected text saved literally — no table dropped.</a:t>
            </a:r>
          </a:p>
        </p:txBody>
      </p:sp>
    </p:spTree>
    <p:extLst>
      <p:ext uri="{BB962C8B-B14F-4D97-AF65-F5344CB8AC3E}">
        <p14:creationId xmlns:p14="http://schemas.microsoft.com/office/powerpoint/2010/main" val="190529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22500"/>
            <a:ext cx="7290055" cy="762000"/>
          </a:xfrm>
        </p:spPr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The four basic data-access operations every app performs against persistent storage. Each maps to a SQL statement and an ADO.NET Command call.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7339C3FD-9486-4B43-8611-CC5D7377A1E7}"/>
              </a:ext>
            </a:extLst>
          </p:cNvPr>
          <p:cNvSpPr/>
          <p:nvPr/>
        </p:nvSpPr>
        <p:spPr>
          <a:xfrm>
            <a:off x="3771900" y="4191000"/>
            <a:ext cx="1270000" cy="1270000"/>
          </a:xfrm>
          <a:prstGeom prst="can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5EF53F-1470-4899-8CD7-C6CFF881D4D7}"/>
              </a:ext>
            </a:extLst>
          </p:cNvPr>
          <p:cNvSpPr/>
          <p:nvPr/>
        </p:nvSpPr>
        <p:spPr>
          <a:xfrm>
            <a:off x="850900" y="3746500"/>
            <a:ext cx="1905000" cy="825500"/>
          </a:xfrm>
          <a:prstGeom prst="round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CREATE</a:t>
            </a:r>
          </a:p>
          <a:p>
            <a:pPr algn="ctr">
              <a:buNone/>
            </a:pPr>
            <a:r>
              <a:rPr lang="en-US" sz="1300" dirty="0">
                <a:latin typeface="Consolas"/>
              </a:rPr>
              <a:t>INSERT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297B7D-1EF1-4B50-B1A5-D78B3FAD4577}"/>
              </a:ext>
            </a:extLst>
          </p:cNvPr>
          <p:cNvSpPr/>
          <p:nvPr/>
        </p:nvSpPr>
        <p:spPr>
          <a:xfrm>
            <a:off x="6057900" y="3746500"/>
            <a:ext cx="1905000" cy="8255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READ</a:t>
            </a:r>
          </a:p>
          <a:p>
            <a:pPr algn="ctr">
              <a:buNone/>
            </a:pPr>
            <a:r>
              <a:rPr lang="en-US" sz="1300" dirty="0">
                <a:latin typeface="Consolas"/>
              </a:rPr>
              <a:t>SELECT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161C12-C44A-499D-83CE-C0A9937485A9}"/>
              </a:ext>
            </a:extLst>
          </p:cNvPr>
          <p:cNvSpPr/>
          <p:nvPr/>
        </p:nvSpPr>
        <p:spPr>
          <a:xfrm>
            <a:off x="850900" y="5080000"/>
            <a:ext cx="1905000" cy="825500"/>
          </a:xfrm>
          <a:prstGeom prst="round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UPDATE</a:t>
            </a:r>
          </a:p>
          <a:p>
            <a:pPr algn="ctr">
              <a:buNone/>
            </a:pPr>
            <a:r>
              <a:rPr lang="en-US" sz="1300" dirty="0">
                <a:latin typeface="Consolas"/>
              </a:rPr>
              <a:t>UPDATE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E00B0D-D1BC-411B-A026-13324A1A8637}"/>
              </a:ext>
            </a:extLst>
          </p:cNvPr>
          <p:cNvSpPr/>
          <p:nvPr/>
        </p:nvSpPr>
        <p:spPr>
          <a:xfrm>
            <a:off x="6057900" y="5080000"/>
            <a:ext cx="1905000" cy="825500"/>
          </a:xfrm>
          <a:prstGeom prst="roundRect">
            <a:avLst/>
          </a:prstGeom>
          <a:solidFill>
            <a:srgbClr val="C0504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DELETE</a:t>
            </a:r>
          </a:p>
          <a:p>
            <a:pPr algn="ctr">
              <a:buNone/>
            </a:pPr>
            <a:r>
              <a:rPr lang="en-US" sz="1300" dirty="0">
                <a:latin typeface="Consolas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84870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19: ASP.NET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1651000"/>
          </a:xfrm>
        </p:spPr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chemeClr val="tx2"/>
                </a:solidFill>
              </a:rPr>
              <a:t>What you'll learn in this module</a:t>
            </a:r>
          </a:p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ASP.NET Core is a cross-platform, high-performance framework for building modern cloud-based web applications. We'll start with the framework's architecture, then dive into projects, hosting models, and the Kestrel web server.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50F2C8-8BA0-49D3-906B-D8D2202434A2}"/>
              </a:ext>
            </a:extLst>
          </p:cNvPr>
          <p:cNvSpPr/>
          <p:nvPr/>
        </p:nvSpPr>
        <p:spPr>
          <a:xfrm>
            <a:off x="762000" y="4127500"/>
            <a:ext cx="1752600" cy="2095500"/>
          </a:xfrm>
          <a:prstGeom prst="round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Introduction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Framework basics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CAE1B0-2DDC-4869-95DC-22B1A1E45910}"/>
              </a:ext>
            </a:extLst>
          </p:cNvPr>
          <p:cNvSpPr/>
          <p:nvPr/>
        </p:nvSpPr>
        <p:spPr>
          <a:xfrm>
            <a:off x="2603500" y="4127500"/>
            <a:ext cx="1752600" cy="2095500"/>
          </a:xfrm>
          <a:prstGeom prst="round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Applications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Create &amp; run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A75EC3-D41E-4953-9E60-C8E20378B408}"/>
              </a:ext>
            </a:extLst>
          </p:cNvPr>
          <p:cNvSpPr/>
          <p:nvPr/>
        </p:nvSpPr>
        <p:spPr>
          <a:xfrm>
            <a:off x="4445000" y="4127500"/>
            <a:ext cx="1752600" cy="2095500"/>
          </a:xfrm>
          <a:prstGeom prst="roundRect">
            <a:avLst/>
          </a:prstGeom>
          <a:solidFill>
            <a:srgbClr val="1E5E9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Hosting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Environments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761BD8-C48A-4F6D-811F-7536394A0C87}"/>
              </a:ext>
            </a:extLst>
          </p:cNvPr>
          <p:cNvSpPr/>
          <p:nvPr/>
        </p:nvSpPr>
        <p:spPr>
          <a:xfrm>
            <a:off x="6286500" y="4127500"/>
            <a:ext cx="1752600" cy="2095500"/>
          </a:xfrm>
          <a:prstGeom prst="round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Servers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Kestrel &amp; IIS</a:t>
            </a:r>
          </a:p>
        </p:txBody>
      </p:sp>
    </p:spTree>
    <p:extLst>
      <p:ext uri="{BB962C8B-B14F-4D97-AF65-F5344CB8AC3E}">
        <p14:creationId xmlns:p14="http://schemas.microsoft.com/office/powerpoint/2010/main" val="280436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ASP.NET 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1651000"/>
          </a:xfrm>
          <a:noFill/>
        </p:spPr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ASP.NET Core is Microsoft's redesigned web framework — rebuilt from the ground up to be modular, fast, and platform-independent. The four key pillars that distinguish it from classic ASP.NET: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7BA89F-9FFD-42DD-88AE-694E5182E47F}"/>
              </a:ext>
            </a:extLst>
          </p:cNvPr>
          <p:cNvSpPr/>
          <p:nvPr/>
        </p:nvSpPr>
        <p:spPr>
          <a:xfrm>
            <a:off x="762000" y="4127500"/>
            <a:ext cx="1752600" cy="2095500"/>
          </a:xfrm>
          <a:prstGeom prst="round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91440" rIns="91440" bIns="9144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Cross-Platform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Windows, Linux, macOS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A11B5B-319D-48D4-98AC-80BA45D59B18}"/>
              </a:ext>
            </a:extLst>
          </p:cNvPr>
          <p:cNvSpPr/>
          <p:nvPr/>
        </p:nvSpPr>
        <p:spPr>
          <a:xfrm>
            <a:off x="2603500" y="4127500"/>
            <a:ext cx="1752600" cy="2095500"/>
          </a:xfrm>
          <a:prstGeom prst="round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91440" rIns="91440" bIns="9144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High Performance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Among fastest web frameworks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33F419-693F-475A-97DB-2E4F7A6E47DF}"/>
              </a:ext>
            </a:extLst>
          </p:cNvPr>
          <p:cNvSpPr/>
          <p:nvPr/>
        </p:nvSpPr>
        <p:spPr>
          <a:xfrm>
            <a:off x="4445000" y="4127500"/>
            <a:ext cx="1752600" cy="2095500"/>
          </a:xfrm>
          <a:prstGeom prst="roundRect">
            <a:avLst/>
          </a:prstGeom>
          <a:solidFill>
            <a:srgbClr val="1E5E9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91440" rIns="91440" bIns="9144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Open Source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MIT licensed on GitHub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743963-C788-4A32-9D4B-9408F84F1F69}"/>
              </a:ext>
            </a:extLst>
          </p:cNvPr>
          <p:cNvSpPr/>
          <p:nvPr/>
        </p:nvSpPr>
        <p:spPr>
          <a:xfrm>
            <a:off x="6286500" y="4127500"/>
            <a:ext cx="1752600" cy="2095500"/>
          </a:xfrm>
          <a:prstGeom prst="round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91440" rIns="91440" bIns="91440" rtlCol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Cloud-Ready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Built for containers &amp; cloud</a:t>
            </a:r>
          </a:p>
        </p:txBody>
      </p:sp>
    </p:spTree>
    <p:extLst>
      <p:ext uri="{BB962C8B-B14F-4D97-AF65-F5344CB8AC3E}">
        <p14:creationId xmlns:p14="http://schemas.microsoft.com/office/powerpoint/2010/main" val="2801689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ASP.NET Core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1143000"/>
          </a:xfrm>
          <a:noFill/>
        </p:spPr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The .NET CLI provides project templates for every app type. Each command scaffolds a runnable project in seconds: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8C19F-442D-4EA0-97D0-EB5F60E3A397}"/>
              </a:ext>
            </a:extLst>
          </p:cNvPr>
          <p:cNvSpPr/>
          <p:nvPr/>
        </p:nvSpPr>
        <p:spPr>
          <a:xfrm>
            <a:off x="762000" y="3619500"/>
            <a:ext cx="1778000" cy="8128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Web 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C765FC-E733-4E43-92EE-DCC54D9EAC7C}"/>
              </a:ext>
            </a:extLst>
          </p:cNvPr>
          <p:cNvSpPr/>
          <p:nvPr/>
        </p:nvSpPr>
        <p:spPr>
          <a:xfrm>
            <a:off x="2540000" y="3619500"/>
            <a:ext cx="5588000" cy="812800"/>
          </a:xfrm>
          <a:prstGeom prst="rect">
            <a:avLst/>
          </a:prstGeom>
          <a:solidFill>
            <a:srgbClr val="1F6A4F"/>
          </a:solidFill>
          <a:ln w="6350" cap="flat" cmpd="sng" algn="ctr">
            <a:solidFill>
              <a:srgbClr val="335B7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20000" rIns="120000" rtlCol="0" anchor="ctr"/>
          <a:lstStyle/>
          <a:p>
            <a:pPr>
              <a:buNone/>
            </a:pPr>
            <a:r>
              <a:rPr lang="en-US" sz="1400" b="1" dirty="0">
                <a:latin typeface="Consolas"/>
              </a:rPr>
              <a:t>dotnet new webapi -n MyApi</a:t>
            </a:r>
          </a:p>
          <a:p>
            <a:pPr>
              <a:buNone/>
            </a:pPr>
            <a:r>
              <a:rPr lang="en-US" sz="1200" i="1" dirty="0">
                <a:solidFill>
                  <a:srgbClr val="666666"/>
                </a:solidFill>
              </a:rPr>
              <a:t>REST API with controllers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F7DA6-B534-4F3B-A95B-EBB326F66D3C}"/>
              </a:ext>
            </a:extLst>
          </p:cNvPr>
          <p:cNvSpPr/>
          <p:nvPr/>
        </p:nvSpPr>
        <p:spPr>
          <a:xfrm>
            <a:off x="762000" y="4508500"/>
            <a:ext cx="1778000" cy="8128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MVC Web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AB499D-3F64-466D-8F38-949086854CE9}"/>
              </a:ext>
            </a:extLst>
          </p:cNvPr>
          <p:cNvSpPr/>
          <p:nvPr/>
        </p:nvSpPr>
        <p:spPr>
          <a:xfrm>
            <a:off x="2540000" y="4508500"/>
            <a:ext cx="5588000" cy="812800"/>
          </a:xfrm>
          <a:prstGeom prst="rect">
            <a:avLst/>
          </a:prstGeom>
          <a:solidFill>
            <a:srgbClr val="F4F8FB"/>
          </a:solidFill>
          <a:ln w="6350" cap="flat" cmpd="sng" algn="ctr">
            <a:solidFill>
              <a:srgbClr val="335B7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20000" rIns="120000" rtlCol="0" anchor="ctr"/>
          <a:lstStyle/>
          <a:p>
            <a:pPr>
              <a:buNone/>
            </a:pPr>
            <a:r>
              <a:rPr lang="en-US" sz="1400" b="1" dirty="0">
                <a:latin typeface="Consolas"/>
              </a:rPr>
              <a:t>dotnet new mvc -n MyApp</a:t>
            </a:r>
          </a:p>
          <a:p>
            <a:pPr>
              <a:buNone/>
            </a:pPr>
            <a:r>
              <a:rPr lang="en-US" sz="1200" i="1" dirty="0">
                <a:solidFill>
                  <a:srgbClr val="666666"/>
                </a:solidFill>
              </a:rPr>
              <a:t>Server-rendered web app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6F387B-31E5-4F6E-859F-8FCCFA6D6FD6}"/>
              </a:ext>
            </a:extLst>
          </p:cNvPr>
          <p:cNvSpPr/>
          <p:nvPr/>
        </p:nvSpPr>
        <p:spPr>
          <a:xfrm>
            <a:off x="762000" y="5397500"/>
            <a:ext cx="1778000" cy="8128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Razor Pages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514AD5-3A13-4077-AD73-FA0035870055}"/>
              </a:ext>
            </a:extLst>
          </p:cNvPr>
          <p:cNvSpPr/>
          <p:nvPr/>
        </p:nvSpPr>
        <p:spPr>
          <a:xfrm>
            <a:off x="2540000" y="5397500"/>
            <a:ext cx="5588000" cy="812800"/>
          </a:xfrm>
          <a:prstGeom prst="rect">
            <a:avLst/>
          </a:prstGeom>
          <a:solidFill>
            <a:srgbClr val="F4F8FB"/>
          </a:solidFill>
          <a:ln w="6350" cap="flat" cmpd="sng" algn="ctr">
            <a:solidFill>
              <a:srgbClr val="335B7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20000" rIns="120000" rtlCol="0" anchor="ctr"/>
          <a:lstStyle/>
          <a:p>
            <a:pPr>
              <a:buNone/>
            </a:pPr>
            <a:r>
              <a:rPr lang="en-US" sz="1400" b="1" dirty="0">
                <a:latin typeface="Consolas"/>
              </a:rPr>
              <a:t>dotnet new razor -n MyPages</a:t>
            </a:r>
          </a:p>
          <a:p>
            <a:pPr>
              <a:buNone/>
            </a:pPr>
            <a:r>
              <a:rPr lang="en-US" sz="1200" i="1" dirty="0">
                <a:solidFill>
                  <a:srgbClr val="666666"/>
                </a:solidFill>
              </a:rPr>
              <a:t>Page-based web app</a:t>
            </a:r>
          </a:p>
        </p:txBody>
      </p:sp>
    </p:spTree>
    <p:extLst>
      <p:ext uri="{BB962C8B-B14F-4D97-AF65-F5344CB8AC3E}">
        <p14:creationId xmlns:p14="http://schemas.microsoft.com/office/powerpoint/2010/main" val="4237250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🧪 Lab 3: Create Your First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chemeClr val="tx2"/>
                </a:solidFill>
              </a:rPr>
              <a:t>Goal: Scaffold and run a Web API from the CLI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chemeClr val="tx2"/>
                </a:solidFill>
              </a:rPr>
              <a:t>Open a terminal in an empty folder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chemeClr val="tx2"/>
                </a:solidFill>
              </a:rPr>
              <a:t>Run dotnet new webapi -n WeatherDemo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chemeClr val="tx2"/>
                </a:solidFill>
              </a:rPr>
              <a:t>cd WeatherDemo &amp;&amp; dotnet run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chemeClr val="tx2"/>
                </a:solidFill>
              </a:rPr>
              <a:t>Browse to https://localhost:&lt;port&gt;/weatherforecast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400" dirty="0">
                <a:solidFill>
                  <a:schemeClr val="tx2"/>
                </a:solidFill>
              </a:rPr>
              <a:t>Inspect the JSON response &amp; Program.cs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B4EB0C-A165-41E6-80A3-3AF544F9724B}"/>
              </a:ext>
            </a:extLst>
          </p:cNvPr>
          <p:cNvSpPr/>
          <p:nvPr/>
        </p:nvSpPr>
        <p:spPr>
          <a:xfrm>
            <a:off x="5397500" y="2286000"/>
            <a:ext cx="2730500" cy="1651000"/>
          </a:xfrm>
          <a:prstGeom prst="roundRect">
            <a:avLst/>
          </a:prstGeom>
          <a:solidFill>
            <a:srgbClr val="FFF4E0"/>
          </a:solidFill>
          <a:ln w="19050" cap="flat" cmpd="sng" algn="ctr">
            <a:solidFill>
              <a:srgbClr val="E8A33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0000" tIns="80000" rIns="100000" bIns="80000" rtlCol="0" anchor="t"/>
          <a:lstStyle/>
          <a:p>
            <a:pPr>
              <a:buNone/>
            </a:pPr>
            <a:r>
              <a:rPr lang="en-US" sz="1300" b="1" dirty="0">
                <a:solidFill>
                  <a:srgbClr val="B07020"/>
                </a:solidFill>
              </a:rPr>
              <a:t>💡 Hint</a:t>
            </a:r>
          </a:p>
          <a:p>
            <a:pPr>
              <a:buNone/>
            </a:pPr>
            <a:r>
              <a:rPr lang="en-US" sz="1200" dirty="0">
                <a:solidFill>
                  <a:srgbClr val="5C4A1F"/>
                </a:solidFill>
              </a:rPr>
              <a:t>The template includes Swagger UI in Dev — visit /swagger to try endpoints interactively.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E6AFB3-A50B-4253-A708-941195DC4C6F}"/>
              </a:ext>
            </a:extLst>
          </p:cNvPr>
          <p:cNvSpPr/>
          <p:nvPr/>
        </p:nvSpPr>
        <p:spPr>
          <a:xfrm>
            <a:off x="5397500" y="4127500"/>
            <a:ext cx="2730500" cy="1651000"/>
          </a:xfrm>
          <a:prstGeom prst="roundRect">
            <a:avLst/>
          </a:prstGeom>
          <a:solidFill>
            <a:srgbClr val="E8F5EC"/>
          </a:solidFill>
          <a:ln w="1905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00000" tIns="80000" rIns="100000" bIns="80000" rtlCol="0" anchor="t"/>
          <a:lstStyle/>
          <a:p>
            <a:pPr>
              <a:buNone/>
            </a:pPr>
            <a:r>
              <a:rPr lang="en-US" sz="1300" b="1" dirty="0">
                <a:solidFill>
                  <a:srgbClr val="2A6B43"/>
                </a:solidFill>
              </a:rPr>
              <a:t>✅ Expected Output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[{"date":"...","temp":21,"summary":"Mild"}, ... ]</a:t>
            </a:r>
          </a:p>
        </p:txBody>
      </p:sp>
    </p:spTree>
    <p:extLst>
      <p:ext uri="{BB962C8B-B14F-4D97-AF65-F5344CB8AC3E}">
        <p14:creationId xmlns:p14="http://schemas.microsoft.com/office/powerpoint/2010/main" val="1660434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vs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Both project types are .NET — but their lifecycles, entry points, and runtime expectations differ. Knowing the difference helps you pick the right template for the job.</a:t>
            </a:r>
          </a:p>
        </p:txBody>
      </p:sp>
      <p:sp>
        <p:nvSpPr>
          <p:cNvPr id="4" name="ConsoleCard">
            <a:extLst>
              <a:ext uri="{FF2B5EF4-FFF2-40B4-BE49-F238E27FC236}">
                <a16:creationId xmlns:a16="http://schemas.microsoft.com/office/drawing/2014/main" id="{FB2C1F13-B7BB-4933-BA68-DBFB1511888C}"/>
              </a:ext>
            </a:extLst>
          </p:cNvPr>
          <p:cNvSpPr/>
          <p:nvPr/>
        </p:nvSpPr>
        <p:spPr>
          <a:xfrm>
            <a:off x="762000" y="3683000"/>
            <a:ext cx="3492500" cy="2476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335B7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Runs commands top-to-bottom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Exits when work is done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Short-lived process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HTTP pipeline</a:t>
            </a:r>
          </a:p>
        </p:txBody>
      </p:sp>
      <p:sp>
        <p:nvSpPr>
          <p:cNvPr id="5" name="WebCard">
            <a:extLst>
              <a:ext uri="{FF2B5EF4-FFF2-40B4-BE49-F238E27FC236}">
                <a16:creationId xmlns:a16="http://schemas.microsoft.com/office/drawing/2014/main" id="{09898B18-4C24-4EFF-8956-BE65037C2619}"/>
              </a:ext>
            </a:extLst>
          </p:cNvPr>
          <p:cNvSpPr/>
          <p:nvPr/>
        </p:nvSpPr>
        <p:spPr>
          <a:xfrm>
            <a:off x="4572000" y="3683000"/>
            <a:ext cx="3492500" cy="2476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Handles HTTP requests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Long-running process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Request/response pipeline</a:t>
            </a:r>
          </a:p>
          <a:p>
            <a:pPr marL="171450" indent="-171450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ASP.NET Core lives here</a:t>
            </a:r>
          </a:p>
        </p:txBody>
      </p:sp>
      <p:sp>
        <p:nvSpPr>
          <p:cNvPr id="6" name="ConsoleHead">
            <a:extLst>
              <a:ext uri="{FF2B5EF4-FFF2-40B4-BE49-F238E27FC236}">
                <a16:creationId xmlns:a16="http://schemas.microsoft.com/office/drawing/2014/main" id="{52FF1258-9D4F-42C7-B86F-772B45294383}"/>
              </a:ext>
            </a:extLst>
          </p:cNvPr>
          <p:cNvSpPr/>
          <p:nvPr/>
        </p:nvSpPr>
        <p:spPr>
          <a:xfrm>
            <a:off x="762000" y="3683000"/>
            <a:ext cx="3492500" cy="5080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Console App</a:t>
            </a:r>
          </a:p>
        </p:txBody>
      </p:sp>
      <p:sp>
        <p:nvSpPr>
          <p:cNvPr id="7" name="WebHead">
            <a:extLst>
              <a:ext uri="{FF2B5EF4-FFF2-40B4-BE49-F238E27FC236}">
                <a16:creationId xmlns:a16="http://schemas.microsoft.com/office/drawing/2014/main" id="{CD52D871-9664-4177-AE32-44403336BE8A}"/>
              </a:ext>
            </a:extLst>
          </p:cNvPr>
          <p:cNvSpPr/>
          <p:nvPr/>
        </p:nvSpPr>
        <p:spPr>
          <a:xfrm>
            <a:off x="4572000" y="3683000"/>
            <a:ext cx="3492500" cy="508000"/>
          </a:xfrm>
          <a:prstGeom prst="rect">
            <a:avLst/>
          </a:prstGeom>
          <a:solidFill>
            <a:srgbClr val="1A7FA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App</a:t>
            </a:r>
          </a:p>
        </p:txBody>
      </p:sp>
    </p:spTree>
    <p:extLst>
      <p:ext uri="{BB962C8B-B14F-4D97-AF65-F5344CB8AC3E}">
        <p14:creationId xmlns:p14="http://schemas.microsoft.com/office/powerpoint/2010/main" val="53599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ASP.NET Core uses the IHostEnvironment service to know which environment it's running in. The ASPNETCORE_ENVIRONMENT variable picks which appsettings.{Env}.json file loads and toggles features like detailed error pages.</a:t>
            </a:r>
          </a:p>
        </p:txBody>
      </p:sp>
      <p:sp>
        <p:nvSpPr>
          <p:cNvPr id="4" name="DevCard">
            <a:extLst>
              <a:ext uri="{FF2B5EF4-FFF2-40B4-BE49-F238E27FC236}">
                <a16:creationId xmlns:a16="http://schemas.microsoft.com/office/drawing/2014/main" id="{24686E94-013F-4DFB-ACFE-0D4362BA0F7F}"/>
              </a:ext>
            </a:extLst>
          </p:cNvPr>
          <p:cNvSpPr/>
          <p:nvPr/>
        </p:nvSpPr>
        <p:spPr>
          <a:xfrm>
            <a:off x="762000" y="4064000"/>
            <a:ext cx="2286000" cy="2095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Detailed errors on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Hot reload enabled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Local config &amp; secrets</a:t>
            </a:r>
          </a:p>
        </p:txBody>
      </p:sp>
      <p:sp>
        <p:nvSpPr>
          <p:cNvPr id="5" name="DevCardHead">
            <a:extLst>
              <a:ext uri="{FF2B5EF4-FFF2-40B4-BE49-F238E27FC236}">
                <a16:creationId xmlns:a16="http://schemas.microsoft.com/office/drawing/2014/main" id="{B079C964-D60F-4CE1-8739-D422713105FA}"/>
              </a:ext>
            </a:extLst>
          </p:cNvPr>
          <p:cNvSpPr/>
          <p:nvPr/>
        </p:nvSpPr>
        <p:spPr>
          <a:xfrm>
            <a:off x="762000" y="4064000"/>
            <a:ext cx="2286000" cy="5080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6" name="StgCard">
            <a:extLst>
              <a:ext uri="{FF2B5EF4-FFF2-40B4-BE49-F238E27FC236}">
                <a16:creationId xmlns:a16="http://schemas.microsoft.com/office/drawing/2014/main" id="{51F05F95-3F6A-443A-9178-AE4745E6BE25}"/>
              </a:ext>
            </a:extLst>
          </p:cNvPr>
          <p:cNvSpPr/>
          <p:nvPr/>
        </p:nvSpPr>
        <p:spPr>
          <a:xfrm>
            <a:off x="3111500" y="4064000"/>
            <a:ext cx="2286000" cy="2095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E8A33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Mirrors production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Final QA gate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Pre-release testing</a:t>
            </a:r>
          </a:p>
        </p:txBody>
      </p:sp>
      <p:sp>
        <p:nvSpPr>
          <p:cNvPr id="7" name="StgCardHead">
            <a:extLst>
              <a:ext uri="{FF2B5EF4-FFF2-40B4-BE49-F238E27FC236}">
                <a16:creationId xmlns:a16="http://schemas.microsoft.com/office/drawing/2014/main" id="{6A4CB025-B998-45E7-81F6-B650862B9873}"/>
              </a:ext>
            </a:extLst>
          </p:cNvPr>
          <p:cNvSpPr/>
          <p:nvPr/>
        </p:nvSpPr>
        <p:spPr>
          <a:xfrm>
            <a:off x="3111500" y="4064000"/>
            <a:ext cx="2286000" cy="508000"/>
          </a:xfrm>
          <a:prstGeom prst="rect">
            <a:avLst/>
          </a:prstGeom>
          <a:solidFill>
            <a:srgbClr val="A0691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8" name="PrdCard">
            <a:extLst>
              <a:ext uri="{FF2B5EF4-FFF2-40B4-BE49-F238E27FC236}">
                <a16:creationId xmlns:a16="http://schemas.microsoft.com/office/drawing/2014/main" id="{4ED24FE4-EF37-4398-B149-7E41B77DC0DE}"/>
              </a:ext>
            </a:extLst>
          </p:cNvPr>
          <p:cNvSpPr/>
          <p:nvPr/>
        </p:nvSpPr>
        <p:spPr>
          <a:xfrm>
            <a:off x="5461000" y="4064000"/>
            <a:ext cx="2286000" cy="2095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335B7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Optimized &amp; cached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Generic error pages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Real customer traffic</a:t>
            </a:r>
          </a:p>
        </p:txBody>
      </p:sp>
      <p:sp>
        <p:nvSpPr>
          <p:cNvPr id="9" name="PrdCardHead">
            <a:extLst>
              <a:ext uri="{FF2B5EF4-FFF2-40B4-BE49-F238E27FC236}">
                <a16:creationId xmlns:a16="http://schemas.microsoft.com/office/drawing/2014/main" id="{237E64FA-92A6-46F7-8A18-B04821782493}"/>
              </a:ext>
            </a:extLst>
          </p:cNvPr>
          <p:cNvSpPr/>
          <p:nvPr/>
        </p:nvSpPr>
        <p:spPr>
          <a:xfrm>
            <a:off x="5461000" y="4064000"/>
            <a:ext cx="2286000" cy="5080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87688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Three building blocks make up the ASP.NET Core hosting model. Each plays a distinct role in turning Program.cs into a running web server.</a:t>
            </a:r>
          </a:p>
        </p:txBody>
      </p:sp>
      <p:sp>
        <p:nvSpPr>
          <p:cNvPr id="4" name="WebApp">
            <a:extLst>
              <a:ext uri="{FF2B5EF4-FFF2-40B4-BE49-F238E27FC236}">
                <a16:creationId xmlns:a16="http://schemas.microsoft.com/office/drawing/2014/main" id="{A9A1B8BF-44DF-4FA8-ABC4-281BFB585137}"/>
              </a:ext>
            </a:extLst>
          </p:cNvPr>
          <p:cNvSpPr/>
          <p:nvPr/>
        </p:nvSpPr>
        <p:spPr>
          <a:xfrm>
            <a:off x="762000" y="4064000"/>
            <a:ext cx="2286000" cy="2095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6B7280"/>
                </a:solidFill>
              </a:rPr>
              <a:t>The app instance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Created via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WebApplication.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CreateBuilder()</a:t>
            </a:r>
          </a:p>
        </p:txBody>
      </p:sp>
      <p:sp>
        <p:nvSpPr>
          <p:cNvPr id="5" name="WebAppHead">
            <a:extLst>
              <a:ext uri="{FF2B5EF4-FFF2-40B4-BE49-F238E27FC236}">
                <a16:creationId xmlns:a16="http://schemas.microsoft.com/office/drawing/2014/main" id="{879E0422-20A0-47E7-9470-15EB4DCBC342}"/>
              </a:ext>
            </a:extLst>
          </p:cNvPr>
          <p:cNvSpPr/>
          <p:nvPr/>
        </p:nvSpPr>
        <p:spPr>
          <a:xfrm>
            <a:off x="762000" y="4064000"/>
            <a:ext cx="2286000" cy="508000"/>
          </a:xfrm>
          <a:prstGeom prst="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WebApplication</a:t>
            </a:r>
          </a:p>
        </p:txBody>
      </p:sp>
      <p:sp>
        <p:nvSpPr>
          <p:cNvPr id="6" name="AppBuilder">
            <a:extLst>
              <a:ext uri="{FF2B5EF4-FFF2-40B4-BE49-F238E27FC236}">
                <a16:creationId xmlns:a16="http://schemas.microsoft.com/office/drawing/2014/main" id="{B4294591-4C9B-40F7-BD5C-92D7CEB7126A}"/>
              </a:ext>
            </a:extLst>
          </p:cNvPr>
          <p:cNvSpPr/>
          <p:nvPr/>
        </p:nvSpPr>
        <p:spPr>
          <a:xfrm>
            <a:off x="3111500" y="4064000"/>
            <a:ext cx="2286000" cy="2095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2683C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6B7280"/>
                </a:solidFill>
              </a:rPr>
              <a:t>Configures pipeline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Adds middleware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in execution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order</a:t>
            </a:r>
          </a:p>
        </p:txBody>
      </p:sp>
      <p:sp>
        <p:nvSpPr>
          <p:cNvPr id="7" name="AppBuilderHead">
            <a:extLst>
              <a:ext uri="{FF2B5EF4-FFF2-40B4-BE49-F238E27FC236}">
                <a16:creationId xmlns:a16="http://schemas.microsoft.com/office/drawing/2014/main" id="{B622CA6F-575A-4604-95F0-7C18AF8A12FF}"/>
              </a:ext>
            </a:extLst>
          </p:cNvPr>
          <p:cNvSpPr/>
          <p:nvPr/>
        </p:nvSpPr>
        <p:spPr>
          <a:xfrm>
            <a:off x="3111500" y="4064000"/>
            <a:ext cx="2286000" cy="508000"/>
          </a:xfrm>
          <a:prstGeom prst="rect">
            <a:avLst/>
          </a:prstGeom>
          <a:solidFill>
            <a:srgbClr val="1E5E9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IApplicationBuilder</a:t>
            </a:r>
          </a:p>
        </p:txBody>
      </p:sp>
      <p:sp>
        <p:nvSpPr>
          <p:cNvPr id="8" name="WebHost">
            <a:extLst>
              <a:ext uri="{FF2B5EF4-FFF2-40B4-BE49-F238E27FC236}">
                <a16:creationId xmlns:a16="http://schemas.microsoft.com/office/drawing/2014/main" id="{10BA80F7-1BAE-49CF-B1D0-FEB5296B795E}"/>
              </a:ext>
            </a:extLst>
          </p:cNvPr>
          <p:cNvSpPr/>
          <p:nvPr/>
        </p:nvSpPr>
        <p:spPr>
          <a:xfrm>
            <a:off x="5461000" y="4064000"/>
            <a:ext cx="2286000" cy="20955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335B7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>
              <a:buNone/>
            </a:pPr>
            <a:r>
              <a:rPr lang="en-US" sz="100" dirty="0"/>
              <a:t> 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6B7280"/>
                </a:solidFill>
              </a:rPr>
              <a:t>Hosts the server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Wraps Kestrel,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logging, DI</a:t>
            </a:r>
          </a:p>
          <a:p>
            <a:pPr algn="ctr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chemeClr val="tx2"/>
                </a:solidFill>
              </a:rPr>
              <a:t>container</a:t>
            </a:r>
          </a:p>
        </p:txBody>
      </p:sp>
      <p:sp>
        <p:nvSpPr>
          <p:cNvPr id="9" name="WebHostHead">
            <a:extLst>
              <a:ext uri="{FF2B5EF4-FFF2-40B4-BE49-F238E27FC236}">
                <a16:creationId xmlns:a16="http://schemas.microsoft.com/office/drawing/2014/main" id="{6149D88A-C8C4-4600-9534-77400B654D20}"/>
              </a:ext>
            </a:extLst>
          </p:cNvPr>
          <p:cNvSpPr/>
          <p:nvPr/>
        </p:nvSpPr>
        <p:spPr>
          <a:xfrm>
            <a:off x="5461000" y="4064000"/>
            <a:ext cx="2286000" cy="5080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WebHost</a:t>
            </a:r>
          </a:p>
        </p:txBody>
      </p:sp>
    </p:spTree>
    <p:extLst>
      <p:ext uri="{BB962C8B-B14F-4D97-AF65-F5344CB8AC3E}">
        <p14:creationId xmlns:p14="http://schemas.microsoft.com/office/powerpoint/2010/main" val="185147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ASP.NET Core ships with Kestrel as its built-in cross-platform server. In production it's often paired with a reverse proxy that handles TLS termination, load balancing, and static file serving.</a:t>
            </a:r>
          </a:p>
        </p:txBody>
      </p:sp>
      <p:sp>
        <p:nvSpPr>
          <p:cNvPr id="4" name="KestrelTag">
            <a:extLst>
              <a:ext uri="{FF2B5EF4-FFF2-40B4-BE49-F238E27FC236}">
                <a16:creationId xmlns:a16="http://schemas.microsoft.com/office/drawing/2014/main" id="{DFAFBB8F-5210-460E-81C5-997CD1C6B79E}"/>
              </a:ext>
            </a:extLst>
          </p:cNvPr>
          <p:cNvSpPr/>
          <p:nvPr/>
        </p:nvSpPr>
        <p:spPr>
          <a:xfrm>
            <a:off x="762000" y="4064000"/>
            <a:ext cx="1270000" cy="9525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Kestrel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5" name="KestrelCard">
            <a:extLst>
              <a:ext uri="{FF2B5EF4-FFF2-40B4-BE49-F238E27FC236}">
                <a16:creationId xmlns:a16="http://schemas.microsoft.com/office/drawing/2014/main" id="{23F1AA59-5101-4375-9302-4E4476C957A6}"/>
              </a:ext>
            </a:extLst>
          </p:cNvPr>
          <p:cNvSpPr/>
          <p:nvPr/>
        </p:nvSpPr>
        <p:spPr>
          <a:xfrm>
            <a:off x="2032000" y="4064000"/>
            <a:ext cx="2222500" cy="952500"/>
          </a:xfrm>
          <a:prstGeom prst="rect">
            <a:avLst/>
          </a:prstGeom>
          <a:solidFill>
            <a:srgbClr val="F4F8FB"/>
          </a:solidFill>
          <a:ln w="635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Cross-platform</a:t>
            </a: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Cross-platform, in-process server</a:t>
            </a:r>
          </a:p>
        </p:txBody>
      </p:sp>
      <p:sp>
        <p:nvSpPr>
          <p:cNvPr id="6" name="IISExpTag">
            <a:extLst>
              <a:ext uri="{FF2B5EF4-FFF2-40B4-BE49-F238E27FC236}">
                <a16:creationId xmlns:a16="http://schemas.microsoft.com/office/drawing/2014/main" id="{5B679299-51A6-4C97-B41D-788C1D2C6FD1}"/>
              </a:ext>
            </a:extLst>
          </p:cNvPr>
          <p:cNvSpPr/>
          <p:nvPr/>
        </p:nvSpPr>
        <p:spPr>
          <a:xfrm>
            <a:off x="4572000" y="4064000"/>
            <a:ext cx="1270000" cy="952500"/>
          </a:xfrm>
          <a:prstGeom prst="rect">
            <a:avLst/>
          </a:prstGeom>
          <a:solidFill>
            <a:srgbClr val="A0691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IIS Express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7" name="IISExpCard">
            <a:extLst>
              <a:ext uri="{FF2B5EF4-FFF2-40B4-BE49-F238E27FC236}">
                <a16:creationId xmlns:a16="http://schemas.microsoft.com/office/drawing/2014/main" id="{2D3EEAEF-36BF-4ED1-B5A7-058C6E3E3620}"/>
              </a:ext>
            </a:extLst>
          </p:cNvPr>
          <p:cNvSpPr/>
          <p:nvPr/>
        </p:nvSpPr>
        <p:spPr>
          <a:xfrm>
            <a:off x="5842000" y="4064000"/>
            <a:ext cx="2222500" cy="952500"/>
          </a:xfrm>
          <a:prstGeom prst="rect">
            <a:avLst/>
          </a:prstGeom>
          <a:solidFill>
            <a:srgbClr val="F4F8FB"/>
          </a:solidFill>
          <a:ln w="6350" cap="flat" cmpd="sng" algn="ctr">
            <a:solidFill>
              <a:srgbClr val="E8A33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Windows dev only</a:t>
            </a: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Used by Visual Studio for F5 debugging</a:t>
            </a:r>
          </a:p>
        </p:txBody>
      </p:sp>
      <p:sp>
        <p:nvSpPr>
          <p:cNvPr id="8" name="IISTag">
            <a:extLst>
              <a:ext uri="{FF2B5EF4-FFF2-40B4-BE49-F238E27FC236}">
                <a16:creationId xmlns:a16="http://schemas.microsoft.com/office/drawing/2014/main" id="{148E3504-D899-4F0B-B50E-B7863AE9563A}"/>
              </a:ext>
            </a:extLst>
          </p:cNvPr>
          <p:cNvSpPr/>
          <p:nvPr/>
        </p:nvSpPr>
        <p:spPr>
          <a:xfrm>
            <a:off x="762000" y="5207000"/>
            <a:ext cx="1270000" cy="9525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IIS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Prod</a:t>
            </a:r>
          </a:p>
        </p:txBody>
      </p:sp>
      <p:sp>
        <p:nvSpPr>
          <p:cNvPr id="9" name="IISCard">
            <a:extLst>
              <a:ext uri="{FF2B5EF4-FFF2-40B4-BE49-F238E27FC236}">
                <a16:creationId xmlns:a16="http://schemas.microsoft.com/office/drawing/2014/main" id="{B1EC5330-63C4-4CDF-AA96-B5B4E19E57D7}"/>
              </a:ext>
            </a:extLst>
          </p:cNvPr>
          <p:cNvSpPr/>
          <p:nvPr/>
        </p:nvSpPr>
        <p:spPr>
          <a:xfrm>
            <a:off x="2032000" y="5207000"/>
            <a:ext cx="2222500" cy="952500"/>
          </a:xfrm>
          <a:prstGeom prst="rect">
            <a:avLst/>
          </a:prstGeom>
          <a:solidFill>
            <a:srgbClr val="F4F8FB"/>
          </a:solidFill>
          <a:ln w="6350" cap="flat" cmpd="sng" algn="ctr">
            <a:solidFill>
              <a:srgbClr val="335B7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Windows production</a:t>
            </a: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Reverse proxy in front of Kestrel</a:t>
            </a:r>
          </a:p>
        </p:txBody>
      </p:sp>
      <p:sp>
        <p:nvSpPr>
          <p:cNvPr id="10" name="ProxyTag">
            <a:extLst>
              <a:ext uri="{FF2B5EF4-FFF2-40B4-BE49-F238E27FC236}">
                <a16:creationId xmlns:a16="http://schemas.microsoft.com/office/drawing/2014/main" id="{C9A67AFE-C1DD-415F-9A24-7B286BAE4BD5}"/>
              </a:ext>
            </a:extLst>
          </p:cNvPr>
          <p:cNvSpPr/>
          <p:nvPr/>
        </p:nvSpPr>
        <p:spPr>
          <a:xfrm>
            <a:off x="4572000" y="5207000"/>
            <a:ext cx="1270000" cy="952500"/>
          </a:xfrm>
          <a:prstGeom prst="rect">
            <a:avLst/>
          </a:prstGeom>
          <a:solidFill>
            <a:srgbClr val="1E5E9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Nginx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11" name="ProxyCard">
            <a:extLst>
              <a:ext uri="{FF2B5EF4-FFF2-40B4-BE49-F238E27FC236}">
                <a16:creationId xmlns:a16="http://schemas.microsoft.com/office/drawing/2014/main" id="{B019DA0F-0F8E-4257-991B-25D0DC657201}"/>
              </a:ext>
            </a:extLst>
          </p:cNvPr>
          <p:cNvSpPr/>
          <p:nvPr/>
        </p:nvSpPr>
        <p:spPr>
          <a:xfrm>
            <a:off x="5842000" y="5207000"/>
            <a:ext cx="2222500" cy="952500"/>
          </a:xfrm>
          <a:prstGeom prst="rect">
            <a:avLst/>
          </a:prstGeom>
          <a:solidFill>
            <a:srgbClr val="F4F8FB"/>
          </a:solidFill>
          <a:ln w="6350" cap="flat" cmpd="sng" algn="ctr">
            <a:solidFill>
              <a:srgbClr val="2683C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Apache / Nginx</a:t>
            </a:r>
          </a:p>
          <a:p>
            <a:pPr>
              <a:lnSpc>
                <a:spcPts val="15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Linux reverse proxy → Kestrel</a:t>
            </a:r>
          </a:p>
        </p:txBody>
      </p:sp>
    </p:spTree>
    <p:extLst>
      <p:ext uri="{BB962C8B-B14F-4D97-AF65-F5344CB8AC3E}">
        <p14:creationId xmlns:p14="http://schemas.microsoft.com/office/powerpoint/2010/main" val="3445008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335B74"/>
                </a:solidFill>
              </a:rPr>
              <a:t>Services &amp; Middleware</a:t>
            </a:r>
          </a:p>
          <a:p>
            <a:pPr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Module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dirty="0">
                <a:solidFill>
                  <a:schemeClr val="tx2"/>
                </a:solidFill>
              </a:rPr>
              <a:t>This module covers how ASP.NET Core composes applications from services and middleware.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08F4B8-34BB-4A6A-B1D6-C6A1EE864165}"/>
              </a:ext>
            </a:extLst>
          </p:cNvPr>
          <p:cNvSpPr/>
          <p:nvPr/>
        </p:nvSpPr>
        <p:spPr>
          <a:xfrm>
            <a:off x="762000" y="3048000"/>
            <a:ext cx="1016000" cy="76200"/>
          </a:xfrm>
          <a:prstGeom prst="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C37E24-2E0E-400B-8952-515E5ABFB6D1}"/>
              </a:ext>
            </a:extLst>
          </p:cNvPr>
          <p:cNvSpPr/>
          <p:nvPr/>
        </p:nvSpPr>
        <p:spPr>
          <a:xfrm>
            <a:off x="1117600" y="4191000"/>
            <a:ext cx="2159000" cy="635000"/>
          </a:xfrm>
          <a:prstGeom prst="round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DEPENDENCY INJECTION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CA0C67-FBF5-496B-8D0E-D16026A0FEB3}"/>
              </a:ext>
            </a:extLst>
          </p:cNvPr>
          <p:cNvSpPr/>
          <p:nvPr/>
        </p:nvSpPr>
        <p:spPr>
          <a:xfrm>
            <a:off x="3492500" y="4191000"/>
            <a:ext cx="2159000" cy="635000"/>
          </a:xfrm>
          <a:prstGeom prst="round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SERVICECOLLECTION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677E4F-90DA-4C55-AF3B-385C23705B01}"/>
              </a:ext>
            </a:extLst>
          </p:cNvPr>
          <p:cNvSpPr/>
          <p:nvPr/>
        </p:nvSpPr>
        <p:spPr>
          <a:xfrm>
            <a:off x="5867400" y="4191000"/>
            <a:ext cx="2159000" cy="635000"/>
          </a:xfrm>
          <a:prstGeom prst="round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MIDDLEWARE 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4CA5D-081E-48F3-B3F4-BBC49D0E6BE7}"/>
              </a:ext>
            </a:extLst>
          </p:cNvPr>
          <p:cNvSpPr txBox="1"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 i="1">
                <a:solidFill>
                  <a:srgbClr val="6B7280"/>
                </a:solidFill>
              </a:rPr>
              <a:t>4 Labs — Build a complete service-driven web pipeline</a:t>
            </a:r>
            <a:endParaRPr lang="en-IN" sz="13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795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DI flips how your classes get their collaborators. Instead of new-ing dependencies inside a class, the framework injects them via the constructor — loosening coupling and making code testable.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CF313-CE50-4C15-9C50-C7D5514CBC94}"/>
              </a:ext>
            </a:extLst>
          </p:cNvPr>
          <p:cNvSpPr/>
          <p:nvPr/>
        </p:nvSpPr>
        <p:spPr>
          <a:xfrm>
            <a:off x="762000" y="3873500"/>
            <a:ext cx="3492500" cy="355600"/>
          </a:xfrm>
          <a:prstGeom prst="rect">
            <a:avLst/>
          </a:prstGeom>
          <a:solidFill>
            <a:srgbClr val="A0333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WITHOUT DI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97E50-88EF-4388-9411-7C705CAAA0F7}"/>
              </a:ext>
            </a:extLst>
          </p:cNvPr>
          <p:cNvSpPr txBox="1"/>
          <p:nvPr/>
        </p:nvSpPr>
        <p:spPr>
          <a:xfrm>
            <a:off x="762000" y="4229100"/>
            <a:ext cx="3492500" cy="10795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100">
                <a:solidFill>
                  <a:srgbClr val="E8F5EC"/>
                </a:solidFill>
                <a:latin typeface="Consolas"/>
              </a:rPr>
              <a:t>public OrderService() {
  _db = new SqlDb();   // hard-coded
  _log = new Logger();
}</a:t>
            </a:r>
            <a:endParaRPr lang="en-IN" sz="1100">
              <a:solidFill>
                <a:srgbClr val="E8F5EC"/>
              </a:solidFill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E2606-BC50-4CB1-8B52-F3297BBAD762}"/>
              </a:ext>
            </a:extLst>
          </p:cNvPr>
          <p:cNvSpPr txBox="1"/>
          <p:nvPr/>
        </p:nvSpPr>
        <p:spPr>
          <a:xfrm>
            <a:off x="762000" y="5308600"/>
            <a:ext cx="3492500" cy="381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 i="1">
                <a:solidFill>
                  <a:srgbClr val="335B74"/>
                </a:solidFill>
              </a:rPr>
              <a:t>Hard to test, swap, or mock.</a:t>
            </a:r>
            <a:endParaRPr lang="en-IN" sz="1100" i="1">
              <a:solidFill>
                <a:srgbClr val="335B7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5E06D-F191-4EF2-8814-54BCEE13977C}"/>
              </a:ext>
            </a:extLst>
          </p:cNvPr>
          <p:cNvSpPr/>
          <p:nvPr/>
        </p:nvSpPr>
        <p:spPr>
          <a:xfrm>
            <a:off x="4572000" y="3873500"/>
            <a:ext cx="3492500" cy="3556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WITH DI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91816-708C-4E6C-AA4F-8350EEDE4696}"/>
              </a:ext>
            </a:extLst>
          </p:cNvPr>
          <p:cNvSpPr txBox="1"/>
          <p:nvPr/>
        </p:nvSpPr>
        <p:spPr>
          <a:xfrm>
            <a:off x="4572000" y="4229100"/>
            <a:ext cx="3492500" cy="10795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>
                <a:solidFill>
                  <a:srgbClr val="E8F5EC"/>
                </a:solidFill>
                <a:latin typeface="Consolas"/>
              </a:rPr>
              <a:t>public OrderService(
  IDatabase db, ILogger log) {
  _db = db; _log = log;
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E223F-A407-4E61-9E53-57349C2204A7}"/>
              </a:ext>
            </a:extLst>
          </p:cNvPr>
          <p:cNvSpPr txBox="1"/>
          <p:nvPr/>
        </p:nvSpPr>
        <p:spPr>
          <a:xfrm>
            <a:off x="4572000" y="5308600"/>
            <a:ext cx="3492500" cy="381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100" i="1">
                <a:solidFill>
                  <a:srgbClr val="335B74"/>
                </a:solidFill>
              </a:rPr>
              <a:t>Framework injects dependencies.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0AF0FAD-5412-4DFB-8A92-0984912521D8}"/>
              </a:ext>
            </a:extLst>
          </p:cNvPr>
          <p:cNvSpPr/>
          <p:nvPr/>
        </p:nvSpPr>
        <p:spPr>
          <a:xfrm>
            <a:off x="4254500" y="4445000"/>
            <a:ext cx="317500" cy="330200"/>
          </a:xfrm>
          <a:prstGeom prst="rightArrow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841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 in 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ASP.NET Core ships a built-in DI container, wired up in </a:t>
            </a:r>
            <a:r>
              <a:rPr lang="en-US" sz="1500" dirty="0">
                <a:latin typeface="Consolas"/>
              </a:rPr>
              <a:t>Program.cs</a:t>
            </a:r>
            <a:r>
              <a:rPr lang="en-US" sz="1500" dirty="0">
                <a:solidFill>
                  <a:schemeClr val="tx2"/>
                </a:solidFill>
              </a:rPr>
              <a:t>. Choose a lifetime that matches how long the service should live per request.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774A9-3335-4459-9A1A-4407F8C30F7A}"/>
              </a:ext>
            </a:extLst>
          </p:cNvPr>
          <p:cNvSpPr/>
          <p:nvPr/>
        </p:nvSpPr>
        <p:spPr>
          <a:xfrm>
            <a:off x="762000" y="4000500"/>
            <a:ext cx="2286000" cy="508000"/>
          </a:xfrm>
          <a:prstGeom prst="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Transient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F6C8E-30F3-4DAA-BDFA-D5ED460C4923}"/>
              </a:ext>
            </a:extLst>
          </p:cNvPr>
          <p:cNvSpPr txBox="1"/>
          <p:nvPr/>
        </p:nvSpPr>
        <p:spPr>
          <a:xfrm>
            <a:off x="762000" y="4508500"/>
            <a:ext cx="2286000" cy="1397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Created every time it's requested. Best for lightweight, stateless services.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F5C50-325B-494E-B69E-31C46D5692BF}"/>
              </a:ext>
            </a:extLst>
          </p:cNvPr>
          <p:cNvSpPr/>
          <p:nvPr/>
        </p:nvSpPr>
        <p:spPr>
          <a:xfrm>
            <a:off x="3111500" y="4000500"/>
            <a:ext cx="2286000" cy="5080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Scoped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34492-ECB4-4374-AA74-C1AEF9138455}"/>
              </a:ext>
            </a:extLst>
          </p:cNvPr>
          <p:cNvSpPr txBox="1"/>
          <p:nvPr/>
        </p:nvSpPr>
        <p:spPr>
          <a:xfrm>
            <a:off x="3111500" y="4508500"/>
            <a:ext cx="2286000" cy="1397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Created once per HTTP request. Default for most app services.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65A7F-3453-449A-BE22-E25DE1A2C046}"/>
              </a:ext>
            </a:extLst>
          </p:cNvPr>
          <p:cNvSpPr/>
          <p:nvPr/>
        </p:nvSpPr>
        <p:spPr>
          <a:xfrm>
            <a:off x="5461000" y="4000500"/>
            <a:ext cx="2286000" cy="5080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Singleton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57880-D322-4ECB-A650-DB62E6609F88}"/>
              </a:ext>
            </a:extLst>
          </p:cNvPr>
          <p:cNvSpPr txBox="1"/>
          <p:nvPr/>
        </p:nvSpPr>
        <p:spPr>
          <a:xfrm>
            <a:off x="5461000" y="4508500"/>
            <a:ext cx="2286000" cy="1397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Created once for the entire app. Best for thread-safe shared state.</a:t>
            </a:r>
            <a:endParaRPr lang="en-IN" sz="1300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325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4: Register &amp; Inject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/>
              <a:buAutoNum type="arabicPeriod"/>
            </a:pPr>
            <a:r>
              <a:rPr lang="en-US" sz="1400" b="1" dirty="0">
                <a:solidFill>
                  <a:srgbClr val="335B74"/>
                </a:solidFill>
              </a:rPr>
              <a:t>Define interface &amp; class</a:t>
            </a:r>
          </a:p>
          <a:p>
            <a:pPr marL="171450" indent="0">
              <a:buNone/>
            </a:pPr>
            <a:r>
              <a:rPr lang="en-US" sz="1200" dirty="0">
                <a:latin typeface="Consolas"/>
              </a:rPr>
              <a:t>IGreeter / Greeter</a:t>
            </a:r>
          </a:p>
          <a:p>
            <a:pPr marL="171450" indent="-171450">
              <a:buFont typeface="Arial"/>
              <a:buAutoNum type="arabicPeriod" startAt="2"/>
            </a:pPr>
            <a:r>
              <a:rPr lang="en-US" sz="1400" b="1" dirty="0">
                <a:solidFill>
                  <a:srgbClr val="335B74"/>
                </a:solidFill>
              </a:rPr>
              <a:t>Register in Program.cs</a:t>
            </a:r>
          </a:p>
          <a:p>
            <a:pPr marL="171450" indent="0">
              <a:buNone/>
            </a:pPr>
            <a:r>
              <a:rPr lang="en-US" sz="1200" dirty="0">
                <a:latin typeface="Consolas"/>
              </a:rPr>
              <a:t>builder.Services.AddScoped&lt;IGreeter, Greeter&gt;()</a:t>
            </a:r>
          </a:p>
          <a:p>
            <a:pPr marL="171450" indent="-171450">
              <a:buFont typeface="Arial"/>
              <a:buAutoNum type="arabicPeriod" startAt="3"/>
            </a:pPr>
            <a:r>
              <a:rPr lang="en-US" sz="1400" b="1" dirty="0">
                <a:solidFill>
                  <a:srgbClr val="335B74"/>
                </a:solidFill>
              </a:rPr>
              <a:t>Inject in controller</a:t>
            </a:r>
          </a:p>
          <a:p>
            <a:pPr marL="171450" indent="0">
              <a:buNone/>
            </a:pPr>
            <a:r>
              <a:rPr lang="en-US" sz="1200" dirty="0">
                <a:latin typeface="Consolas"/>
              </a:rPr>
              <a:t>public Ctrl(IGreeter 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B004A-B4DE-4A1A-9430-7EC1C36F6145}"/>
              </a:ext>
            </a:extLst>
          </p:cNvPr>
          <p:cNvSpPr txBox="1"/>
          <p:nvPr/>
        </p:nvSpPr>
        <p:spPr>
          <a:xfrm>
            <a:off x="5397500" y="2286000"/>
            <a:ext cx="2730500" cy="1031051"/>
          </a:xfrm>
          <a:prstGeom prst="rect">
            <a:avLst/>
          </a:prstGeom>
          <a:solidFill>
            <a:srgbClr val="FFF4E0"/>
          </a:solidFill>
          <a:ln w="19050">
            <a:solidFill>
              <a:srgbClr val="E8A33A"/>
            </a:solidFill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B07020"/>
                </a:solidFill>
              </a:rPr>
              <a:t>💡 Hint</a:t>
            </a:r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 dirty="0">
                <a:solidFill>
                  <a:srgbClr val="5C4A1F"/>
                </a:solidFill>
              </a:rPr>
              <a:t>Use the constructor parameter — the framework provides the instance automatically. No </a:t>
            </a:r>
            <a:r>
              <a:rPr lang="en-US" sz="1200" dirty="0">
                <a:latin typeface="Consolas"/>
              </a:rPr>
              <a:t>new</a:t>
            </a:r>
            <a:r>
              <a:rPr lang="en-US" sz="1200" dirty="0">
                <a:solidFill>
                  <a:srgbClr val="5C4A1F"/>
                </a:solidFill>
              </a:rPr>
              <a:t> needed.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D00DD-82BE-442E-8F14-25114AD8B773}"/>
              </a:ext>
            </a:extLst>
          </p:cNvPr>
          <p:cNvSpPr txBox="1"/>
          <p:nvPr/>
        </p:nvSpPr>
        <p:spPr>
          <a:xfrm>
            <a:off x="5397500" y="4127500"/>
            <a:ext cx="2730500" cy="1215717"/>
          </a:xfrm>
          <a:prstGeom prst="rect">
            <a:avLst/>
          </a:prstGeom>
          <a:solidFill>
            <a:srgbClr val="E8F5EC"/>
          </a:solidFill>
          <a:ln w="19050">
            <a:solidFill>
              <a:srgbClr val="42BA97"/>
            </a:solidFill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2A6B43"/>
                </a:solidFill>
              </a:rPr>
              <a:t>✅ Expected Output</a:t>
            </a:r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 dirty="0">
                <a:latin typeface="Consolas"/>
              </a:rPr>
              <a:t>GET /hello → "Hello from Greeter!"</a:t>
            </a:r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 i="1" dirty="0">
                <a:solidFill>
                  <a:srgbClr val="1F4E2F"/>
                </a:solidFill>
              </a:rPr>
              <a:t>Service resolved per request.</a:t>
            </a:r>
          </a:p>
        </p:txBody>
      </p:sp>
    </p:spTree>
    <p:extLst>
      <p:ext uri="{BB962C8B-B14F-4D97-AF65-F5344CB8AC3E}">
        <p14:creationId xmlns:p14="http://schemas.microsoft.com/office/powerpoint/2010/main" val="5698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Registering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Inside </a:t>
            </a:r>
            <a:r>
              <a:rPr lang="en-US" sz="1500" dirty="0">
                <a:latin typeface="Consolas"/>
              </a:rPr>
              <a:t>Program.cs</a:t>
            </a:r>
            <a:r>
              <a:rPr lang="en-US" sz="1500" dirty="0">
                <a:solidFill>
                  <a:schemeClr val="tx2"/>
                </a:solidFill>
              </a:rPr>
              <a:t>, register your services on the </a:t>
            </a:r>
            <a:r>
              <a:rPr lang="en-US" sz="1500" dirty="0">
                <a:latin typeface="Consolas"/>
              </a:rPr>
              <a:t>builder.Services</a:t>
            </a:r>
            <a:r>
              <a:rPr lang="en-US" sz="1500" dirty="0">
                <a:solidFill>
                  <a:schemeClr val="tx2"/>
                </a:solidFill>
              </a:rPr>
              <a:t> collection. Three lifetimes, three methods.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3831EB-4496-4144-85E4-A8FA4B130EBA}"/>
              </a:ext>
            </a:extLst>
          </p:cNvPr>
          <p:cNvSpPr/>
          <p:nvPr/>
        </p:nvSpPr>
        <p:spPr>
          <a:xfrm>
            <a:off x="762000" y="4064000"/>
            <a:ext cx="2286000" cy="482600"/>
          </a:xfrm>
          <a:prstGeom prst="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Consolas"/>
              </a:rPr>
              <a:t>AddTransient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EA4E7-2B98-4A72-8205-673DFA681AD3}"/>
              </a:ext>
            </a:extLst>
          </p:cNvPr>
          <p:cNvSpPr txBox="1"/>
          <p:nvPr/>
        </p:nvSpPr>
        <p:spPr>
          <a:xfrm>
            <a:off x="762000" y="4546600"/>
            <a:ext cx="2286000" cy="3302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i="1">
                <a:solidFill>
                  <a:srgbClr val="6B7280"/>
                </a:solidFill>
              </a:rPr>
              <a:t>Per request — every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EF497-B933-45CD-AA6D-D6EDB8933DF4}"/>
              </a:ext>
            </a:extLst>
          </p:cNvPr>
          <p:cNvSpPr txBox="1"/>
          <p:nvPr/>
        </p:nvSpPr>
        <p:spPr>
          <a:xfrm>
            <a:off x="762000" y="4927600"/>
            <a:ext cx="2286000" cy="1016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>
                <a:solidFill>
                  <a:srgbClr val="E8F5EC"/>
                </a:solidFill>
                <a:latin typeface="Consolas"/>
              </a:rPr>
              <a:t>services.AddTransient&lt;IGreeter, Greeter&gt;();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043CAD-AE7D-44C5-8910-F7843B863CE3}"/>
              </a:ext>
            </a:extLst>
          </p:cNvPr>
          <p:cNvSpPr/>
          <p:nvPr/>
        </p:nvSpPr>
        <p:spPr>
          <a:xfrm>
            <a:off x="3111500" y="4064000"/>
            <a:ext cx="2286000" cy="4826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Consolas"/>
              </a:rPr>
              <a:t>AddScoped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892CD-FDF1-4581-94A3-E1F31EC0DDCE}"/>
              </a:ext>
            </a:extLst>
          </p:cNvPr>
          <p:cNvSpPr txBox="1"/>
          <p:nvPr/>
        </p:nvSpPr>
        <p:spPr>
          <a:xfrm>
            <a:off x="3111500" y="4546600"/>
            <a:ext cx="2286000" cy="3302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i="1">
                <a:solidFill>
                  <a:srgbClr val="6B7280"/>
                </a:solidFill>
              </a:rPr>
              <a:t>Per HTTP request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4D665-9184-4D3A-BA16-E666C9876352}"/>
              </a:ext>
            </a:extLst>
          </p:cNvPr>
          <p:cNvSpPr txBox="1"/>
          <p:nvPr/>
        </p:nvSpPr>
        <p:spPr>
          <a:xfrm>
            <a:off x="3111500" y="4927600"/>
            <a:ext cx="2286000" cy="1016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>
                <a:solidFill>
                  <a:srgbClr val="E8F5EC"/>
                </a:solidFill>
                <a:latin typeface="Consolas"/>
              </a:rPr>
              <a:t>services.AddScoped&lt;IDbCtx, AppDbContext&gt;();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566BDB-C945-44AF-BAED-7851357F1D33}"/>
              </a:ext>
            </a:extLst>
          </p:cNvPr>
          <p:cNvSpPr/>
          <p:nvPr/>
        </p:nvSpPr>
        <p:spPr>
          <a:xfrm>
            <a:off x="5461000" y="4064000"/>
            <a:ext cx="2286000" cy="4826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Consolas"/>
              </a:rPr>
              <a:t>AddSingleton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CD656-B9F7-46A9-A0ED-EB48801090D2}"/>
              </a:ext>
            </a:extLst>
          </p:cNvPr>
          <p:cNvSpPr txBox="1"/>
          <p:nvPr/>
        </p:nvSpPr>
        <p:spPr>
          <a:xfrm>
            <a:off x="5461000" y="4546600"/>
            <a:ext cx="2286000" cy="3302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100" i="1">
                <a:solidFill>
                  <a:srgbClr val="6B7280"/>
                </a:solidFill>
              </a:rPr>
              <a:t>Once per app lifetime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6FEB5E-BDD5-4972-89A4-3E32A01DF78F}"/>
              </a:ext>
            </a:extLst>
          </p:cNvPr>
          <p:cNvSpPr txBox="1"/>
          <p:nvPr/>
        </p:nvSpPr>
        <p:spPr>
          <a:xfrm>
            <a:off x="5461000" y="4927600"/>
            <a:ext cx="2286000" cy="1016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>
                <a:solidFill>
                  <a:srgbClr val="E8F5EC"/>
                </a:solidFill>
                <a:latin typeface="Consolas"/>
              </a:rPr>
              <a:t>services.AddSingleton&lt;IClock, SysClock&gt;();</a:t>
            </a:r>
          </a:p>
        </p:txBody>
      </p:sp>
    </p:spTree>
    <p:extLst>
      <p:ext uri="{BB962C8B-B14F-4D97-AF65-F5344CB8AC3E}">
        <p14:creationId xmlns:p14="http://schemas.microsoft.com/office/powerpoint/2010/main" val="3815455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Middleware is software that handles requests and responses in the ASP.NET Core pipeline. Each component decides whether to pass the request to the next.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70266-A378-4B0F-A1EB-E0536EFAC822}"/>
              </a:ext>
            </a:extLst>
          </p:cNvPr>
          <p:cNvSpPr txBox="1"/>
          <p:nvPr/>
        </p:nvSpPr>
        <p:spPr>
          <a:xfrm>
            <a:off x="508000" y="4254500"/>
            <a:ext cx="889000" cy="635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335B74"/>
                </a:solidFill>
              </a:rPr>
              <a:t>HTTP
Request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3FDC86-42FF-4176-B34E-D273CA729CA4}"/>
              </a:ext>
            </a:extLst>
          </p:cNvPr>
          <p:cNvSpPr/>
          <p:nvPr/>
        </p:nvSpPr>
        <p:spPr>
          <a:xfrm>
            <a:off x="1651000" y="4254500"/>
            <a:ext cx="1270000" cy="635000"/>
          </a:xfrm>
          <a:prstGeom prst="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Logging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4F1CA-C43A-4F27-A6EC-996A3E228207}"/>
              </a:ext>
            </a:extLst>
          </p:cNvPr>
          <p:cNvSpPr/>
          <p:nvPr/>
        </p:nvSpPr>
        <p:spPr>
          <a:xfrm>
            <a:off x="3175000" y="4254500"/>
            <a:ext cx="1270000" cy="6350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192CF-C4E4-4AC0-B9FB-F5D7E67EF116}"/>
              </a:ext>
            </a:extLst>
          </p:cNvPr>
          <p:cNvSpPr/>
          <p:nvPr/>
        </p:nvSpPr>
        <p:spPr>
          <a:xfrm>
            <a:off x="4699000" y="4254500"/>
            <a:ext cx="1270000" cy="635000"/>
          </a:xfrm>
          <a:prstGeom prst="rect">
            <a:avLst/>
          </a:prstGeom>
          <a:solidFill>
            <a:srgbClr val="1E5E9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Routing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9E4555-181A-49FC-9722-21411B5D85E1}"/>
              </a:ext>
            </a:extLst>
          </p:cNvPr>
          <p:cNvSpPr/>
          <p:nvPr/>
        </p:nvSpPr>
        <p:spPr>
          <a:xfrm>
            <a:off x="6223000" y="4254500"/>
            <a:ext cx="1397000" cy="635000"/>
          </a:xfrm>
          <a:prstGeom prst="round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8C8F05E-3FCD-4638-B3E5-8E16AD352DC0}"/>
              </a:ext>
            </a:extLst>
          </p:cNvPr>
          <p:cNvSpPr/>
          <p:nvPr/>
        </p:nvSpPr>
        <p:spPr>
          <a:xfrm>
            <a:off x="1346200" y="4394200"/>
            <a:ext cx="355600" cy="355600"/>
          </a:xfrm>
          <a:prstGeom prst="rightArrow">
            <a:avLst/>
          </a:prstGeom>
          <a:solidFill>
            <a:srgbClr val="6B728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3DCD4EC-855D-4765-93CD-EB26E646A45E}"/>
              </a:ext>
            </a:extLst>
          </p:cNvPr>
          <p:cNvSpPr/>
          <p:nvPr/>
        </p:nvSpPr>
        <p:spPr>
          <a:xfrm>
            <a:off x="2870200" y="4394200"/>
            <a:ext cx="355600" cy="355600"/>
          </a:xfrm>
          <a:prstGeom prst="rightArrow">
            <a:avLst/>
          </a:prstGeom>
          <a:solidFill>
            <a:srgbClr val="6B728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66B3822-9232-4D46-B118-7834975ED0ED}"/>
              </a:ext>
            </a:extLst>
          </p:cNvPr>
          <p:cNvSpPr/>
          <p:nvPr/>
        </p:nvSpPr>
        <p:spPr>
          <a:xfrm>
            <a:off x="4394200" y="4394200"/>
            <a:ext cx="355600" cy="355600"/>
          </a:xfrm>
          <a:prstGeom prst="rightArrow">
            <a:avLst/>
          </a:prstGeom>
          <a:solidFill>
            <a:srgbClr val="6B728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7B5152C-C1BA-4074-8CAC-C2D65FC45CDF}"/>
              </a:ext>
            </a:extLst>
          </p:cNvPr>
          <p:cNvSpPr/>
          <p:nvPr/>
        </p:nvSpPr>
        <p:spPr>
          <a:xfrm>
            <a:off x="5918200" y="4394200"/>
            <a:ext cx="355600" cy="355600"/>
          </a:xfrm>
          <a:prstGeom prst="rightArrow">
            <a:avLst/>
          </a:prstGeom>
          <a:solidFill>
            <a:srgbClr val="6B728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B2954-7415-46AC-8CF6-0B990ECEF868}"/>
              </a:ext>
            </a:extLst>
          </p:cNvPr>
          <p:cNvSpPr txBox="1"/>
          <p:nvPr/>
        </p:nvSpPr>
        <p:spPr>
          <a:xfrm>
            <a:off x="762000" y="5270500"/>
            <a:ext cx="6858000" cy="444500"/>
          </a:xfrm>
          <a:prstGeom prst="rect">
            <a:avLst/>
          </a:prstGeom>
          <a:solidFill>
            <a:srgbClr val="FFF4E0"/>
          </a:solidFill>
          <a:ln w="12700">
            <a:solidFill>
              <a:srgbClr val="E8A33A"/>
            </a:solidFill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5C4A1F"/>
                </a:solidFill>
              </a:rPr>
              <a:t>Each middleware can: inspect → modify → pass on  •  short-circuit  •  process response on return</a:t>
            </a:r>
            <a:endParaRPr lang="en-IN" sz="1200" i="1">
              <a:solidFill>
                <a:srgbClr val="5C4A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308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Middleware?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Middleware lets you handle cross-cutting concerns once, at the framework level — instead of scattering the same checks across every controller and 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7B502-5622-48F9-86B8-4A9AE1C5345F}"/>
              </a:ext>
            </a:extLst>
          </p:cNvPr>
          <p:cNvSpPr/>
          <p:nvPr/>
        </p:nvSpPr>
        <p:spPr>
          <a:xfrm>
            <a:off x="762000" y="4064000"/>
            <a:ext cx="2286000" cy="571500"/>
          </a:xfrm>
          <a:prstGeom prst="rect">
            <a:avLst/>
          </a:prstGeom>
          <a:solidFill>
            <a:srgbClr val="1778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Centralized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B6B01-B6D0-4401-9D4C-6C8D4E85AA8E}"/>
              </a:ext>
            </a:extLst>
          </p:cNvPr>
          <p:cNvSpPr txBox="1"/>
          <p:nvPr/>
        </p:nvSpPr>
        <p:spPr>
          <a:xfrm>
            <a:off x="762000" y="4635500"/>
            <a:ext cx="2286000" cy="1397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Add behavior once — applied automatically to every request that passes through.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F3A14-6920-4818-B8C3-3881A6DAACFF}"/>
              </a:ext>
            </a:extLst>
          </p:cNvPr>
          <p:cNvSpPr/>
          <p:nvPr/>
        </p:nvSpPr>
        <p:spPr>
          <a:xfrm>
            <a:off x="3111500" y="4064000"/>
            <a:ext cx="2286000" cy="5715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Logging · Auth · Errors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678AF-04BB-407C-A72F-2E66DFABC282}"/>
              </a:ext>
            </a:extLst>
          </p:cNvPr>
          <p:cNvSpPr txBox="1"/>
          <p:nvPr/>
        </p:nvSpPr>
        <p:spPr>
          <a:xfrm>
            <a:off x="3111500" y="4635500"/>
            <a:ext cx="2286000" cy="1397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Common concerns live in pipeline stages, not in controllers.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3275AE-640C-4CCA-B2D6-781B115A7BB6}"/>
              </a:ext>
            </a:extLst>
          </p:cNvPr>
          <p:cNvSpPr/>
          <p:nvPr/>
        </p:nvSpPr>
        <p:spPr>
          <a:xfrm>
            <a:off x="5461000" y="4064000"/>
            <a:ext cx="2286000" cy="571500"/>
          </a:xfrm>
          <a:prstGeom prst="rect">
            <a:avLst/>
          </a:prstGeom>
          <a:solidFill>
            <a:srgbClr val="1E5E9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Reusable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0B255-8620-476B-9465-6A99EB242513}"/>
              </a:ext>
            </a:extLst>
          </p:cNvPr>
          <p:cNvSpPr txBox="1"/>
          <p:nvPr/>
        </p:nvSpPr>
        <p:spPr>
          <a:xfrm>
            <a:off x="5461000" y="4635500"/>
            <a:ext cx="2286000" cy="1397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Built-in (UseHttpsRedirection, UseAuthentication) and custom — same shape, same wiring.</a:t>
            </a:r>
            <a:endParaRPr lang="en-IN" sz="1300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749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5: Build a Custom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445000" cy="4023360"/>
          </a:xfrm>
        </p:spPr>
        <p:txBody>
          <a:bodyPr/>
          <a:lstStyle/>
          <a:p>
            <a:pPr marL="171450" indent="-171450">
              <a:buFont typeface="Arial"/>
              <a:buAutoNum type="arabicPeriod"/>
            </a:pPr>
            <a:r>
              <a:rPr lang="en-US" sz="1400" b="1" dirty="0">
                <a:solidFill>
                  <a:srgbClr val="335B74"/>
                </a:solidFill>
              </a:rPr>
              <a:t>Add inline middleware</a:t>
            </a:r>
          </a:p>
          <a:p>
            <a:pPr marL="171450" indent="0">
              <a:buNone/>
            </a:pPr>
            <a:r>
              <a:rPr lang="en-US" sz="1200" dirty="0">
                <a:latin typeface="Consolas"/>
              </a:rPr>
              <a:t>app.Use(async (ctx, next) =&gt; { ... });</a:t>
            </a:r>
          </a:p>
          <a:p>
            <a:pPr marL="171450" indent="-171450">
              <a:buFont typeface="Arial"/>
              <a:buAutoNum type="arabicPeriod" startAt="2"/>
            </a:pPr>
            <a:r>
              <a:rPr lang="en-US" sz="1400" b="1" dirty="0">
                <a:solidFill>
                  <a:srgbClr val="335B74"/>
                </a:solidFill>
              </a:rPr>
              <a:t>Log the request path</a:t>
            </a:r>
          </a:p>
          <a:p>
            <a:pPr marL="171450" indent="0">
              <a:buNone/>
            </a:pPr>
            <a:r>
              <a:rPr lang="en-US" sz="1200" dirty="0">
                <a:latin typeface="Consolas"/>
              </a:rPr>
              <a:t>ctx.Request.Path</a:t>
            </a:r>
          </a:p>
          <a:p>
            <a:pPr marL="171450" indent="-171450">
              <a:buFont typeface="Arial"/>
              <a:buAutoNum type="arabicPeriod" startAt="3"/>
            </a:pPr>
            <a:r>
              <a:rPr lang="en-US" sz="1400" b="1" dirty="0">
                <a:solidFill>
                  <a:srgbClr val="335B74"/>
                </a:solidFill>
              </a:rPr>
              <a:t>Call next() to continue</a:t>
            </a:r>
          </a:p>
          <a:p>
            <a:pPr marL="171450" indent="0">
              <a:buNone/>
            </a:pPr>
            <a:r>
              <a:rPr lang="en-US" sz="1200" dirty="0">
                <a:latin typeface="Consolas"/>
              </a:rPr>
              <a:t>await next();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17178-B173-46FD-8258-D6581A007253}"/>
              </a:ext>
            </a:extLst>
          </p:cNvPr>
          <p:cNvSpPr txBox="1"/>
          <p:nvPr/>
        </p:nvSpPr>
        <p:spPr>
          <a:xfrm>
            <a:off x="5397500" y="2286000"/>
            <a:ext cx="2730500" cy="1651000"/>
          </a:xfrm>
          <a:prstGeom prst="rect">
            <a:avLst/>
          </a:prstGeom>
          <a:solidFill>
            <a:srgbClr val="FFF4E0"/>
          </a:solidFill>
          <a:ln w="19050">
            <a:solidFill>
              <a:srgbClr val="E8A33A"/>
            </a:solidFill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C4A1F"/>
                </a:solidFill>
              </a:rPr>
              <a:t>💡 Hint
Register BEFORE app.UseRouting() so it runs first.
Must call await next() or pipeline stops.</a:t>
            </a:r>
            <a:endParaRPr lang="en-IN" sz="1200">
              <a:solidFill>
                <a:srgbClr val="5C4A1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A021D-000C-4CED-AEBE-603ABD0DF2DA}"/>
              </a:ext>
            </a:extLst>
          </p:cNvPr>
          <p:cNvSpPr txBox="1"/>
          <p:nvPr/>
        </p:nvSpPr>
        <p:spPr>
          <a:xfrm>
            <a:off x="5397500" y="4127500"/>
            <a:ext cx="2730500" cy="1651000"/>
          </a:xfrm>
          <a:prstGeom prst="rect">
            <a:avLst/>
          </a:prstGeom>
          <a:solidFill>
            <a:srgbClr val="E8F5EC"/>
          </a:solidFill>
          <a:ln w="19050">
            <a:solidFill>
              <a:srgbClr val="42BA97"/>
            </a:solidFill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4E2F"/>
                </a:solidFill>
                <a:latin typeface="Consolas"/>
              </a:rPr>
              <a:t>✅ Expected Output
GET /api/hello
Log: "Request: /api/hello"
Response continues normally.</a:t>
            </a:r>
            <a:endParaRPr lang="en-IN" sz="1200">
              <a:solidFill>
                <a:srgbClr val="1F4E2F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24083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dirty="0">
                <a:solidFill>
                  <a:schemeClr val="tx2"/>
                </a:solidFill>
              </a:rPr>
              <a:t>ASP.NET Core ships with middleware for the most common needs. Order matters — register them in the right sequence in </a:t>
            </a:r>
            <a:r>
              <a:rPr lang="en-US" sz="1500" dirty="0">
                <a:latin typeface="Consolas"/>
              </a:rPr>
              <a:t>Program.cs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FB1477-53EA-4E11-A71B-710ABE04116E}"/>
              </a:ext>
            </a:extLst>
          </p:cNvPr>
          <p:cNvSpPr/>
          <p:nvPr/>
        </p:nvSpPr>
        <p:spPr>
          <a:xfrm>
            <a:off x="762000" y="3746500"/>
            <a:ext cx="635000" cy="952500"/>
          </a:xfrm>
          <a:prstGeom prst="rect">
            <a:avLst/>
          </a:prstGeom>
          <a:solidFill>
            <a:srgbClr val="A0333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220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5F946-00E5-4FE3-A9C5-F4D3A5CE4446}"/>
              </a:ext>
            </a:extLst>
          </p:cNvPr>
          <p:cNvSpPr txBox="1"/>
          <p:nvPr/>
        </p:nvSpPr>
        <p:spPr>
          <a:xfrm>
            <a:off x="1397000" y="3976529"/>
            <a:ext cx="2794000" cy="492443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400" b="1" dirty="0">
                <a:latin typeface="Consolas"/>
              </a:rPr>
              <a:t>UseExceptionHandler</a:t>
            </a:r>
          </a:p>
          <a:p>
            <a:pPr>
              <a:buNone/>
            </a:pPr>
            <a:r>
              <a:rPr lang="en-US" sz="1200" dirty="0">
                <a:solidFill>
                  <a:srgbClr val="6B7280"/>
                </a:solidFill>
              </a:rPr>
              <a:t>Catches &amp; formats errors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98CA3A-4DD7-4E01-9468-49798417E756}"/>
              </a:ext>
            </a:extLst>
          </p:cNvPr>
          <p:cNvSpPr/>
          <p:nvPr/>
        </p:nvSpPr>
        <p:spPr>
          <a:xfrm>
            <a:off x="4572000" y="3746500"/>
            <a:ext cx="635000" cy="952500"/>
          </a:xfrm>
          <a:prstGeom prst="rect">
            <a:avLst/>
          </a:prstGeom>
          <a:solidFill>
            <a:srgbClr val="1E5E91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220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6077A-5442-455D-982B-BCF8792CB30B}"/>
              </a:ext>
            </a:extLst>
          </p:cNvPr>
          <p:cNvSpPr txBox="1"/>
          <p:nvPr/>
        </p:nvSpPr>
        <p:spPr>
          <a:xfrm>
            <a:off x="5207000" y="3976529"/>
            <a:ext cx="2794000" cy="492443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400" b="1" dirty="0">
                <a:latin typeface="Consolas"/>
              </a:rPr>
              <a:t>UseStaticFiles</a:t>
            </a:r>
          </a:p>
          <a:p>
            <a:pPr>
              <a:buNone/>
            </a:pPr>
            <a:r>
              <a:rPr lang="en-US" sz="1200" dirty="0">
                <a:solidFill>
                  <a:srgbClr val="6B7280"/>
                </a:solidFill>
              </a:rPr>
              <a:t>Serves wwwroot 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02BB0-71BC-47BD-81C2-D6D8CF576D46}"/>
              </a:ext>
            </a:extLst>
          </p:cNvPr>
          <p:cNvSpPr/>
          <p:nvPr/>
        </p:nvSpPr>
        <p:spPr>
          <a:xfrm>
            <a:off x="762000" y="4889500"/>
            <a:ext cx="635000" cy="952500"/>
          </a:xfrm>
          <a:prstGeom prst="rect">
            <a:avLst/>
          </a:prstGeom>
          <a:solidFill>
            <a:srgbClr val="1F6A4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220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8EFDF-1D0B-478F-9B23-091A2A2BE9EB}"/>
              </a:ext>
            </a:extLst>
          </p:cNvPr>
          <p:cNvSpPr txBox="1"/>
          <p:nvPr/>
        </p:nvSpPr>
        <p:spPr>
          <a:xfrm>
            <a:off x="1397000" y="5119529"/>
            <a:ext cx="2794000" cy="492443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400" b="1" dirty="0">
                <a:latin typeface="Consolas"/>
              </a:rPr>
              <a:t>UseAuthentication</a:t>
            </a:r>
          </a:p>
          <a:p>
            <a:pPr>
              <a:buNone/>
            </a:pPr>
            <a:r>
              <a:rPr lang="en-US" sz="1200" dirty="0">
                <a:solidFill>
                  <a:srgbClr val="6B7280"/>
                </a:solidFill>
              </a:rPr>
              <a:t>Identifies the caller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C1D7FB-9487-4248-9F7A-00A4FA242997}"/>
              </a:ext>
            </a:extLst>
          </p:cNvPr>
          <p:cNvSpPr/>
          <p:nvPr/>
        </p:nvSpPr>
        <p:spPr>
          <a:xfrm>
            <a:off x="4572000" y="4889500"/>
            <a:ext cx="635000" cy="952500"/>
          </a:xfrm>
          <a:prstGeom prst="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220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2A914-3347-4414-9114-901C82919DF7}"/>
              </a:ext>
            </a:extLst>
          </p:cNvPr>
          <p:cNvSpPr txBox="1"/>
          <p:nvPr/>
        </p:nvSpPr>
        <p:spPr>
          <a:xfrm>
            <a:off x="5207000" y="5119529"/>
            <a:ext cx="2794000" cy="492443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400" b="1" dirty="0">
                <a:latin typeface="Consolas"/>
              </a:rPr>
              <a:t>UseRouting</a:t>
            </a:r>
          </a:p>
          <a:p>
            <a:pPr>
              <a:buNone/>
            </a:pPr>
            <a:r>
              <a:rPr lang="en-US" sz="1200" dirty="0">
                <a:solidFill>
                  <a:srgbClr val="6B7280"/>
                </a:solidFill>
              </a:rPr>
              <a:t>Matches URL to endpoint</a:t>
            </a:r>
          </a:p>
        </p:txBody>
      </p:sp>
    </p:spTree>
    <p:extLst>
      <p:ext uri="{BB962C8B-B14F-4D97-AF65-F5344CB8AC3E}">
        <p14:creationId xmlns:p14="http://schemas.microsoft.com/office/powerpoint/2010/main" val="964859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701162-EE11-4614-90DD-31AA226FFA5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459ef8d-41b8-4160-8fe3-09dd2654943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33</TotalTime>
  <Words>1685</Words>
  <Application>Microsoft Office PowerPoint</Application>
  <PresentationFormat>On-screen Show (4:3)</PresentationFormat>
  <Paragraphs>301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Consolas</vt:lpstr>
      <vt:lpstr>Tw Cen MT</vt:lpstr>
      <vt:lpstr>Tw Cen MT Condensed</vt:lpstr>
      <vt:lpstr>Wingdings 3</vt:lpstr>
      <vt:lpstr>Integral</vt:lpstr>
      <vt:lpstr>Module 18: Data Access using ADO.NET</vt:lpstr>
      <vt:lpstr>ADO.NET Overview</vt:lpstr>
      <vt:lpstr>Connection Class</vt:lpstr>
      <vt:lpstr>🔬 Lab 1: Open a Connection</vt:lpstr>
      <vt:lpstr>Direct Command Execution</vt:lpstr>
      <vt:lpstr>🔬 Lab 2: Insert Safely with Parameters</vt:lpstr>
      <vt:lpstr>CRUD Operations</vt:lpstr>
      <vt:lpstr>Module 19: ASP.NET Core Architecture</vt:lpstr>
      <vt:lpstr>What is ASP.NET Core?</vt:lpstr>
      <vt:lpstr>Creating an ASP.NET Core Application</vt:lpstr>
      <vt:lpstr>🧪 Lab 3: Create Your First Web API</vt:lpstr>
      <vt:lpstr>Console vs Web App</vt:lpstr>
      <vt:lpstr>Hosting Environment</vt:lpstr>
      <vt:lpstr>Core Components</vt:lpstr>
      <vt:lpstr>Web Servers</vt:lpstr>
      <vt:lpstr>Services &amp; Middleware Module 20</vt:lpstr>
      <vt:lpstr>Dependency Injection</vt:lpstr>
      <vt:lpstr>DI in ASP.NET Core</vt:lpstr>
      <vt:lpstr>Lab 4: Register &amp; Inject a Service</vt:lpstr>
      <vt:lpstr>Registering Services</vt:lpstr>
      <vt:lpstr>Middleware Introduction</vt:lpstr>
      <vt:lpstr>Why Middleware?</vt:lpstr>
      <vt:lpstr>Lab 5: Build a Custom Middleware</vt:lpstr>
      <vt:lpstr>Common Middleware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2026-05-22T01:20:52Z</dcterms:modified>
  <cp:category/>
</cp:coreProperties>
</file>