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85" r:id="rId2"/>
    <p:sldId id="286" r:id="rId3"/>
    <p:sldId id="287" r:id="rId4"/>
    <p:sldId id="288" r:id="rId5"/>
    <p:sldId id="315" r:id="rId6"/>
    <p:sldId id="289" r:id="rId7"/>
    <p:sldId id="290" r:id="rId8"/>
    <p:sldId id="291" r:id="rId9"/>
    <p:sldId id="292" r:id="rId10"/>
    <p:sldId id="293" r:id="rId11"/>
    <p:sldId id="294" r:id="rId12"/>
    <p:sldId id="333" r:id="rId13"/>
    <p:sldId id="295" r:id="rId14"/>
    <p:sldId id="312" r:id="rId15"/>
    <p:sldId id="269" r:id="rId16"/>
    <p:sldId id="330" r:id="rId17"/>
    <p:sldId id="296" r:id="rId18"/>
    <p:sldId id="297" r:id="rId19"/>
    <p:sldId id="298" r:id="rId20"/>
    <p:sldId id="299" r:id="rId21"/>
    <p:sldId id="313" r:id="rId22"/>
    <p:sldId id="300" r:id="rId23"/>
    <p:sldId id="327" r:id="rId24"/>
    <p:sldId id="301" r:id="rId25"/>
    <p:sldId id="302" r:id="rId26"/>
    <p:sldId id="324" r:id="rId27"/>
    <p:sldId id="303" r:id="rId28"/>
    <p:sldId id="279" r:id="rId29"/>
    <p:sldId id="304" r:id="rId30"/>
    <p:sldId id="321" r:id="rId31"/>
    <p:sldId id="305" r:id="rId32"/>
    <p:sldId id="306" r:id="rId33"/>
    <p:sldId id="307" r:id="rId34"/>
    <p:sldId id="308" r:id="rId35"/>
    <p:sldId id="318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799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336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616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0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56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21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819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528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9015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855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2258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816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C# and .NET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800" b="1" dirty="0"/>
              <a:t>Welcome to Day 1 of C# and .NET training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Goal: build a solid foundation in the .NET platform and the C# language before writing real applications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Morning – .NET platform</a:t>
            </a:r>
            <a:r>
              <a:rPr lang="en-US" sz="1600" dirty="0"/>
              <a:t>: runtime, libraries, JIT, CTS/CLS, assemblies, MSIL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Afternoon – C# language</a:t>
            </a:r>
            <a:r>
              <a:rPr lang="en-US" sz="1600" dirty="0"/>
              <a:t>: syntax, console apps, types, operators, control flow, functions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By the end of today you should be able to read, write, and run small C# console programs with confidence</a:t>
            </a:r>
          </a:p>
        </p:txBody>
      </p:sp>
    </p:spTree>
    <p:extLst>
      <p:ext uri="{BB962C8B-B14F-4D97-AF65-F5344CB8AC3E}">
        <p14:creationId xmlns:p14="http://schemas.microsoft.com/office/powerpoint/2010/main" val="1363399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.NET?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.NET is a free, open-source developer platform</a:t>
            </a:r>
            <a:r>
              <a:rPr lang="en-US" sz="1600" dirty="0"/>
              <a:t> from Microsoft for building many types of applications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Supports multiple languages: </a:t>
            </a:r>
            <a:r>
              <a:rPr lang="en-US" sz="1600" b="1" dirty="0"/>
              <a:t>C#, F#, and Visual Basic</a:t>
            </a:r>
            <a:r>
              <a:rPr lang="en-US" sz="1600" dirty="0"/>
              <a:t>, all targeting a common runtime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Used to build web, desktop, mobile, cloud, gaming, IoT, and AI applications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Cross-platform: runs on </a:t>
            </a:r>
            <a:r>
              <a:rPr lang="en-US" sz="1600" b="1" dirty="0"/>
              <a:t>Windows, Linux, and macOS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Includes the runtime (CLR), a large standard library, and command-line and IDE tooling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Backed by Microsoft and a large open-source community on GitHub (.NET Foundation)</a:t>
            </a:r>
          </a:p>
        </p:txBody>
      </p:sp>
    </p:spTree>
    <p:extLst>
      <p:ext uri="{BB962C8B-B14F-4D97-AF65-F5344CB8AC3E}">
        <p14:creationId xmlns:p14="http://schemas.microsoft.com/office/powerpoint/2010/main" val="3132079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.NET Core / .NET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.NET Core</a:t>
            </a:r>
            <a:r>
              <a:rPr lang="en-US" sz="1600" dirty="0"/>
              <a:t>: the modern, cross-platform rewrite of .NET, started in 2016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.NET 5+</a:t>
            </a:r>
            <a:r>
              <a:rPr lang="en-US" sz="1600" dirty="0"/>
              <a:t>: unified product line – the “Core” name was dropped after .NET Core 3.1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One SDK, one runtime, one set of base libraries across all platforms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High performance, small footprint, and side-by-side versioning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Release cadence: a new major version each November; even versions are LTS (3 years), odd versions are STS (18 months)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Recommended for all new development; classic .NET Framework remains only for legacy Windows apps</a:t>
            </a:r>
          </a:p>
        </p:txBody>
      </p:sp>
    </p:spTree>
    <p:extLst>
      <p:ext uri="{BB962C8B-B14F-4D97-AF65-F5344CB8AC3E}">
        <p14:creationId xmlns:p14="http://schemas.microsoft.com/office/powerpoint/2010/main" val="3481400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.NET Core Chronology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2016 – .NET Core 1.0</a:t>
            </a:r>
            <a:r>
              <a:rPr lang="en-US" sz="1600" dirty="0"/>
              <a:t>: first cross-platform release, minimal API surface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2017 – .NET Core 2.x</a:t>
            </a:r>
            <a:r>
              <a:rPr lang="en-US" sz="1600" dirty="0"/>
              <a:t>: .NET Standard 2.0, big API parity boost with .NET Framework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2019 – .NET Core 3.x</a:t>
            </a:r>
            <a:r>
              <a:rPr lang="en-US" sz="1600" dirty="0"/>
              <a:t>: WPF/WinForms on Windows, gRPC, last “Core” branding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2020 – .NET 5</a:t>
            </a:r>
            <a:r>
              <a:rPr lang="en-US" sz="1600" dirty="0"/>
              <a:t>: unification – one .NET going forward (no .NET 4 to avoid confusion with Framework)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2021 – .NET 6 (LTS)</a:t>
            </a:r>
            <a:r>
              <a:rPr lang="en-US" sz="1600" dirty="0"/>
              <a:t>: minimal APIs, hot reload, MAUI preview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2022 – .NET 7</a:t>
            </a:r>
            <a:r>
              <a:rPr lang="en-US" sz="1600" dirty="0"/>
              <a:t>: performance gains, generic math, native AOT preview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2023 – .NET 8 (LTS)</a:t>
            </a:r>
            <a:r>
              <a:rPr lang="en-US" sz="1600" dirty="0"/>
              <a:t>: production native AOT, Blazor United, current recommended version</a:t>
            </a:r>
          </a:p>
        </p:txBody>
      </p:sp>
    </p:spTree>
    <p:extLst>
      <p:ext uri="{BB962C8B-B14F-4D97-AF65-F5344CB8AC3E}">
        <p14:creationId xmlns:p14="http://schemas.microsoft.com/office/powerpoint/2010/main" val="198115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.NET Core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C1DD89-3530-4233-94CA-0BE767101186}"/>
              </a:ext>
            </a:extLst>
          </p:cNvPr>
          <p:cNvSpPr/>
          <p:nvPr/>
        </p:nvSpPr>
        <p:spPr>
          <a:xfrm>
            <a:off x="889000" y="2476500"/>
            <a:ext cx="4826000" cy="635000"/>
          </a:xfrm>
          <a:prstGeom prst="rect">
            <a:avLst/>
          </a:prstGeom>
          <a:solidFill>
            <a:srgbClr val="1CADE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Your Application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ASP.NET Core  •  Console  •  Worker  •  Blazor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2DE544-921F-45CE-A956-27DE3F6DB8C7}"/>
              </a:ext>
            </a:extLst>
          </p:cNvPr>
          <p:cNvSpPr/>
          <p:nvPr/>
        </p:nvSpPr>
        <p:spPr>
          <a:xfrm>
            <a:off x="889000" y="3187700"/>
            <a:ext cx="4826000" cy="635000"/>
          </a:xfrm>
          <a:prstGeom prst="rect">
            <a:avLst/>
          </a:prstGeom>
          <a:solidFill>
            <a:srgbClr val="27CED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.NET Libraries (BCL)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System.*  •  Collections  •  IO  •  Linq  •  Net.Http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71E940-2921-424D-937A-30C2A08549BC}"/>
              </a:ext>
            </a:extLst>
          </p:cNvPr>
          <p:cNvSpPr/>
          <p:nvPr/>
        </p:nvSpPr>
        <p:spPr>
          <a:xfrm>
            <a:off x="889000" y="3898900"/>
            <a:ext cx="4826000" cy="635000"/>
          </a:xfrm>
          <a:prstGeom prst="rect">
            <a:avLst/>
          </a:prstGeom>
          <a:solidFill>
            <a:srgbClr val="42BA9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ASP.NET Core Runtime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Kestrel  •  Middleware  •  DI  •  Routing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555297-49D0-49B9-8586-F339D51C60A3}"/>
              </a:ext>
            </a:extLst>
          </p:cNvPr>
          <p:cNvSpPr/>
          <p:nvPr/>
        </p:nvSpPr>
        <p:spPr>
          <a:xfrm>
            <a:off x="889000" y="4610100"/>
            <a:ext cx="4826000" cy="635000"/>
          </a:xfrm>
          <a:prstGeom prst="rect">
            <a:avLst/>
          </a:prstGeom>
          <a:solidFill>
            <a:srgbClr val="3E8853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.NET Runtime (CoreCLR)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JIT  •  GC  •  Type System  •  Threading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81A818-63DA-4D27-955E-7EF74690CE4F}"/>
              </a:ext>
            </a:extLst>
          </p:cNvPr>
          <p:cNvSpPr/>
          <p:nvPr/>
        </p:nvSpPr>
        <p:spPr>
          <a:xfrm>
            <a:off x="889000" y="5321300"/>
            <a:ext cx="4826000" cy="571500"/>
          </a:xfrm>
          <a:prstGeom prst="rect">
            <a:avLst/>
          </a:prstGeom>
          <a:solidFill>
            <a:srgbClr val="62A39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Operating System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Windows  •  Linux  •  macOS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76BD74EE-C609-45D1-8F97-2E882786CD1B}"/>
              </a:ext>
            </a:extLst>
          </p:cNvPr>
          <p:cNvSpPr/>
          <p:nvPr/>
        </p:nvSpPr>
        <p:spPr>
          <a:xfrm>
            <a:off x="5778500" y="2476500"/>
            <a:ext cx="228600" cy="2057400"/>
          </a:xfrm>
          <a:prstGeom prst="rightBrace">
            <a:avLst/>
          </a:prstGeom>
          <a:solidFill>
            <a:srgbClr val="FFFFFF"/>
          </a:solidFill>
          <a:ln w="19050" cap="flat" cmpd="sng" algn="ctr">
            <a:solidFill>
              <a:srgbClr val="335B7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F7E53C-3D5E-4457-8A58-C3E4FB98AC8E}"/>
              </a:ext>
            </a:extLst>
          </p:cNvPr>
          <p:cNvSpPr txBox="1"/>
          <p:nvPr/>
        </p:nvSpPr>
        <p:spPr>
          <a:xfrm>
            <a:off x="6070600" y="3111500"/>
            <a:ext cx="1143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 b="1">
                <a:solidFill>
                  <a:srgbClr val="335B74"/>
                </a:solidFill>
              </a:rPr>
              <a:t>Managed
code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9603D773-AC34-4651-AC1F-2DAC0F029FB4}"/>
              </a:ext>
            </a:extLst>
          </p:cNvPr>
          <p:cNvSpPr/>
          <p:nvPr/>
        </p:nvSpPr>
        <p:spPr>
          <a:xfrm>
            <a:off x="5778500" y="4686300"/>
            <a:ext cx="228600" cy="965200"/>
          </a:xfrm>
          <a:prstGeom prst="rightBrace">
            <a:avLst/>
          </a:prstGeom>
          <a:solidFill>
            <a:srgbClr val="FFFFFF"/>
          </a:solidFill>
          <a:ln w="19050" cap="flat" cmpd="sng" algn="ctr">
            <a:solidFill>
              <a:srgbClr val="335B7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98D6BC-9F16-4650-930B-E276787DC2CA}"/>
              </a:ext>
            </a:extLst>
          </p:cNvPr>
          <p:cNvSpPr txBox="1"/>
          <p:nvPr/>
        </p:nvSpPr>
        <p:spPr>
          <a:xfrm>
            <a:off x="6070600" y="4927600"/>
            <a:ext cx="1143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 b="1">
                <a:solidFill>
                  <a:srgbClr val="335B74"/>
                </a:solidFill>
              </a:rPr>
              <a:t>Host
platform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1B25BA-958F-4081-B14E-4AA52145B565}"/>
              </a:ext>
            </a:extLst>
          </p:cNvPr>
          <p:cNvSpPr txBox="1"/>
          <p:nvPr/>
        </p:nvSpPr>
        <p:spPr>
          <a:xfrm>
            <a:off x="889000" y="5842000"/>
            <a:ext cx="736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335B74"/>
                </a:solidFill>
              </a:rPr>
              <a:t>Each layer depends only on layers below it — write once, run cross-platform.</a:t>
            </a:r>
            <a:endParaRPr lang="en-IN" sz="1400" i="1">
              <a:solidFill>
                <a:srgbClr val="335B7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046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.NET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Base Class Library (BCL)</a:t>
            </a:r>
            <a:r>
              <a:rPr lang="en-US" sz="1600" dirty="0"/>
              <a:t>: core primitives – </a:t>
            </a:r>
            <a:r>
              <a:rPr lang="en-US" sz="1600" i="1" dirty="0"/>
              <a:t>String, DateTime, collections, I/O, threading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System.Linq</a:t>
            </a:r>
            <a:r>
              <a:rPr lang="en-US" sz="1600" dirty="0"/>
              <a:t>: query syntax and extension methods over collections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System.Net.Http</a:t>
            </a:r>
            <a:r>
              <a:rPr lang="en-US" sz="1600" dirty="0"/>
              <a:t>: HTTP client and server primitives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System.Text.Json</a:t>
            </a:r>
            <a:r>
              <a:rPr lang="en-US" sz="1600" dirty="0"/>
              <a:t>: high-performance JSON serializer built into the platform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NuGet</a:t>
            </a:r>
            <a:r>
              <a:rPr lang="en-US" sz="1600" dirty="0"/>
              <a:t>: official package manager for thousands of additional libraries (EF Core, Serilog, AutoMapper, …)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Libraries are versioned and distributed as assemblies (.dll) that the runtime loads on demand</a:t>
            </a:r>
          </a:p>
        </p:txBody>
      </p:sp>
    </p:spTree>
    <p:extLst>
      <p:ext uri="{BB962C8B-B14F-4D97-AF65-F5344CB8AC3E}">
        <p14:creationId xmlns:p14="http://schemas.microsoft.com/office/powerpoint/2010/main" val="3847502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.NET Runtime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CLR (Common Language Runtime)</a:t>
            </a:r>
            <a:r>
              <a:rPr lang="en-US" sz="1600" dirty="0"/>
              <a:t>: the execution engine for all .NET code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Loads assemblies, JIT-compiles MSIL into native machine code, and runs it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Garbage collection</a:t>
            </a:r>
            <a:r>
              <a:rPr lang="en-US" sz="1600" dirty="0"/>
              <a:t>: automatic memory management for managed objects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Type safety</a:t>
            </a:r>
            <a:r>
              <a:rPr lang="en-US" sz="1600" dirty="0"/>
              <a:t>: verifies code only accesses memory it has rights to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Exception handling, threading, security</a:t>
            </a:r>
            <a:r>
              <a:rPr lang="en-US" sz="1600" dirty="0"/>
              <a:t>: cross-cutting services provided uniformly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One runtime targets many OS/CPU combinations – the same compiled MSIL runs on Windows x64, Linux ARM64, macOS, etc.</a:t>
            </a:r>
          </a:p>
        </p:txBody>
      </p:sp>
    </p:spTree>
    <p:extLst>
      <p:ext uri="{BB962C8B-B14F-4D97-AF65-F5344CB8AC3E}">
        <p14:creationId xmlns:p14="http://schemas.microsoft.com/office/powerpoint/2010/main" val="883019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ASP.NET Core Runtime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dirty="0"/>
              <a:t>ASP.NET Core is the web framework that runs </a:t>
            </a:r>
            <a:r>
              <a:rPr lang="en-US" sz="1600" b="1" dirty="0"/>
              <a:t>on top of the .NET runtime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Kestrel</a:t>
            </a:r>
            <a:r>
              <a:rPr lang="en-US" sz="1600" dirty="0"/>
              <a:t>: built-in, high-performance, cross-platform HTTP server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Middleware pipeline</a:t>
            </a:r>
            <a:r>
              <a:rPr lang="en-US" sz="1600" dirty="0"/>
              <a:t>: composable request handlers for routing, auth, logging, etc.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Dependency Injection</a:t>
            </a:r>
            <a:r>
              <a:rPr lang="en-US" sz="1600" dirty="0"/>
              <a:t>: first-class, baked into the host – no third-party container required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Hosts many app styles: </a:t>
            </a:r>
            <a:r>
              <a:rPr lang="en-US" sz="1600" b="1" dirty="0"/>
              <a:t>Web API, MVC, Razor Pages, Blazor, SignalR, gRPC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Ships separately as the ASP.NET Core shared framework alongside the base .NET runtime</a:t>
            </a:r>
          </a:p>
        </p:txBody>
      </p:sp>
    </p:spTree>
    <p:extLst>
      <p:ext uri="{BB962C8B-B14F-4D97-AF65-F5344CB8AC3E}">
        <p14:creationId xmlns:p14="http://schemas.microsoft.com/office/powerpoint/2010/main" val="4088423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Just-In-Time (JIT) Compiler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dirty="0"/>
              <a:t>C# source is compiled to </a:t>
            </a:r>
            <a:r>
              <a:rPr lang="en-US" sz="1600" b="1" dirty="0"/>
              <a:t>MSIL</a:t>
            </a:r>
            <a:r>
              <a:rPr lang="en-US" sz="1600" dirty="0"/>
              <a:t> – an intermediate, CPU-independent instruction set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At runtime the </a:t>
            </a:r>
            <a:r>
              <a:rPr lang="en-US" sz="1600" b="1" dirty="0"/>
              <a:t>JIT compiler</a:t>
            </a:r>
            <a:r>
              <a:rPr lang="en-US" sz="1600" dirty="0"/>
              <a:t> translates each method to native code the first time it executes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Native code is cached in memory, so subsequent calls run at full speed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Tiered JIT</a:t>
            </a:r>
            <a:r>
              <a:rPr lang="en-US" sz="1600" dirty="0"/>
              <a:t>: fast Tier 0 code on first hit, optimised Tier 1 code for hot methods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ReadyToRun (R2R)</a:t>
            </a:r>
            <a:r>
              <a:rPr lang="en-US" sz="1600" dirty="0"/>
              <a:t>: ahead-of-time pre-compilation that reduces startup JIT cost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Native AOT</a:t>
            </a:r>
            <a:r>
              <a:rPr lang="en-US" sz="1600" dirty="0"/>
              <a:t>: full ahead-of-time compilation – no JIT at runtime, small self-contained binaries</a:t>
            </a:r>
          </a:p>
        </p:txBody>
      </p:sp>
    </p:spTree>
    <p:extLst>
      <p:ext uri="{BB962C8B-B14F-4D97-AF65-F5344CB8AC3E}">
        <p14:creationId xmlns:p14="http://schemas.microsoft.com/office/powerpoint/2010/main" val="2738139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Type System (CTS)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dirty="0"/>
              <a:t>CTS defines </a:t>
            </a:r>
            <a:r>
              <a:rPr lang="en-US" sz="1600" b="1" dirty="0"/>
              <a:t>all data types and operations supported by the runtime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Two categories: </a:t>
            </a:r>
            <a:r>
              <a:rPr lang="en-US" sz="1600" b="1" dirty="0"/>
              <a:t>value types</a:t>
            </a:r>
            <a:r>
              <a:rPr lang="en-US" sz="1600" dirty="0"/>
              <a:t> (int, struct, enum) and </a:t>
            </a:r>
            <a:r>
              <a:rPr lang="en-US" sz="1600" b="1" dirty="0"/>
              <a:t>reference types</a:t>
            </a:r>
            <a:r>
              <a:rPr lang="en-US" sz="1600" dirty="0"/>
              <a:t> (class, interface, delegate, string, array)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Everything derives ultimately from </a:t>
            </a:r>
            <a:r>
              <a:rPr lang="en-US" sz="1600" i="1" dirty="0"/>
              <a:t>System.Object</a:t>
            </a:r>
            <a:r>
              <a:rPr lang="en-US" sz="1600" dirty="0"/>
              <a:t>, so types share a common API (ToString, GetType, Equals, GetHashCode)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Enables </a:t>
            </a:r>
            <a:r>
              <a:rPr lang="en-US" sz="1600" b="1" dirty="0"/>
              <a:t>cross-language interop</a:t>
            </a:r>
            <a:r>
              <a:rPr lang="en-US" sz="1600" dirty="0"/>
              <a:t>: a type defined in F# can be consumed from C# without translation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Provides the rules for inheritance, visibility, members, and method dispatch</a:t>
            </a:r>
          </a:p>
        </p:txBody>
      </p:sp>
    </p:spTree>
    <p:extLst>
      <p:ext uri="{BB962C8B-B14F-4D97-AF65-F5344CB8AC3E}">
        <p14:creationId xmlns:p14="http://schemas.microsoft.com/office/powerpoint/2010/main" val="1026165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Common Language Specification (CLS)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dirty="0"/>
              <a:t>CLS is a </a:t>
            </a:r>
            <a:r>
              <a:rPr lang="en-US" sz="1600" b="1" dirty="0"/>
              <a:t>subset of CTS</a:t>
            </a:r>
            <a:r>
              <a:rPr lang="en-US" sz="1600" dirty="0"/>
              <a:t> – the features every .NET language must support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If your public API stays CLS-compliant, any .NET language can consume it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Common rules</a:t>
            </a:r>
            <a:r>
              <a:rPr lang="en-US" sz="1600" dirty="0"/>
              <a:t>: no unsigned integers in public APIs, no overloads differing only by case, no pointer types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Mark assemblies with </a:t>
            </a:r>
            <a:r>
              <a:rPr lang="en-US" sz="1600" i="1" dirty="0"/>
              <a:t>[assembly: CLSCompliant(true)]</a:t>
            </a:r>
            <a:r>
              <a:rPr lang="en-US" sz="1600" dirty="0"/>
              <a:t> to get compiler warnings on violations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Mostly relevant for library authors targeting multiple .NET languages</a:t>
            </a:r>
          </a:p>
        </p:txBody>
      </p:sp>
    </p:spTree>
    <p:extLst>
      <p:ext uri="{BB962C8B-B14F-4D97-AF65-F5344CB8AC3E}">
        <p14:creationId xmlns:p14="http://schemas.microsoft.com/office/powerpoint/2010/main" val="2094964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1 - Verify Your .NET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Objective: </a:t>
            </a:r>
            <a:r>
              <a:rPr lang="en-US" sz="1600" dirty="0"/>
              <a:t>confirm the .NET SDK is installed and discover what runtimes are available on your machine.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Steps</a:t>
            </a:r>
          </a:p>
          <a:p>
            <a:pPr marL="571500" lvl="1" indent="-285750">
              <a:buFont typeface="Arial"/>
              <a:buChar char="•"/>
            </a:pPr>
            <a:r>
              <a:rPr lang="en-US" sz="1500" dirty="0"/>
              <a:t>Open a terminal and run </a:t>
            </a:r>
            <a:r>
              <a:rPr lang="en-US" sz="1500" i="1" dirty="0"/>
              <a:t>dotnet --version</a:t>
            </a:r>
            <a:r>
              <a:rPr lang="en-US" sz="1500" dirty="0"/>
              <a:t> — note the SDK version.</a:t>
            </a:r>
          </a:p>
          <a:p>
            <a:pPr marL="571500" lvl="1" indent="-285750">
              <a:buFont typeface="Arial"/>
              <a:buChar char="•"/>
            </a:pPr>
            <a:r>
              <a:rPr lang="en-US" sz="1500" dirty="0"/>
              <a:t>Run </a:t>
            </a:r>
            <a:r>
              <a:rPr lang="en-US" sz="1500" i="1" dirty="0"/>
              <a:t>dotnet --info</a:t>
            </a:r>
            <a:r>
              <a:rPr lang="en-US" sz="1500" dirty="0"/>
              <a:t> — inspect OS, architecture, install path.</a:t>
            </a:r>
          </a:p>
          <a:p>
            <a:pPr marL="571500" lvl="1" indent="-285750">
              <a:buFont typeface="Arial"/>
              <a:buChar char="•"/>
            </a:pPr>
            <a:r>
              <a:rPr lang="en-US" sz="1500" dirty="0"/>
              <a:t>Run </a:t>
            </a:r>
            <a:r>
              <a:rPr lang="en-US" sz="1500" i="1" dirty="0"/>
              <a:t>dotnet --list-sdks</a:t>
            </a:r>
            <a:r>
              <a:rPr lang="en-US" sz="1500" dirty="0"/>
              <a:t> and </a:t>
            </a:r>
            <a:r>
              <a:rPr lang="en-US" sz="1500" i="1" dirty="0"/>
              <a:t>dotnet --list-runtimes</a:t>
            </a:r>
            <a:r>
              <a:rPr lang="en-US" sz="1500" dirty="0"/>
              <a:t>.</a:t>
            </a:r>
          </a:p>
          <a:p>
            <a:pPr marL="571500" lvl="1" indent="-285750">
              <a:buFont typeface="Arial"/>
              <a:buChar char="•"/>
            </a:pPr>
            <a:r>
              <a:rPr lang="en-US" sz="1500" dirty="0"/>
              <a:t>If missing, install from </a:t>
            </a:r>
            <a:r>
              <a:rPr lang="en-US" sz="1500" i="1" dirty="0"/>
              <a:t>dot.net</a:t>
            </a:r>
            <a:r>
              <a:rPr lang="en-US" sz="1500" dirty="0"/>
              <a:t> (LTS recommended).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Expected: </a:t>
            </a:r>
            <a:r>
              <a:rPr lang="en-US" sz="1600" dirty="0"/>
              <a:t>SDK version printed, at least one runtime listed (e.g. Microsoft.NETCore.App 8.0.x).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Time: </a:t>
            </a:r>
            <a:r>
              <a:rPr lang="en-US" sz="1600" dirty="0"/>
              <a:t>~10 minutes</a:t>
            </a:r>
          </a:p>
        </p:txBody>
      </p:sp>
    </p:spTree>
    <p:extLst>
      <p:ext uri="{BB962C8B-B14F-4D97-AF65-F5344CB8AC3E}">
        <p14:creationId xmlns:p14="http://schemas.microsoft.com/office/powerpoint/2010/main" val="1567425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.NET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Productivity</a:t>
            </a:r>
            <a:r>
              <a:rPr lang="en-US" sz="1600" dirty="0"/>
              <a:t>: rich BCL, mature tooling (Visual Studio, Rider, VS Code), excellent debugger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Performance</a:t>
            </a:r>
            <a:r>
              <a:rPr lang="en-US" sz="1600" dirty="0"/>
              <a:t>: among the fastest managed platforms; competitive with Java/Go on many benchmarks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Cross-platform</a:t>
            </a:r>
            <a:r>
              <a:rPr lang="en-US" sz="1600" dirty="0"/>
              <a:t>: same code on Windows, Linux, macOS, ARM, containers, cloud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Memory-safe by default</a:t>
            </a:r>
            <a:r>
              <a:rPr lang="en-US" sz="1600" dirty="0"/>
              <a:t>: GC, bounds checking, no manual delete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Versatile</a:t>
            </a:r>
            <a:r>
              <a:rPr lang="en-US" sz="1600" dirty="0"/>
              <a:t>: web (ASP.NET), desktop (WPF, WinForms, MAUI), mobile (MAUI), games (Unity), cloud (Azure Functions), ML (ML.NET)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Open source &amp; backed</a:t>
            </a:r>
            <a:r>
              <a:rPr lang="en-US" sz="1600" dirty="0"/>
              <a:t>: MIT license, Microsoft-supported, active community</a:t>
            </a:r>
          </a:p>
        </p:txBody>
      </p:sp>
    </p:spTree>
    <p:extLst>
      <p:ext uri="{BB962C8B-B14F-4D97-AF65-F5344CB8AC3E}">
        <p14:creationId xmlns:p14="http://schemas.microsoft.com/office/powerpoint/2010/main" val="2893905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Assemblies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61412E-5A74-4523-84B6-65A0854E53EC}"/>
              </a:ext>
            </a:extLst>
          </p:cNvPr>
          <p:cNvSpPr/>
          <p:nvPr/>
        </p:nvSpPr>
        <p:spPr>
          <a:xfrm>
            <a:off x="1016000" y="2476500"/>
            <a:ext cx="7112000" cy="3429000"/>
          </a:xfrm>
          <a:prstGeom prst="rect">
            <a:avLst/>
          </a:prstGeom>
          <a:solidFill>
            <a:srgbClr val="FFFFFF"/>
          </a:solidFill>
          <a:ln w="31750" cap="flat" cmpd="sng" algn="ctr">
            <a:solidFill>
              <a:srgbClr val="2683C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6CC8CF-1E61-4239-A674-6119FBE9BDC3}"/>
              </a:ext>
            </a:extLst>
          </p:cNvPr>
          <p:cNvSpPr/>
          <p:nvPr/>
        </p:nvSpPr>
        <p:spPr>
          <a:xfrm>
            <a:off x="1016000" y="2476500"/>
            <a:ext cx="7112000" cy="457200"/>
          </a:xfrm>
          <a:prstGeom prst="rect">
            <a:avLst/>
          </a:prstGeom>
          <a:solidFill>
            <a:srgbClr val="2683C6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MyApp.dll  /  MyApp.exe   —   .NET Assembly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A0FAE17-3A63-4224-83CD-663C0D0C1B6A}"/>
              </a:ext>
            </a:extLst>
          </p:cNvPr>
          <p:cNvSpPr/>
          <p:nvPr/>
        </p:nvSpPr>
        <p:spPr>
          <a:xfrm>
            <a:off x="1270000" y="3149600"/>
            <a:ext cx="3048000" cy="1219200"/>
          </a:xfrm>
          <a:prstGeom prst="roundRect">
            <a:avLst/>
          </a:prstGeom>
          <a:solidFill>
            <a:srgbClr val="1CADE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Manifest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Assembly identity, version, culture, strong name, referenced assemblies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B337A4-514E-434B-A5E5-38E5C03C7484}"/>
              </a:ext>
            </a:extLst>
          </p:cNvPr>
          <p:cNvSpPr/>
          <p:nvPr/>
        </p:nvSpPr>
        <p:spPr>
          <a:xfrm>
            <a:off x="4572000" y="3149600"/>
            <a:ext cx="3048000" cy="1219200"/>
          </a:xfrm>
          <a:prstGeom prst="roundRect">
            <a:avLst/>
          </a:prstGeom>
          <a:solidFill>
            <a:srgbClr val="27CED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Type Metadata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Definitions of every class, struct, interface, enum and member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AB0D7B2-B3F4-4A2A-85E4-CD2C55626138}"/>
              </a:ext>
            </a:extLst>
          </p:cNvPr>
          <p:cNvSpPr/>
          <p:nvPr/>
        </p:nvSpPr>
        <p:spPr>
          <a:xfrm>
            <a:off x="1270000" y="4572000"/>
            <a:ext cx="3048000" cy="1219200"/>
          </a:xfrm>
          <a:prstGeom prst="roundRect">
            <a:avLst/>
          </a:prstGeom>
          <a:solidFill>
            <a:srgbClr val="42BA9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MSIL / CIL Code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Compiled intermediate code, ready for JIT at runtime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C57FA11-065A-4C50-BFBC-22A9BA93884C}"/>
              </a:ext>
            </a:extLst>
          </p:cNvPr>
          <p:cNvSpPr/>
          <p:nvPr/>
        </p:nvSpPr>
        <p:spPr>
          <a:xfrm>
            <a:off x="4572000" y="4572000"/>
            <a:ext cx="3048000" cy="1219200"/>
          </a:xfrm>
          <a:prstGeom prst="roundRect">
            <a:avLst/>
          </a:prstGeom>
          <a:solidFill>
            <a:srgbClr val="3E8853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Resources</a:t>
            </a:r>
          </a:p>
          <a:p>
            <a:pPr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Strings, images, icons, localization (.resx)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B1C8EB-26EC-44F2-8305-9D80D19E1B24}"/>
              </a:ext>
            </a:extLst>
          </p:cNvPr>
          <p:cNvSpPr txBox="1"/>
          <p:nvPr/>
        </p:nvSpPr>
        <p:spPr>
          <a:xfrm>
            <a:off x="1016000" y="6070600"/>
            <a:ext cx="711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335B74"/>
                </a:solidFill>
              </a:rPr>
              <a:t>One file. Self-describing. Versioned. The unit of deployment, security and versioning in .NET.</a:t>
            </a:r>
            <a:endParaRPr lang="en-IN" sz="1400" i="1">
              <a:solidFill>
                <a:srgbClr val="335B7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8346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MSIL / CIL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C494EDA-97A8-476D-8989-1B5617BCC08A}"/>
              </a:ext>
            </a:extLst>
          </p:cNvPr>
          <p:cNvSpPr/>
          <p:nvPr/>
        </p:nvSpPr>
        <p:spPr>
          <a:xfrm>
            <a:off x="635000" y="2794000"/>
            <a:ext cx="1651000" cy="1016000"/>
          </a:xfrm>
          <a:prstGeom prst="roundRect">
            <a:avLst/>
          </a:prstGeom>
          <a:solidFill>
            <a:srgbClr val="335B7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200" b="1">
                <a:solidFill>
                  <a:srgbClr val="FFFFFF"/>
                </a:solidFill>
              </a:rPr>
              <a:t>C# / VB / F#
Source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3226820-92CE-470B-8562-B399BFDD3CE5}"/>
              </a:ext>
            </a:extLst>
          </p:cNvPr>
          <p:cNvSpPr/>
          <p:nvPr/>
        </p:nvSpPr>
        <p:spPr>
          <a:xfrm>
            <a:off x="2540000" y="2794000"/>
            <a:ext cx="1651000" cy="1016000"/>
          </a:xfrm>
          <a:prstGeom prst="roundRect">
            <a:avLst/>
          </a:prstGeom>
          <a:solidFill>
            <a:srgbClr val="2683C6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200" b="1">
                <a:solidFill>
                  <a:srgbClr val="FFFFFF"/>
                </a:solidFill>
              </a:rPr>
              <a:t>Language
Compiler
(csc/Roslyn)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4901F19-4E5F-40C2-8B3A-542DB2BB4E46}"/>
              </a:ext>
            </a:extLst>
          </p:cNvPr>
          <p:cNvSpPr/>
          <p:nvPr/>
        </p:nvSpPr>
        <p:spPr>
          <a:xfrm>
            <a:off x="4572000" y="2794000"/>
            <a:ext cx="1651000" cy="1016000"/>
          </a:xfrm>
          <a:prstGeom prst="roundRect">
            <a:avLst/>
          </a:prstGeom>
          <a:solidFill>
            <a:srgbClr val="1CADE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Assembly
MSIL + Metadata
(.dll/.exe)</a:t>
            </a:r>
            <a:endParaRPr lang="en-IN" sz="1200" b="1">
              <a:solidFill>
                <a:srgbClr val="FFFFFF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19C7557-4AC1-4878-9D2D-D2D4A98F23EC}"/>
              </a:ext>
            </a:extLst>
          </p:cNvPr>
          <p:cNvSpPr/>
          <p:nvPr/>
        </p:nvSpPr>
        <p:spPr>
          <a:xfrm>
            <a:off x="4572000" y="4572000"/>
            <a:ext cx="1651000" cy="1016000"/>
          </a:xfrm>
          <a:prstGeom prst="roundRect">
            <a:avLst/>
          </a:prstGeom>
          <a:solidFill>
            <a:srgbClr val="42BA9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200" b="1">
                <a:solidFill>
                  <a:srgbClr val="FFFFFF"/>
                </a:solidFill>
              </a:rPr>
              <a:t>JIT Compiler
(CoreCLR)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1D3AA7D-119A-401E-837B-97B8B6E1254D}"/>
              </a:ext>
            </a:extLst>
          </p:cNvPr>
          <p:cNvSpPr/>
          <p:nvPr/>
        </p:nvSpPr>
        <p:spPr>
          <a:xfrm>
            <a:off x="6731000" y="4572000"/>
            <a:ext cx="1651000" cy="1016000"/>
          </a:xfrm>
          <a:prstGeom prst="roundRect">
            <a:avLst/>
          </a:prstGeom>
          <a:solidFill>
            <a:srgbClr val="3E8853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200" b="1">
                <a:solidFill>
                  <a:srgbClr val="FFFFFF"/>
                </a:solidFill>
              </a:rPr>
              <a:t>Native CPU
Instructions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B8D2AA0D-B233-471F-879D-9A3E08D7AD7C}"/>
              </a:ext>
            </a:extLst>
          </p:cNvPr>
          <p:cNvSpPr/>
          <p:nvPr/>
        </p:nvSpPr>
        <p:spPr>
          <a:xfrm>
            <a:off x="2311400" y="3111500"/>
            <a:ext cx="279400" cy="381000"/>
          </a:xfrm>
          <a:prstGeom prst="rightArrow">
            <a:avLst/>
          </a:prstGeom>
          <a:solidFill>
            <a:srgbClr val="335B7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1D8F054-F22D-4555-A8A6-8A67593ABA05}"/>
              </a:ext>
            </a:extLst>
          </p:cNvPr>
          <p:cNvSpPr/>
          <p:nvPr/>
        </p:nvSpPr>
        <p:spPr>
          <a:xfrm>
            <a:off x="4229100" y="3111500"/>
            <a:ext cx="381000" cy="381000"/>
          </a:xfrm>
          <a:prstGeom prst="rightArrow">
            <a:avLst/>
          </a:prstGeom>
          <a:solidFill>
            <a:srgbClr val="335B7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0D0B741B-8F1B-46E5-9081-6FF3B752CB36}"/>
              </a:ext>
            </a:extLst>
          </p:cNvPr>
          <p:cNvSpPr/>
          <p:nvPr/>
        </p:nvSpPr>
        <p:spPr>
          <a:xfrm>
            <a:off x="5207000" y="3860800"/>
            <a:ext cx="381000" cy="660400"/>
          </a:xfrm>
          <a:prstGeom prst="downArrow">
            <a:avLst/>
          </a:prstGeom>
          <a:solidFill>
            <a:srgbClr val="42BA9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89993276-D486-400A-8B6D-037EAEAEF959}"/>
              </a:ext>
            </a:extLst>
          </p:cNvPr>
          <p:cNvSpPr/>
          <p:nvPr/>
        </p:nvSpPr>
        <p:spPr>
          <a:xfrm>
            <a:off x="6261100" y="4889500"/>
            <a:ext cx="444500" cy="381000"/>
          </a:xfrm>
          <a:prstGeom prst="rightArrow">
            <a:avLst/>
          </a:prstGeom>
          <a:solidFill>
            <a:srgbClr val="42BA9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D2DBEA-E726-456B-BD50-E6C56AC3D10D}"/>
              </a:ext>
            </a:extLst>
          </p:cNvPr>
          <p:cNvSpPr txBox="1"/>
          <p:nvPr/>
        </p:nvSpPr>
        <p:spPr>
          <a:xfrm>
            <a:off x="635000" y="2438400"/>
            <a:ext cx="558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100" b="1">
                <a:solidFill>
                  <a:srgbClr val="335B74"/>
                </a:solidFill>
              </a:rPr>
              <a:t>BUILD TIME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A7E303-F15D-4ACE-B899-77A55228AAA5}"/>
              </a:ext>
            </a:extLst>
          </p:cNvPr>
          <p:cNvSpPr txBox="1"/>
          <p:nvPr/>
        </p:nvSpPr>
        <p:spPr>
          <a:xfrm>
            <a:off x="4572000" y="42164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100" b="1">
                <a:solidFill>
                  <a:srgbClr val="42BA97"/>
                </a:solidFill>
              </a:rPr>
              <a:t>RUN TIME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96B08E-8D74-4C22-902E-007D612B996E}"/>
              </a:ext>
            </a:extLst>
          </p:cNvPr>
          <p:cNvSpPr/>
          <p:nvPr/>
        </p:nvSpPr>
        <p:spPr>
          <a:xfrm>
            <a:off x="635000" y="4089400"/>
            <a:ext cx="7874000" cy="12700"/>
          </a:xfrm>
          <a:prstGeom prst="rect">
            <a:avLst/>
          </a:prstGeom>
          <a:solidFill>
            <a:srgbClr val="DFE3E5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060977-0D09-401C-A3AD-7EE9ADB917FF}"/>
              </a:ext>
            </a:extLst>
          </p:cNvPr>
          <p:cNvSpPr txBox="1"/>
          <p:nvPr/>
        </p:nvSpPr>
        <p:spPr>
          <a:xfrm>
            <a:off x="635000" y="5969000"/>
            <a:ext cx="7874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335B74"/>
                </a:solidFill>
              </a:rPr>
              <a:t>Source compiles once to MSIL; the JIT translates MSIL to native code on first execution and caches it.</a:t>
            </a:r>
            <a:endParaRPr lang="en-IN" sz="1400" i="1">
              <a:solidFill>
                <a:srgbClr val="335B74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2 - Inspect an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Objective: </a:t>
            </a:r>
            <a:r>
              <a:rPr lang="en-US" sz="1600" dirty="0"/>
              <a:t>peek inside a compiled assembly and see the MSIL produced by the C# compiler.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Steps</a:t>
            </a:r>
          </a:p>
          <a:p>
            <a:pPr marL="57150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Create a class library: </a:t>
            </a:r>
            <a:r>
              <a:rPr lang="en-US" sz="1500" i="1" dirty="0"/>
              <a:t>dotnet new classlib -n DemoLib</a:t>
            </a:r>
          </a:p>
          <a:p>
            <a:pPr marL="57150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Add a simple method (e.g. </a:t>
            </a:r>
            <a:r>
              <a:rPr lang="en-US" sz="1500" i="1" dirty="0"/>
              <a:t>Add(int a, int b)</a:t>
            </a:r>
            <a:r>
              <a:rPr lang="en-US" sz="1500" dirty="0"/>
              <a:t>) and build: </a:t>
            </a:r>
            <a:r>
              <a:rPr lang="en-US" sz="1500" i="1" dirty="0"/>
              <a:t>dotnet build</a:t>
            </a:r>
          </a:p>
          <a:p>
            <a:pPr marL="57150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Locate </a:t>
            </a:r>
            <a:r>
              <a:rPr lang="en-US" sz="1500" i="1" dirty="0"/>
              <a:t>bin/Debug/net8.0/DemoLib.dll</a:t>
            </a:r>
          </a:p>
          <a:p>
            <a:pPr marL="57150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Open the DLL in ILSpy or ildasm and view the MSIL for </a:t>
            </a:r>
            <a:r>
              <a:rPr lang="en-US" sz="1500" i="1" dirty="0"/>
              <a:t>Add()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Observe: </a:t>
            </a:r>
            <a:r>
              <a:rPr lang="en-US" sz="1600" dirty="0"/>
              <a:t>the manifest, type metadata, and stack-based IL instructions (ldarg, add, ret).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Time: </a:t>
            </a:r>
            <a:r>
              <a:rPr lang="en-US" sz="1600" dirty="0"/>
              <a:t>~15 minutes</a:t>
            </a:r>
          </a:p>
        </p:txBody>
      </p:sp>
    </p:spTree>
    <p:extLst>
      <p:ext uri="{BB962C8B-B14F-4D97-AF65-F5344CB8AC3E}">
        <p14:creationId xmlns:p14="http://schemas.microsoft.com/office/powerpoint/2010/main" val="2298247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C#</a:t>
            </a:r>
            <a:r>
              <a:rPr lang="en-US" sz="1600" dirty="0"/>
              <a:t> is a modern, object-oriented, type-safe language from Microsoft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Designed by </a:t>
            </a:r>
            <a:r>
              <a:rPr lang="en-US" sz="1600" b="1" dirty="0"/>
              <a:t>Anders Hejlsberg</a:t>
            </a:r>
            <a:r>
              <a:rPr lang="en-US" sz="1600" dirty="0"/>
              <a:t> – also the creator of Turbo Pascal, Delphi, and TypeScript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Syntax in the C family – familiar to C, C++, and Java developers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Multi-paradigm</a:t>
            </a:r>
            <a:r>
              <a:rPr lang="en-US" sz="1600" dirty="0"/>
              <a:t>: object-oriented, generic, functional (LINQ, lambdas), asynchronous (async/await)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Standardised by ECMA and ISO; current stable version is </a:t>
            </a:r>
            <a:r>
              <a:rPr lang="en-US" sz="1600" b="1" dirty="0"/>
              <a:t>C# 12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Primary language for the .NET platform</a:t>
            </a:r>
          </a:p>
        </p:txBody>
      </p:sp>
    </p:spTree>
    <p:extLst>
      <p:ext uri="{BB962C8B-B14F-4D97-AF65-F5344CB8AC3E}">
        <p14:creationId xmlns:p14="http://schemas.microsoft.com/office/powerpoint/2010/main" val="3573611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of C#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2002 – C# 1.0</a:t>
            </a:r>
            <a:r>
              <a:rPr lang="en-US" sz="1600" dirty="0"/>
              <a:t>: shipped with .NET Framework 1.0; managed C-style language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2005 – C# 2.0</a:t>
            </a:r>
            <a:r>
              <a:rPr lang="en-US" sz="1600" dirty="0"/>
              <a:t>: generics, nullable value types, iterators, anonymous methods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2007 – C# 3.0</a:t>
            </a:r>
            <a:r>
              <a:rPr lang="en-US" sz="1600" dirty="0"/>
              <a:t>: LINQ, lambda expressions, extension methods, var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2012 – C# 5.0</a:t>
            </a:r>
            <a:r>
              <a:rPr lang="en-US" sz="1600" dirty="0"/>
              <a:t>: async/await – first-class asynchronous programming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2017 – C# 7</a:t>
            </a:r>
            <a:r>
              <a:rPr lang="en-US" sz="1600" dirty="0"/>
              <a:t>: tuples, pattern matching, local functions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2019 – C# 8</a:t>
            </a:r>
            <a:r>
              <a:rPr lang="en-US" sz="1600" dirty="0"/>
              <a:t>: nullable reference types, default interface methods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2020-23 – C# 9 / 10 / 11 / 12</a:t>
            </a:r>
            <a:r>
              <a:rPr lang="en-US" sz="1600" dirty="0"/>
              <a:t>: records, top-level statements, file-scoped namespaces, raw strings, primary constructors</a:t>
            </a:r>
          </a:p>
        </p:txBody>
      </p:sp>
    </p:spTree>
    <p:extLst>
      <p:ext uri="{BB962C8B-B14F-4D97-AF65-F5344CB8AC3E}">
        <p14:creationId xmlns:p14="http://schemas.microsoft.com/office/powerpoint/2010/main" val="5616754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C#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Strongly &amp; statically typed</a:t>
            </a:r>
            <a:r>
              <a:rPr lang="en-US" sz="1600" dirty="0"/>
              <a:t>: most errors caught at compile time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Object-oriented</a:t>
            </a:r>
            <a:r>
              <a:rPr lang="en-US" sz="1600" dirty="0"/>
              <a:t>: classes, inheritance, polymorphism, interfaces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Generics</a:t>
            </a:r>
            <a:r>
              <a:rPr lang="en-US" sz="1600" dirty="0"/>
              <a:t>: type-safe reusable code (List&lt;T&gt;, Dictionary&lt;K,V&gt;)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LINQ</a:t>
            </a:r>
            <a:r>
              <a:rPr lang="en-US" sz="1600" dirty="0"/>
              <a:t>: query collections, XML, and databases with one syntax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async / await</a:t>
            </a:r>
            <a:r>
              <a:rPr lang="en-US" sz="1600" dirty="0"/>
              <a:t>: write non-blocking code that reads like synchronous code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Pattern matching &amp; records</a:t>
            </a:r>
            <a:r>
              <a:rPr lang="en-US" sz="1600" dirty="0"/>
              <a:t>: concise, expressive data handling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Nullable reference types</a:t>
            </a:r>
            <a:r>
              <a:rPr lang="en-US" sz="1600" dirty="0"/>
              <a:t>: compiler-enforced null safety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Automatic memory management</a:t>
            </a:r>
            <a:r>
              <a:rPr lang="en-US" sz="1600" dirty="0"/>
              <a:t>: GC handles allocation/deallocation</a:t>
            </a:r>
          </a:p>
        </p:txBody>
      </p:sp>
    </p:spTree>
    <p:extLst>
      <p:ext uri="{BB962C8B-B14F-4D97-AF65-F5344CB8AC3E}">
        <p14:creationId xmlns:p14="http://schemas.microsoft.com/office/powerpoint/2010/main" val="3778353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C#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Case-sensitive</a:t>
            </a:r>
            <a:r>
              <a:rPr lang="en-US" sz="1600" dirty="0"/>
              <a:t>: </a:t>
            </a:r>
            <a:r>
              <a:rPr lang="en-US" sz="1600" i="1" dirty="0"/>
              <a:t>name</a:t>
            </a:r>
            <a:r>
              <a:rPr lang="en-US" sz="1600" dirty="0"/>
              <a:t> and </a:t>
            </a:r>
            <a:r>
              <a:rPr lang="en-US" sz="1600" i="1" dirty="0"/>
              <a:t>Name</a:t>
            </a:r>
            <a:r>
              <a:rPr lang="en-US" sz="1600" dirty="0"/>
              <a:t> are different identifiers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Statements end with semicolons</a:t>
            </a:r>
            <a:r>
              <a:rPr lang="en-US" sz="1600" dirty="0"/>
              <a:t>; blocks are wrapped in </a:t>
            </a:r>
            <a:r>
              <a:rPr lang="en-US" sz="1600" i="1" dirty="0"/>
              <a:t>{ }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Comments: </a:t>
            </a:r>
            <a:r>
              <a:rPr lang="en-US" sz="1600" i="1" dirty="0"/>
              <a:t>// single line</a:t>
            </a:r>
            <a:r>
              <a:rPr lang="en-US" sz="1600" dirty="0"/>
              <a:t>, </a:t>
            </a:r>
            <a:r>
              <a:rPr lang="en-US" sz="1600" i="1" dirty="0"/>
              <a:t>/* … */</a:t>
            </a:r>
            <a:r>
              <a:rPr lang="en-US" sz="1600" dirty="0"/>
              <a:t> block, </a:t>
            </a:r>
            <a:r>
              <a:rPr lang="en-US" sz="1600" i="1" dirty="0"/>
              <a:t>/// </a:t>
            </a:r>
            <a:r>
              <a:rPr lang="en-US" sz="1600" dirty="0"/>
              <a:t>XML doc comments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Identifiers</a:t>
            </a:r>
            <a:r>
              <a:rPr lang="en-US" sz="1600" dirty="0"/>
              <a:t>: start with a letter or _; cannot use reserved keywords (prefix with @ to escape)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Naming conventions</a:t>
            </a:r>
            <a:r>
              <a:rPr lang="en-US" sz="1600" dirty="0"/>
              <a:t>: PascalCase for types/methods/properties, camelCase for locals/parameters, _camelCase for private fields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Strings use double quotes; characters use single quotes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Files use the </a:t>
            </a:r>
            <a:r>
              <a:rPr lang="en-US" sz="1600" i="1" dirty="0"/>
              <a:t>.cs</a:t>
            </a:r>
            <a:r>
              <a:rPr lang="en-US" sz="1600" dirty="0"/>
              <a:t> extension</a:t>
            </a:r>
          </a:p>
        </p:txBody>
      </p:sp>
    </p:spTree>
    <p:extLst>
      <p:ext uri="{BB962C8B-B14F-4D97-AF65-F5344CB8AC3E}">
        <p14:creationId xmlns:p14="http://schemas.microsoft.com/office/powerpoint/2010/main" val="1172844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Console Application Structure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7C8FA9-0334-49DB-AFA8-259CC58CFCA6}"/>
              </a:ext>
            </a:extLst>
          </p:cNvPr>
          <p:cNvSpPr/>
          <p:nvPr/>
        </p:nvSpPr>
        <p:spPr>
          <a:xfrm>
            <a:off x="508000" y="2413000"/>
            <a:ext cx="4572000" cy="3556000"/>
          </a:xfrm>
          <a:prstGeom prst="rect">
            <a:avLst/>
          </a:prstGeom>
          <a:solidFill>
            <a:srgbClr val="1B1F23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t" anchorCtr="0">
            <a:noAutofit/>
          </a:bodyPr>
          <a:lstStyle/>
          <a:p>
            <a:pPr algn="l">
              <a:buNone/>
            </a:pPr>
            <a:r>
              <a:rPr lang="en-US" sz="1300" dirty="0">
                <a:solidFill>
                  <a:srgbClr val="C586C0"/>
                </a:solidFill>
                <a:latin typeface="Consolas"/>
              </a:rPr>
              <a:t>using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System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;</a:t>
            </a:r>
          </a:p>
          <a:p>
            <a:pPr algn="l">
              <a:buNone/>
            </a:pPr>
            <a:endParaRPr lang="en-US" sz="1300"/>
          </a:p>
          <a:p>
            <a:pPr algn="l">
              <a:buNone/>
            </a:pPr>
            <a:r>
              <a:rPr lang="en-US" sz="1300" dirty="0">
                <a:solidFill>
                  <a:srgbClr val="569CD6"/>
                </a:solidFill>
                <a:latin typeface="Consolas"/>
              </a:rPr>
              <a:t>namespace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HelloApp</a:t>
            </a:r>
          </a:p>
          <a:p>
            <a:pPr algn="l"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class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Program</a:t>
            </a:r>
          </a:p>
          <a:p>
            <a:pPr algn="l"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{</a:t>
            </a:r>
          </a:p>
          <a:p>
            <a:pPr algn="l"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static void 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Main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569CD6"/>
                </a:solidFill>
                <a:latin typeface="Consolas"/>
              </a:rPr>
              <a:t>string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[] args)</a:t>
            </a:r>
          </a:p>
          <a:p>
            <a:pPr algn="l"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    {</a:t>
            </a:r>
          </a:p>
          <a:p>
            <a:pPr algn="l"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        </a:t>
            </a:r>
            <a:r>
              <a:rPr lang="en-US" sz="1300" dirty="0">
                <a:solidFill>
                  <a:srgbClr val="4EC9B0"/>
                </a:solidFill>
                <a:latin typeface="Consolas"/>
              </a:rPr>
              <a:t>Console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300" dirty="0">
                <a:solidFill>
                  <a:srgbClr val="DCDCAA"/>
                </a:solidFill>
                <a:latin typeface="Consolas"/>
              </a:rPr>
              <a:t>WriteLine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/>
              </a:rPr>
              <a:t>"Hello, World!"</a:t>
            </a:r>
            <a:r>
              <a:rPr lang="en-US" sz="1300" dirty="0">
                <a:solidFill>
                  <a:srgbClr val="D4D4D4"/>
                </a:solidFill>
                <a:latin typeface="Consolas"/>
              </a:rPr>
              <a:t>);</a:t>
            </a:r>
          </a:p>
          <a:p>
            <a:pPr algn="l"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 algn="l"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 algn="l">
              <a:buNone/>
            </a:pPr>
            <a:r>
              <a:rPr lang="en-US" sz="1300" dirty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6255689-0365-4BF1-8E50-3C0030463006}"/>
              </a:ext>
            </a:extLst>
          </p:cNvPr>
          <p:cNvSpPr/>
          <p:nvPr/>
        </p:nvSpPr>
        <p:spPr>
          <a:xfrm>
            <a:off x="5207000" y="2540000"/>
            <a:ext cx="279400" cy="279400"/>
          </a:xfrm>
          <a:prstGeom prst="ellipse">
            <a:avLst/>
          </a:prstGeom>
          <a:solidFill>
            <a:srgbClr val="27CED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32D786-59C9-4597-807C-26E12305AA31}"/>
              </a:ext>
            </a:extLst>
          </p:cNvPr>
          <p:cNvSpPr txBox="1"/>
          <p:nvPr/>
        </p:nvSpPr>
        <p:spPr>
          <a:xfrm>
            <a:off x="5588000" y="25146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5B74"/>
                </a:solidFill>
              </a:rPr>
              <a:t>Using directive — imports the System namespace</a:t>
            </a:r>
            <a:endParaRPr lang="en-IN" sz="1300">
              <a:solidFill>
                <a:srgbClr val="335B74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20BA2F0-64F4-4161-A234-FA71FE6E4093}"/>
              </a:ext>
            </a:extLst>
          </p:cNvPr>
          <p:cNvSpPr/>
          <p:nvPr/>
        </p:nvSpPr>
        <p:spPr>
          <a:xfrm>
            <a:off x="5207000" y="2984500"/>
            <a:ext cx="279400" cy="279400"/>
          </a:xfrm>
          <a:prstGeom prst="ellipse">
            <a:avLst/>
          </a:prstGeom>
          <a:solidFill>
            <a:srgbClr val="2683C6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96167E-9008-46FA-8463-96D917298B01}"/>
              </a:ext>
            </a:extLst>
          </p:cNvPr>
          <p:cNvSpPr txBox="1"/>
          <p:nvPr/>
        </p:nvSpPr>
        <p:spPr>
          <a:xfrm>
            <a:off x="5588000" y="29591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5B74"/>
                </a:solidFill>
              </a:rPr>
              <a:t>Namespace — logical container for your types</a:t>
            </a:r>
            <a:endParaRPr lang="en-IN" sz="1300">
              <a:solidFill>
                <a:srgbClr val="335B74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61740C5-00FC-4F17-9CDA-BE1DDA32B647}"/>
              </a:ext>
            </a:extLst>
          </p:cNvPr>
          <p:cNvSpPr/>
          <p:nvPr/>
        </p:nvSpPr>
        <p:spPr>
          <a:xfrm>
            <a:off x="5207000" y="3556000"/>
            <a:ext cx="279400" cy="279400"/>
          </a:xfrm>
          <a:prstGeom prst="ellipse">
            <a:avLst/>
          </a:prstGeom>
          <a:solidFill>
            <a:srgbClr val="42BA9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820886-23A4-4282-9198-C38DB7E76069}"/>
              </a:ext>
            </a:extLst>
          </p:cNvPr>
          <p:cNvSpPr txBox="1"/>
          <p:nvPr/>
        </p:nvSpPr>
        <p:spPr>
          <a:xfrm>
            <a:off x="5588000" y="35306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5B74"/>
                </a:solidFill>
              </a:rPr>
              <a:t>Class — every C# program is built from classes</a:t>
            </a:r>
            <a:endParaRPr lang="en-IN" sz="1300">
              <a:solidFill>
                <a:srgbClr val="335B74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3AA8E79-1C90-4B1F-869F-B3D49BC738AC}"/>
              </a:ext>
            </a:extLst>
          </p:cNvPr>
          <p:cNvSpPr/>
          <p:nvPr/>
        </p:nvSpPr>
        <p:spPr>
          <a:xfrm>
            <a:off x="5207000" y="4064000"/>
            <a:ext cx="279400" cy="279400"/>
          </a:xfrm>
          <a:prstGeom prst="ellipse">
            <a:avLst/>
          </a:prstGeom>
          <a:solidFill>
            <a:srgbClr val="3E8853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614037-82F5-4B03-9015-DD1DBF70D83F}"/>
              </a:ext>
            </a:extLst>
          </p:cNvPr>
          <p:cNvSpPr txBox="1"/>
          <p:nvPr/>
        </p:nvSpPr>
        <p:spPr>
          <a:xfrm>
            <a:off x="5588000" y="40386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5B74"/>
                </a:solidFill>
              </a:rPr>
              <a:t>Main method — entry point of the application</a:t>
            </a:r>
            <a:endParaRPr lang="en-IN" sz="1300">
              <a:solidFill>
                <a:srgbClr val="335B74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182CE3A-B930-4B99-93C9-94A7BADFDA8F}"/>
              </a:ext>
            </a:extLst>
          </p:cNvPr>
          <p:cNvSpPr/>
          <p:nvPr/>
        </p:nvSpPr>
        <p:spPr>
          <a:xfrm>
            <a:off x="5207000" y="4826000"/>
            <a:ext cx="279400" cy="279400"/>
          </a:xfrm>
          <a:prstGeom prst="ellipse">
            <a:avLst/>
          </a:prstGeom>
          <a:solidFill>
            <a:srgbClr val="62A39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76ACDB-D620-43DF-9030-A435D3791B13}"/>
              </a:ext>
            </a:extLst>
          </p:cNvPr>
          <p:cNvSpPr txBox="1"/>
          <p:nvPr/>
        </p:nvSpPr>
        <p:spPr>
          <a:xfrm>
            <a:off x="5588000" y="48006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335B74"/>
                </a:solidFill>
              </a:rPr>
              <a:t>Statement — runs when the program executes</a:t>
            </a:r>
            <a:endParaRPr lang="en-IN" sz="1300">
              <a:solidFill>
                <a:srgbClr val="335B7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50707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Main</a:t>
            </a:r>
            <a:r>
              <a:rPr lang="en-US" sz="1600" dirty="0"/>
              <a:t> is the entry point for every executable; the runtime calls it on startup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Must be </a:t>
            </a:r>
            <a:r>
              <a:rPr lang="en-US" sz="1600" b="1" dirty="0"/>
              <a:t>static</a:t>
            </a:r>
            <a:r>
              <a:rPr lang="en-US" sz="1600" dirty="0"/>
              <a:t> and is conventionally declared inside a class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Return type: </a:t>
            </a:r>
            <a:r>
              <a:rPr lang="en-US" sz="1600" i="1" dirty="0"/>
              <a:t>void</a:t>
            </a:r>
            <a:r>
              <a:rPr lang="en-US" sz="1600" dirty="0"/>
              <a:t>, </a:t>
            </a:r>
            <a:r>
              <a:rPr lang="en-US" sz="1600" i="1" dirty="0"/>
              <a:t>int</a:t>
            </a:r>
            <a:r>
              <a:rPr lang="en-US" sz="1600" dirty="0"/>
              <a:t>, </a:t>
            </a:r>
            <a:r>
              <a:rPr lang="en-US" sz="1600" i="1" dirty="0"/>
              <a:t>Task</a:t>
            </a:r>
            <a:r>
              <a:rPr lang="en-US" sz="1600" dirty="0"/>
              <a:t>, or </a:t>
            </a:r>
            <a:r>
              <a:rPr lang="en-US" sz="1600" i="1" dirty="0"/>
              <a:t>Task&lt;int&gt;</a:t>
            </a:r>
            <a:r>
              <a:rPr lang="en-US" sz="1600" dirty="0"/>
              <a:t> (for async)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Parameters: optional </a:t>
            </a:r>
            <a:r>
              <a:rPr lang="en-US" sz="1600" i="1" dirty="0"/>
              <a:t>string[] args</a:t>
            </a:r>
            <a:r>
              <a:rPr lang="en-US" sz="1600" dirty="0"/>
              <a:t> contains the command-line arguments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Returning a non-zero </a:t>
            </a:r>
            <a:r>
              <a:rPr lang="en-US" sz="1600" i="1" dirty="0"/>
              <a:t>int</a:t>
            </a:r>
            <a:r>
              <a:rPr lang="en-US" sz="1600" dirty="0"/>
              <a:t> signals failure to the operating system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Top-level statements</a:t>
            </a:r>
            <a:r>
              <a:rPr lang="en-US" sz="1600" dirty="0"/>
              <a:t> (C# 9+): the compiler generates Main for you so simple programs need no class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Example: </a:t>
            </a:r>
            <a:r>
              <a:rPr lang="en-US" sz="1600" i="1" dirty="0"/>
              <a:t>static int Main(string[] args) { … return 0; }</a:t>
            </a:r>
          </a:p>
        </p:txBody>
      </p:sp>
    </p:spTree>
    <p:extLst>
      <p:ext uri="{BB962C8B-B14F-4D97-AF65-F5344CB8AC3E}">
        <p14:creationId xmlns:p14="http://schemas.microsoft.com/office/powerpoint/2010/main" val="757596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dirty="0"/>
              <a:t>Lab 3 - Your First Console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Objective: </a:t>
            </a:r>
            <a:r>
              <a:rPr lang="en-US" sz="1600" dirty="0"/>
              <a:t>Create, build and run your first C# console application from the CLI.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Steps</a:t>
            </a:r>
          </a:p>
          <a:p>
            <a:pPr marL="571500" lvl="1" indent="-285750">
              <a:buFont typeface="Arial"/>
              <a:buChar char="•"/>
            </a:pPr>
            <a:r>
              <a:rPr lang="en-US" sz="1500" dirty="0"/>
              <a:t>Create a folder, then run </a:t>
            </a:r>
            <a:r>
              <a:rPr lang="en-US" sz="1500" i="1" dirty="0"/>
              <a:t>dotnet new console -n HelloApp</a:t>
            </a:r>
          </a:p>
          <a:p>
            <a:pPr marL="571500" lvl="1" indent="-285750">
              <a:buFont typeface="Arial"/>
              <a:buChar char="•"/>
            </a:pPr>
            <a:r>
              <a:rPr lang="en-US" sz="1500" dirty="0"/>
              <a:t>cd into HelloApp and open </a:t>
            </a:r>
            <a:r>
              <a:rPr lang="en-US" sz="1500" i="1" dirty="0"/>
              <a:t>Program.cs</a:t>
            </a:r>
            <a:r>
              <a:rPr lang="en-US" sz="1500" dirty="0"/>
              <a:t> in your editor</a:t>
            </a:r>
          </a:p>
          <a:p>
            <a:pPr marL="571500" lvl="1" indent="-285750">
              <a:buFont typeface="Arial"/>
              <a:buChar char="•"/>
            </a:pPr>
            <a:r>
              <a:rPr lang="en-US" sz="1500" dirty="0"/>
              <a:t>Change the message to print your own name and today's date</a:t>
            </a:r>
          </a:p>
          <a:p>
            <a:pPr marL="571500" lvl="1" indent="-285750">
              <a:buFont typeface="Arial"/>
              <a:buChar char="•"/>
            </a:pPr>
            <a:r>
              <a:rPr lang="en-US" sz="1500" dirty="0"/>
              <a:t>Build and run with </a:t>
            </a:r>
            <a:r>
              <a:rPr lang="en-US" sz="1500" i="1" dirty="0"/>
              <a:t>dotnet run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Bonus: </a:t>
            </a:r>
            <a:r>
              <a:rPr lang="en-US" sz="1600" dirty="0"/>
              <a:t>Inspect the generated </a:t>
            </a:r>
            <a:r>
              <a:rPr lang="en-US" sz="1600" i="1" dirty="0"/>
              <a:t>.csproj</a:t>
            </a:r>
            <a:r>
              <a:rPr lang="en-US" sz="1600" dirty="0"/>
              <a:t> — identify the TargetFramework.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Time: </a:t>
            </a:r>
            <a:r>
              <a:rPr lang="en-US" sz="1600" dirty="0"/>
              <a:t>10 minutes</a:t>
            </a:r>
          </a:p>
        </p:txBody>
      </p:sp>
    </p:spTree>
    <p:extLst>
      <p:ext uri="{BB962C8B-B14F-4D97-AF65-F5344CB8AC3E}">
        <p14:creationId xmlns:p14="http://schemas.microsoft.com/office/powerpoint/2010/main" val="1001980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Namespaces and Using Directive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Namespace</a:t>
            </a:r>
            <a:r>
              <a:rPr lang="en-US" sz="1600" dirty="0"/>
              <a:t>: a logical container that groups related types and prevents name collisions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Common namespaces: </a:t>
            </a:r>
            <a:r>
              <a:rPr lang="en-US" sz="1600" i="1" dirty="0"/>
              <a:t>System</a:t>
            </a:r>
            <a:r>
              <a:rPr lang="en-US" sz="1600" dirty="0"/>
              <a:t>, </a:t>
            </a:r>
            <a:r>
              <a:rPr lang="en-US" sz="1600" i="1" dirty="0"/>
              <a:t>System.IO</a:t>
            </a:r>
            <a:r>
              <a:rPr lang="en-US" sz="1600" dirty="0"/>
              <a:t>, </a:t>
            </a:r>
            <a:r>
              <a:rPr lang="en-US" sz="1600" i="1" dirty="0"/>
              <a:t>System.Collections.Generic</a:t>
            </a:r>
            <a:r>
              <a:rPr lang="en-US" sz="1600" dirty="0"/>
              <a:t>, </a:t>
            </a:r>
            <a:r>
              <a:rPr lang="en-US" sz="1600" i="1" dirty="0"/>
              <a:t>System.Linq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using directive</a:t>
            </a:r>
            <a:r>
              <a:rPr lang="en-US" sz="1600" dirty="0"/>
              <a:t> imports a namespace so its types can be used without a full qualifier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using static</a:t>
            </a:r>
            <a:r>
              <a:rPr lang="en-US" sz="1600" dirty="0"/>
              <a:t>: import a type’s static members (e.g. </a:t>
            </a:r>
            <a:r>
              <a:rPr lang="en-US" sz="1600" i="1" dirty="0"/>
              <a:t>using static System.Math;</a:t>
            </a:r>
            <a:r>
              <a:rPr lang="en-US" sz="1600" dirty="0"/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using alias</a:t>
            </a:r>
            <a:r>
              <a:rPr lang="en-US" sz="1600" dirty="0"/>
              <a:t>: </a:t>
            </a:r>
            <a:r>
              <a:rPr lang="en-US" sz="1600" i="1" dirty="0"/>
              <a:t>using Json = System.Text.Json;</a:t>
            </a:r>
            <a:r>
              <a:rPr lang="en-US" sz="1600" dirty="0"/>
              <a:t> for shorter names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Global usings</a:t>
            </a:r>
            <a:r>
              <a:rPr lang="en-US" sz="1600" dirty="0"/>
              <a:t> (C# 10+): declare once with </a:t>
            </a:r>
            <a:r>
              <a:rPr lang="en-US" sz="1600" i="1" dirty="0"/>
              <a:t>global using …;</a:t>
            </a:r>
            <a:r>
              <a:rPr lang="en-US" sz="1600" dirty="0"/>
              <a:t> for the whole project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File-scoped namespaces</a:t>
            </a:r>
            <a:r>
              <a:rPr lang="en-US" sz="1600" dirty="0"/>
              <a:t> (C# 10+): </a:t>
            </a:r>
            <a:r>
              <a:rPr lang="en-US" sz="1600" i="1" dirty="0"/>
              <a:t>namespace MyApp;</a:t>
            </a:r>
            <a:r>
              <a:rPr lang="en-US" sz="1600" dirty="0"/>
              <a:t> – no braces, less indentation</a:t>
            </a:r>
          </a:p>
        </p:txBody>
      </p:sp>
    </p:spTree>
    <p:extLst>
      <p:ext uri="{BB962C8B-B14F-4D97-AF65-F5344CB8AC3E}">
        <p14:creationId xmlns:p14="http://schemas.microsoft.com/office/powerpoint/2010/main" val="1262852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Console Input and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Console.WriteLine(x)</a:t>
            </a:r>
            <a:r>
              <a:rPr lang="en-US" sz="1600" dirty="0"/>
              <a:t> – write a value followed by a newline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Console.Write(x)</a:t>
            </a:r>
            <a:r>
              <a:rPr lang="en-US" sz="1600" dirty="0"/>
              <a:t> – write a value without a newline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String interpolation</a:t>
            </a:r>
            <a:r>
              <a:rPr lang="en-US" sz="1600" dirty="0"/>
              <a:t>: </a:t>
            </a:r>
            <a:r>
              <a:rPr lang="en-US" sz="1600" i="1" dirty="0"/>
              <a:t>Console.WriteLine($"Hello, {name}!");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Composite format</a:t>
            </a:r>
            <a:r>
              <a:rPr lang="en-US" sz="1600" dirty="0"/>
              <a:t>: </a:t>
            </a:r>
            <a:r>
              <a:rPr lang="en-US" sz="1600" i="1" dirty="0"/>
              <a:t>Console.WriteLine("Hi {0}", name);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Console.ReadLine()</a:t>
            </a:r>
            <a:r>
              <a:rPr lang="en-US" sz="1600" dirty="0"/>
              <a:t> – read a line of text; returns </a:t>
            </a:r>
            <a:r>
              <a:rPr lang="en-US" sz="1600" i="1" dirty="0"/>
              <a:t>string?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Console.ReadKey()</a:t>
            </a:r>
            <a:r>
              <a:rPr lang="en-US" sz="1600" dirty="0"/>
              <a:t> – read a single key press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Input is always text – convert with </a:t>
            </a:r>
            <a:r>
              <a:rPr lang="en-US" sz="1600" i="1" dirty="0"/>
              <a:t>int.Parse</a:t>
            </a:r>
            <a:r>
              <a:rPr lang="en-US" sz="1600" dirty="0"/>
              <a:t>, </a:t>
            </a:r>
            <a:r>
              <a:rPr lang="en-US" sz="1600" i="1" dirty="0"/>
              <a:t>int.TryParse</a:t>
            </a:r>
            <a:r>
              <a:rPr lang="en-US" sz="1600" dirty="0"/>
              <a:t>, or </a:t>
            </a:r>
            <a:r>
              <a:rPr lang="en-US" sz="1600" i="1" dirty="0"/>
              <a:t>Convert.ToInt32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Console.Error / Console.SetOut redirect output for logging or testing</a:t>
            </a:r>
          </a:p>
        </p:txBody>
      </p:sp>
    </p:spTree>
    <p:extLst>
      <p:ext uri="{BB962C8B-B14F-4D97-AF65-F5344CB8AC3E}">
        <p14:creationId xmlns:p14="http://schemas.microsoft.com/office/powerpoint/2010/main" val="36106323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4 - Interactive Greeting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Objective: </a:t>
            </a:r>
            <a:r>
              <a:rPr lang="en-US" sz="1600" dirty="0"/>
              <a:t>Read input from the user and respond with formatted output.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Steps:</a:t>
            </a:r>
          </a:p>
          <a:p>
            <a:pPr marL="571500" lvl="1" indent="-285750">
              <a:buFont typeface="Arial"/>
              <a:buChar char="•"/>
            </a:pPr>
            <a:r>
              <a:rPr lang="en-US" sz="1500" dirty="0"/>
              <a:t>Prompt for the user's name with </a:t>
            </a:r>
            <a:r>
              <a:rPr lang="en-US" sz="1500" i="1" dirty="0"/>
              <a:t>Console.Write</a:t>
            </a:r>
            <a:r>
              <a:rPr lang="en-US" sz="1500" dirty="0"/>
              <a:t> and read it via </a:t>
            </a:r>
            <a:r>
              <a:rPr lang="en-US" sz="1500" i="1" dirty="0"/>
              <a:t>Console.ReadLine()</a:t>
            </a:r>
          </a:p>
          <a:p>
            <a:pPr marL="571500" lvl="1" indent="-285750">
              <a:buFont typeface="Arial"/>
              <a:buChar char="•"/>
            </a:pPr>
            <a:r>
              <a:rPr lang="en-US" sz="1500" dirty="0"/>
              <a:t>Prompt for age, parse using </a:t>
            </a:r>
            <a:r>
              <a:rPr lang="en-US" sz="1500" i="1" dirty="0"/>
              <a:t>int.Parse()</a:t>
            </a:r>
            <a:r>
              <a:rPr lang="en-US" sz="1500" dirty="0"/>
              <a:t> or </a:t>
            </a:r>
            <a:r>
              <a:rPr lang="en-US" sz="1500" i="1" dirty="0"/>
              <a:t>int.TryParse()</a:t>
            </a:r>
          </a:p>
          <a:p>
            <a:pPr marL="571500" lvl="1" indent="-285750">
              <a:buFont typeface="Arial"/>
              <a:buChar char="•"/>
            </a:pPr>
            <a:r>
              <a:rPr lang="en-US" sz="1500" dirty="0"/>
              <a:t>Print a greeting using string interpolation: </a:t>
            </a:r>
            <a:r>
              <a:rPr lang="en-US" sz="1500" i="1" dirty="0"/>
              <a:t>$"Hello {name}, you are {age}"</a:t>
            </a:r>
          </a:p>
          <a:p>
            <a:pPr marL="571500" lvl="1" indent="-285750">
              <a:buFont typeface="Arial"/>
              <a:buChar char="•"/>
            </a:pPr>
            <a:r>
              <a:rPr lang="en-US" sz="1500" dirty="0"/>
              <a:t>Compute and display the birth year: </a:t>
            </a:r>
            <a:r>
              <a:rPr lang="en-US" sz="1500" i="1" dirty="0"/>
              <a:t>DateTime.Now.Year - age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Bonus: </a:t>
            </a:r>
            <a:r>
              <a:rPr lang="en-US" sz="1600" dirty="0"/>
              <a:t>Handle invalid age input gracefully and re-prompt the user.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Time: </a:t>
            </a:r>
            <a:r>
              <a:rPr lang="en-US" sz="1600" dirty="0"/>
              <a:t>10 minutes</a:t>
            </a:r>
          </a:p>
        </p:txBody>
      </p:sp>
    </p:spTree>
    <p:extLst>
      <p:ext uri="{BB962C8B-B14F-4D97-AF65-F5344CB8AC3E}">
        <p14:creationId xmlns:p14="http://schemas.microsoft.com/office/powerpoint/2010/main" val="33922062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 and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Variable</a:t>
            </a:r>
            <a:r>
              <a:rPr lang="en-US" sz="1600" dirty="0"/>
              <a:t>: a named storage location of a specific type – </a:t>
            </a:r>
            <a:r>
              <a:rPr lang="en-US" sz="1600" i="1" dirty="0"/>
              <a:t>int age = 30;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Integer types</a:t>
            </a:r>
            <a:r>
              <a:rPr lang="en-US" sz="1600" dirty="0"/>
              <a:t>: </a:t>
            </a:r>
            <a:r>
              <a:rPr lang="en-US" sz="1600" i="1" dirty="0"/>
              <a:t>byte, sbyte, short, ushort, int, uint, long, ulong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Floating point</a:t>
            </a:r>
            <a:r>
              <a:rPr lang="en-US" sz="1600" dirty="0"/>
              <a:t>: </a:t>
            </a:r>
            <a:r>
              <a:rPr lang="en-US" sz="1600" i="1" dirty="0"/>
              <a:t>float</a:t>
            </a:r>
            <a:r>
              <a:rPr lang="en-US" sz="1600" dirty="0"/>
              <a:t> (32-bit), </a:t>
            </a:r>
            <a:r>
              <a:rPr lang="en-US" sz="1600" i="1" dirty="0"/>
              <a:t>double</a:t>
            </a:r>
            <a:r>
              <a:rPr lang="en-US" sz="1600" dirty="0"/>
              <a:t> (64-bit), </a:t>
            </a:r>
            <a:r>
              <a:rPr lang="en-US" sz="1600" i="1" dirty="0"/>
              <a:t>decimal</a:t>
            </a:r>
            <a:r>
              <a:rPr lang="en-US" sz="1600" dirty="0"/>
              <a:t> (128-bit, money)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Other built-ins</a:t>
            </a:r>
            <a:r>
              <a:rPr lang="en-US" sz="1600" dirty="0"/>
              <a:t>: </a:t>
            </a:r>
            <a:r>
              <a:rPr lang="en-US" sz="1600" i="1" dirty="0"/>
              <a:t>bool, char, string, object, DateTime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var</a:t>
            </a:r>
            <a:r>
              <a:rPr lang="en-US" sz="1600" dirty="0"/>
              <a:t>: compiler infers the type from the initializer (still statically typed)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const</a:t>
            </a:r>
            <a:r>
              <a:rPr lang="en-US" sz="1600" dirty="0"/>
              <a:t> and </a:t>
            </a:r>
            <a:r>
              <a:rPr lang="en-US" sz="1600" b="1" dirty="0"/>
              <a:t>readonly</a:t>
            </a:r>
            <a:r>
              <a:rPr lang="en-US" sz="1600" dirty="0"/>
              <a:t>: compile-time and runtime immutable values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Nullability</a:t>
            </a:r>
            <a:r>
              <a:rPr lang="en-US" sz="1600" dirty="0"/>
              <a:t>: </a:t>
            </a:r>
            <a:r>
              <a:rPr lang="en-US" sz="1600" i="1" dirty="0"/>
              <a:t>int?</a:t>
            </a:r>
            <a:r>
              <a:rPr lang="en-US" sz="1600" dirty="0"/>
              <a:t> allows null for value types; </a:t>
            </a:r>
            <a:r>
              <a:rPr lang="en-US" sz="1600" i="1" dirty="0"/>
              <a:t>string?</a:t>
            </a:r>
            <a:r>
              <a:rPr lang="en-US" sz="1600" dirty="0"/>
              <a:t> marks nullable references</a:t>
            </a:r>
          </a:p>
        </p:txBody>
      </p:sp>
    </p:spTree>
    <p:extLst>
      <p:ext uri="{BB962C8B-B14F-4D97-AF65-F5344CB8AC3E}">
        <p14:creationId xmlns:p14="http://schemas.microsoft.com/office/powerpoint/2010/main" val="19858025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Types vs Reference Types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6B2772-C3CB-472A-ADDB-E3FB38FD8D80}"/>
              </a:ext>
            </a:extLst>
          </p:cNvPr>
          <p:cNvSpPr/>
          <p:nvPr/>
        </p:nvSpPr>
        <p:spPr>
          <a:xfrm>
            <a:off x="508000" y="2387600"/>
            <a:ext cx="4064000" cy="406400"/>
          </a:xfrm>
          <a:prstGeom prst="rect">
            <a:avLst/>
          </a:prstGeom>
          <a:solidFill>
            <a:srgbClr val="42BA9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VALUE TYPES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4FE9F6-EFA5-432D-A4AB-4DF3C6CB8353}"/>
              </a:ext>
            </a:extLst>
          </p:cNvPr>
          <p:cNvSpPr txBox="1"/>
          <p:nvPr/>
        </p:nvSpPr>
        <p:spPr>
          <a:xfrm>
            <a:off x="711200" y="2921000"/>
            <a:ext cx="3556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335B74"/>
                </a:solidFill>
                <a:latin typeface="Consolas"/>
              </a:rPr>
              <a:t>int a = 5;
int b = a;</a:t>
            </a:r>
            <a:endParaRPr lang="en-IN" sz="1300">
              <a:solidFill>
                <a:srgbClr val="335B74"/>
              </a:solidFill>
              <a:latin typeface="Consola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B2454A-FD78-465E-A063-67374AC2A820}"/>
              </a:ext>
            </a:extLst>
          </p:cNvPr>
          <p:cNvSpPr/>
          <p:nvPr/>
        </p:nvSpPr>
        <p:spPr>
          <a:xfrm>
            <a:off x="711200" y="3556000"/>
            <a:ext cx="3657600" cy="1651000"/>
          </a:xfrm>
          <a:prstGeom prst="rect">
            <a:avLst/>
          </a:prstGeom>
          <a:solidFill>
            <a:srgbClr val="F1F8F4"/>
          </a:solidFill>
          <a:ln w="19050" cap="flat" cmpd="sng" algn="ctr">
            <a:solidFill>
              <a:srgbClr val="42BA9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1D479B-5223-4FDB-9760-F604A5F1E0A7}"/>
              </a:ext>
            </a:extLst>
          </p:cNvPr>
          <p:cNvSpPr txBox="1"/>
          <p:nvPr/>
        </p:nvSpPr>
        <p:spPr>
          <a:xfrm>
            <a:off x="711200" y="3581400"/>
            <a:ext cx="3657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000" b="1">
                <a:solidFill>
                  <a:srgbClr val="42BA97"/>
                </a:solidFill>
              </a:rPr>
              <a:t>STACK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2FE31A-374A-4099-951F-42A060A89852}"/>
              </a:ext>
            </a:extLst>
          </p:cNvPr>
          <p:cNvSpPr/>
          <p:nvPr/>
        </p:nvSpPr>
        <p:spPr>
          <a:xfrm>
            <a:off x="1143000" y="3962400"/>
            <a:ext cx="1270000" cy="762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2BA9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200">
                <a:solidFill>
                  <a:srgbClr val="335B74"/>
                </a:solidFill>
              </a:rPr>
              <a:t>a
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B642CD-AF61-4AA2-B6D9-E8F6F890F055}"/>
              </a:ext>
            </a:extLst>
          </p:cNvPr>
          <p:cNvSpPr/>
          <p:nvPr/>
        </p:nvSpPr>
        <p:spPr>
          <a:xfrm>
            <a:off x="2667000" y="3962400"/>
            <a:ext cx="1270000" cy="762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2BA9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200">
                <a:solidFill>
                  <a:srgbClr val="335B74"/>
                </a:solidFill>
              </a:rPr>
              <a:t>b
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654575-11DC-4754-831A-640276DCBCB1}"/>
              </a:ext>
            </a:extLst>
          </p:cNvPr>
          <p:cNvSpPr txBox="1"/>
          <p:nvPr/>
        </p:nvSpPr>
        <p:spPr>
          <a:xfrm>
            <a:off x="508000" y="5334000"/>
            <a:ext cx="4064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i="1">
                <a:solidFill>
                  <a:srgbClr val="335B74"/>
                </a:solidFill>
              </a:rPr>
              <a:t>Each variable holds its own copy. Changing b never affects a.</a:t>
            </a:r>
            <a:endParaRPr lang="en-IN" sz="1200" i="1">
              <a:solidFill>
                <a:srgbClr val="335B74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FE38D0-B83E-453D-A3FA-A107A164F626}"/>
              </a:ext>
            </a:extLst>
          </p:cNvPr>
          <p:cNvSpPr/>
          <p:nvPr/>
        </p:nvSpPr>
        <p:spPr>
          <a:xfrm>
            <a:off x="4826000" y="2387600"/>
            <a:ext cx="4064000" cy="406400"/>
          </a:xfrm>
          <a:prstGeom prst="rect">
            <a:avLst/>
          </a:prstGeom>
          <a:solidFill>
            <a:srgbClr val="2683C6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REFERENCE TYPES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5FA89C-3E32-4C41-9109-2C1E4594AC83}"/>
              </a:ext>
            </a:extLst>
          </p:cNvPr>
          <p:cNvSpPr txBox="1"/>
          <p:nvPr/>
        </p:nvSpPr>
        <p:spPr>
          <a:xfrm>
            <a:off x="5029200" y="2921000"/>
            <a:ext cx="3683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200">
                <a:solidFill>
                  <a:srgbClr val="335B74"/>
                </a:solidFill>
                <a:latin typeface="Consolas"/>
              </a:rPr>
              <a:t>Person p1 = new Person();
Person p2 = p1;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99BA73-809F-41F9-B9B6-281C75E6EA79}"/>
              </a:ext>
            </a:extLst>
          </p:cNvPr>
          <p:cNvSpPr/>
          <p:nvPr/>
        </p:nvSpPr>
        <p:spPr>
          <a:xfrm>
            <a:off x="5029200" y="3556000"/>
            <a:ext cx="1524000" cy="1651000"/>
          </a:xfrm>
          <a:prstGeom prst="rect">
            <a:avLst/>
          </a:prstGeom>
          <a:solidFill>
            <a:srgbClr val="EAF3FB"/>
          </a:solidFill>
          <a:ln w="19050" cap="flat" cmpd="sng" algn="ctr">
            <a:solidFill>
              <a:srgbClr val="2683C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C434BF-42AA-4B7A-BF82-737F7D757B4E}"/>
              </a:ext>
            </a:extLst>
          </p:cNvPr>
          <p:cNvSpPr txBox="1"/>
          <p:nvPr/>
        </p:nvSpPr>
        <p:spPr>
          <a:xfrm>
            <a:off x="5029200" y="3581400"/>
            <a:ext cx="152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000" b="1">
                <a:solidFill>
                  <a:srgbClr val="2683C6"/>
                </a:solidFill>
              </a:rPr>
              <a:t>STACK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435478-6709-4180-B696-BD4908D8AE9F}"/>
              </a:ext>
            </a:extLst>
          </p:cNvPr>
          <p:cNvSpPr/>
          <p:nvPr/>
        </p:nvSpPr>
        <p:spPr>
          <a:xfrm>
            <a:off x="7112000" y="3556000"/>
            <a:ext cx="1778000" cy="1651000"/>
          </a:xfrm>
          <a:prstGeom prst="rect">
            <a:avLst/>
          </a:prstGeom>
          <a:solidFill>
            <a:srgbClr val="EAF3FB"/>
          </a:solidFill>
          <a:ln w="19050" cap="flat" cmpd="sng" algn="ctr">
            <a:solidFill>
              <a:srgbClr val="2683C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83D85F-C3F4-4427-9926-9BC2F5FE56B3}"/>
              </a:ext>
            </a:extLst>
          </p:cNvPr>
          <p:cNvSpPr txBox="1"/>
          <p:nvPr/>
        </p:nvSpPr>
        <p:spPr>
          <a:xfrm>
            <a:off x="7112000" y="3581400"/>
            <a:ext cx="177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000" b="1">
                <a:solidFill>
                  <a:srgbClr val="2683C6"/>
                </a:solidFill>
              </a:rPr>
              <a:t>HEAP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F603D5-953A-4072-9480-6BC15B3FEA0A}"/>
              </a:ext>
            </a:extLst>
          </p:cNvPr>
          <p:cNvSpPr/>
          <p:nvPr/>
        </p:nvSpPr>
        <p:spPr>
          <a:xfrm>
            <a:off x="5156200" y="3911600"/>
            <a:ext cx="1270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2683C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200">
                <a:solidFill>
                  <a:srgbClr val="335B74"/>
                </a:solidFill>
              </a:rPr>
              <a:t>p1   →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9A56B0-8536-4A4B-BDF0-03B69EC327B9}"/>
              </a:ext>
            </a:extLst>
          </p:cNvPr>
          <p:cNvSpPr/>
          <p:nvPr/>
        </p:nvSpPr>
        <p:spPr>
          <a:xfrm>
            <a:off x="5156200" y="4572000"/>
            <a:ext cx="1270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2683C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200">
                <a:solidFill>
                  <a:srgbClr val="335B74"/>
                </a:solidFill>
              </a:rPr>
              <a:t>p2   →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D7EB9F-6699-4D14-9FF9-B6EC14928464}"/>
              </a:ext>
            </a:extLst>
          </p:cNvPr>
          <p:cNvSpPr/>
          <p:nvPr/>
        </p:nvSpPr>
        <p:spPr>
          <a:xfrm>
            <a:off x="7302500" y="4064000"/>
            <a:ext cx="1397000" cy="889000"/>
          </a:xfrm>
          <a:prstGeom prst="rect">
            <a:avLst/>
          </a:prstGeom>
          <a:solidFill>
            <a:srgbClr val="2683C6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200" b="1">
                <a:solidFill>
                  <a:srgbClr val="FFFFFF"/>
                </a:solidFill>
              </a:rPr>
              <a:t>Person
object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19CEF62F-AE06-4527-98D3-EC42FB978CC1}"/>
              </a:ext>
            </a:extLst>
          </p:cNvPr>
          <p:cNvSpPr/>
          <p:nvPr/>
        </p:nvSpPr>
        <p:spPr>
          <a:xfrm>
            <a:off x="6477000" y="4038600"/>
            <a:ext cx="762000" cy="203200"/>
          </a:xfrm>
          <a:prstGeom prst="rightArrow">
            <a:avLst/>
          </a:prstGeom>
          <a:solidFill>
            <a:srgbClr val="2683C6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F7719C5-C84C-406C-95E5-20038C53839A}"/>
              </a:ext>
            </a:extLst>
          </p:cNvPr>
          <p:cNvSpPr/>
          <p:nvPr/>
        </p:nvSpPr>
        <p:spPr>
          <a:xfrm>
            <a:off x="6477000" y="4699000"/>
            <a:ext cx="762000" cy="203200"/>
          </a:xfrm>
          <a:prstGeom prst="rightArrow">
            <a:avLst/>
          </a:prstGeom>
          <a:solidFill>
            <a:srgbClr val="2683C6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1188CB-51D5-4661-94FB-34D636707021}"/>
              </a:ext>
            </a:extLst>
          </p:cNvPr>
          <p:cNvSpPr txBox="1"/>
          <p:nvPr/>
        </p:nvSpPr>
        <p:spPr>
          <a:xfrm>
            <a:off x="4826000" y="5334000"/>
            <a:ext cx="4064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i="1">
                <a:solidFill>
                  <a:srgbClr val="335B74"/>
                </a:solidFill>
              </a:rPr>
              <a:t>Both variables point to the same object. Changes via p2 are visible through p1.</a:t>
            </a:r>
            <a:endParaRPr lang="en-IN" sz="1200" i="1">
              <a:solidFill>
                <a:srgbClr val="335B74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Operators in C#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Arithmetic</a:t>
            </a:r>
            <a:r>
              <a:rPr lang="en-US" sz="1600" dirty="0"/>
              <a:t>: </a:t>
            </a:r>
            <a:r>
              <a:rPr lang="en-US" sz="1600" i="1" dirty="0"/>
              <a:t>+   -   *   /   %</a:t>
            </a:r>
            <a:r>
              <a:rPr lang="en-US" sz="1600" dirty="0"/>
              <a:t>   (and unary </a:t>
            </a:r>
            <a:r>
              <a:rPr lang="en-US" sz="1600" i="1" dirty="0"/>
              <a:t>++   --</a:t>
            </a:r>
            <a:r>
              <a:rPr lang="en-US" sz="1600" dirty="0"/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Comparison</a:t>
            </a:r>
            <a:r>
              <a:rPr lang="en-US" sz="1600" dirty="0"/>
              <a:t>: </a:t>
            </a:r>
            <a:r>
              <a:rPr lang="en-US" sz="1600" i="1" dirty="0"/>
              <a:t>==   !=   &lt;   &lt;=   &gt;   &gt;=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Logical</a:t>
            </a:r>
            <a:r>
              <a:rPr lang="en-US" sz="1600" dirty="0"/>
              <a:t>: </a:t>
            </a:r>
            <a:r>
              <a:rPr lang="en-US" sz="1600" i="1" dirty="0"/>
              <a:t>&amp;&amp;   ||   !</a:t>
            </a:r>
            <a:r>
              <a:rPr lang="en-US" sz="1600" dirty="0"/>
              <a:t> (short-circuit); bitwise </a:t>
            </a:r>
            <a:r>
              <a:rPr lang="en-US" sz="1600" i="1" dirty="0"/>
              <a:t>&amp;   |   ^   ~   &lt;&lt;   &gt;&gt;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Assignment</a:t>
            </a:r>
            <a:r>
              <a:rPr lang="en-US" sz="1600" dirty="0"/>
              <a:t>: </a:t>
            </a:r>
            <a:r>
              <a:rPr lang="en-US" sz="1600" i="1" dirty="0"/>
              <a:t>=   +=   -=   *=   /=   %=   ??=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Conditional</a:t>
            </a:r>
            <a:r>
              <a:rPr lang="en-US" sz="1600" dirty="0"/>
              <a:t>: ternary </a:t>
            </a:r>
            <a:r>
              <a:rPr lang="en-US" sz="1600" i="1" dirty="0"/>
              <a:t>x ? a : b</a:t>
            </a:r>
            <a:r>
              <a:rPr lang="en-US" sz="1600" dirty="0"/>
              <a:t>; null-coalescing </a:t>
            </a:r>
            <a:r>
              <a:rPr lang="en-US" sz="1600" i="1" dirty="0"/>
              <a:t>a ?? b</a:t>
            </a:r>
            <a:r>
              <a:rPr lang="en-US" sz="1600" dirty="0"/>
              <a:t>; null-conditional </a:t>
            </a:r>
            <a:r>
              <a:rPr lang="en-US" sz="1600" i="1" dirty="0"/>
              <a:t>obj?.Member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Type-test</a:t>
            </a:r>
            <a:r>
              <a:rPr lang="en-US" sz="1600" dirty="0"/>
              <a:t>: </a:t>
            </a:r>
            <a:r>
              <a:rPr lang="en-US" sz="1600" i="1" dirty="0"/>
              <a:t>is</a:t>
            </a:r>
            <a:r>
              <a:rPr lang="en-US" sz="1600" dirty="0"/>
              <a:t>, </a:t>
            </a:r>
            <a:r>
              <a:rPr lang="en-US" sz="1600" i="1" dirty="0"/>
              <a:t>as</a:t>
            </a:r>
            <a:r>
              <a:rPr lang="en-US" sz="1600" dirty="0"/>
              <a:t>, </a:t>
            </a:r>
            <a:r>
              <a:rPr lang="en-US" sz="1600" i="1" dirty="0"/>
              <a:t>typeof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Precedence: arithmetic &gt; comparison &gt; logical; use parentheses when in doubt</a:t>
            </a:r>
          </a:p>
        </p:txBody>
      </p:sp>
    </p:spTree>
    <p:extLst>
      <p:ext uri="{BB962C8B-B14F-4D97-AF65-F5344CB8AC3E}">
        <p14:creationId xmlns:p14="http://schemas.microsoft.com/office/powerpoint/2010/main" val="29194649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dirty="0"/>
              <a:t>Lab 5 - Simple 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Objective: </a:t>
            </a:r>
            <a:r>
              <a:rPr lang="en-US" sz="1600" dirty="0"/>
              <a:t>Build a console calculator that performs +, –, ×, ÷ on two numbers.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Steps:</a:t>
            </a:r>
          </a:p>
          <a:p>
            <a:pPr marL="571500" lvl="1" indent="-285750">
              <a:buFont typeface="Arial"/>
              <a:buChar char="•"/>
            </a:pPr>
            <a:r>
              <a:rPr lang="en-US" sz="1500" dirty="0"/>
              <a:t>Prompt the user for two numbers and an operator (+, -, *, /)</a:t>
            </a:r>
          </a:p>
          <a:p>
            <a:pPr marL="571500" lvl="1" indent="-285750">
              <a:buFont typeface="Arial"/>
              <a:buChar char="•"/>
            </a:pPr>
            <a:r>
              <a:rPr lang="en-US" sz="1500" dirty="0"/>
              <a:t>Parse input with </a:t>
            </a:r>
            <a:r>
              <a:rPr lang="en-US" sz="1500" i="1" dirty="0"/>
              <a:t>double.Parse</a:t>
            </a:r>
            <a:r>
              <a:rPr lang="en-US" sz="1500" dirty="0"/>
              <a:t> or </a:t>
            </a:r>
            <a:r>
              <a:rPr lang="en-US" sz="1500" i="1" dirty="0"/>
              <a:t>Convert.ToDouble</a:t>
            </a:r>
          </a:p>
          <a:p>
            <a:pPr marL="571500" lvl="1" indent="-285750">
              <a:buFont typeface="Arial"/>
              <a:buChar char="•"/>
            </a:pPr>
            <a:r>
              <a:rPr lang="en-US" sz="1500" dirty="0"/>
              <a:t>Use a </a:t>
            </a:r>
            <a:r>
              <a:rPr lang="en-US" sz="1500" i="1" dirty="0"/>
              <a:t>switch</a:t>
            </a:r>
            <a:r>
              <a:rPr lang="en-US" sz="1500" dirty="0"/>
              <a:t> statement on the operator to compute the result</a:t>
            </a:r>
          </a:p>
          <a:p>
            <a:pPr marL="571500" lvl="1" indent="-285750">
              <a:buFont typeface="Arial"/>
              <a:buChar char="•"/>
            </a:pPr>
            <a:r>
              <a:rPr lang="en-US" sz="1500" dirty="0"/>
              <a:t>Guard against divide-by-zero with an </a:t>
            </a:r>
            <a:r>
              <a:rPr lang="en-US" sz="1500" i="1" dirty="0"/>
              <a:t>if</a:t>
            </a:r>
            <a:r>
              <a:rPr lang="en-US" sz="1500" dirty="0"/>
              <a:t> check before dividing</a:t>
            </a:r>
          </a:p>
          <a:p>
            <a:pPr marL="571500" lvl="1" indent="-285750">
              <a:buFont typeface="Arial"/>
              <a:buChar char="•"/>
            </a:pPr>
            <a:r>
              <a:rPr lang="en-US" sz="1500" dirty="0"/>
              <a:t>Print the result formatted to 2 decimal places: </a:t>
            </a:r>
            <a:r>
              <a:rPr lang="en-US" sz="1500" i="1" dirty="0"/>
              <a:t>{result:F2}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Expected: </a:t>
            </a:r>
            <a:r>
              <a:rPr lang="en-US" sz="1600" i="1" dirty="0"/>
              <a:t>10 / 3 → 3.33</a:t>
            </a:r>
            <a:r>
              <a:rPr lang="en-US" sz="1600" dirty="0"/>
              <a:t>;  </a:t>
            </a:r>
            <a:r>
              <a:rPr lang="en-US" sz="1600" i="1" dirty="0"/>
              <a:t>5 / 0 → "Cannot divide by zero"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Time: </a:t>
            </a:r>
            <a:r>
              <a:rPr lang="en-US" sz="1600" dirty="0"/>
              <a:t>15 min</a:t>
            </a:r>
          </a:p>
        </p:txBody>
      </p:sp>
    </p:spTree>
    <p:extLst>
      <p:ext uri="{BB962C8B-B14F-4D97-AF65-F5344CB8AC3E}">
        <p14:creationId xmlns:p14="http://schemas.microsoft.com/office/powerpoint/2010/main" val="31041539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Flow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if / else if / else</a:t>
            </a:r>
            <a:r>
              <a:rPr lang="en-US" sz="1600" dirty="0"/>
              <a:t> – branch on a Boolean condition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switch statement</a:t>
            </a:r>
            <a:r>
              <a:rPr lang="en-US" sz="1600" dirty="0"/>
              <a:t>: multi-way branch with </a:t>
            </a:r>
            <a:r>
              <a:rPr lang="en-US" sz="1600" i="1" dirty="0"/>
              <a:t>case</a:t>
            </a:r>
            <a:r>
              <a:rPr lang="en-US" sz="1600" dirty="0"/>
              <a:t> labels, </a:t>
            </a:r>
            <a:r>
              <a:rPr lang="en-US" sz="1600" i="1" dirty="0"/>
              <a:t>default</a:t>
            </a:r>
            <a:r>
              <a:rPr lang="en-US" sz="1600" dirty="0"/>
              <a:t>, and </a:t>
            </a:r>
            <a:r>
              <a:rPr lang="en-US" sz="1600" i="1" dirty="0"/>
              <a:t>break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switch expression</a:t>
            </a:r>
            <a:r>
              <a:rPr lang="en-US" sz="1600" dirty="0"/>
              <a:t> (C# 8+): expression-based pattern matching that returns a value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for</a:t>
            </a:r>
            <a:r>
              <a:rPr lang="en-US" sz="1600" dirty="0"/>
              <a:t> – counted loop: </a:t>
            </a:r>
            <a:r>
              <a:rPr lang="en-US" sz="1600" i="1" dirty="0"/>
              <a:t>for (int i = 0; i &lt; n; i++)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foreach</a:t>
            </a:r>
            <a:r>
              <a:rPr lang="en-US" sz="1600" dirty="0"/>
              <a:t> – iterate any </a:t>
            </a:r>
            <a:r>
              <a:rPr lang="en-US" sz="1600" i="1" dirty="0"/>
              <a:t>IEnumerable</a:t>
            </a:r>
            <a:r>
              <a:rPr lang="en-US" sz="1600" dirty="0"/>
              <a:t> (arrays, lists, dictionaries, strings, …)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while / do-while</a:t>
            </a:r>
            <a:r>
              <a:rPr lang="en-US" sz="1600" dirty="0"/>
              <a:t> – condition-driven loops; </a:t>
            </a:r>
            <a:r>
              <a:rPr lang="en-US" sz="1600" i="1" dirty="0"/>
              <a:t>do</a:t>
            </a:r>
            <a:r>
              <a:rPr lang="en-US" sz="1600" dirty="0"/>
              <a:t> runs at least once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Jumps</a:t>
            </a:r>
            <a:r>
              <a:rPr lang="en-US" sz="1600" dirty="0"/>
              <a:t>: </a:t>
            </a:r>
            <a:r>
              <a:rPr lang="en-US" sz="1600" i="1" dirty="0"/>
              <a:t>break</a:t>
            </a:r>
            <a:r>
              <a:rPr lang="en-US" sz="1600" dirty="0"/>
              <a:t>, </a:t>
            </a:r>
            <a:r>
              <a:rPr lang="en-US" sz="1600" i="1" dirty="0"/>
              <a:t>continue</a:t>
            </a:r>
            <a:r>
              <a:rPr lang="en-US" sz="1600" dirty="0"/>
              <a:t>, </a:t>
            </a:r>
            <a:r>
              <a:rPr lang="en-US" sz="1600" i="1" dirty="0"/>
              <a:t>return</a:t>
            </a:r>
            <a:r>
              <a:rPr lang="en-US" sz="1600" dirty="0"/>
              <a:t>, </a:t>
            </a:r>
            <a:r>
              <a:rPr lang="en-US" sz="1600" i="1" dirty="0"/>
              <a:t>goto</a:t>
            </a:r>
            <a:r>
              <a:rPr lang="en-US" sz="1600" dirty="0"/>
              <a:t> (rare)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Exceptions</a:t>
            </a:r>
            <a:r>
              <a:rPr lang="en-US" sz="1600" dirty="0"/>
              <a:t>: </a:t>
            </a:r>
            <a:r>
              <a:rPr lang="en-US" sz="1600" i="1" dirty="0"/>
              <a:t>try / catch / finally / throw</a:t>
            </a:r>
          </a:p>
        </p:txBody>
      </p:sp>
    </p:spTree>
    <p:extLst>
      <p:ext uri="{BB962C8B-B14F-4D97-AF65-F5344CB8AC3E}">
        <p14:creationId xmlns:p14="http://schemas.microsoft.com/office/powerpoint/2010/main" val="28974230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Implicit conversion</a:t>
            </a:r>
            <a:r>
              <a:rPr lang="en-US" sz="1600" dirty="0"/>
              <a:t>: safe widening, done automatically – </a:t>
            </a:r>
            <a:r>
              <a:rPr lang="en-US" sz="1600" i="1" dirty="0"/>
              <a:t>int → long, float → double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Explicit cast</a:t>
            </a:r>
            <a:r>
              <a:rPr lang="en-US" sz="1600" dirty="0"/>
              <a:t>: required when data may be lost – </a:t>
            </a:r>
            <a:r>
              <a:rPr lang="en-US" sz="1600" i="1" dirty="0"/>
              <a:t>int i = (int)3.7;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Parse methods</a:t>
            </a:r>
            <a:r>
              <a:rPr lang="en-US" sz="1600" dirty="0"/>
              <a:t>: </a:t>
            </a:r>
            <a:r>
              <a:rPr lang="en-US" sz="1600" i="1" dirty="0"/>
              <a:t>int.Parse("42")</a:t>
            </a:r>
            <a:r>
              <a:rPr lang="en-US" sz="1600" dirty="0"/>
              <a:t> – throws on failure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TryParse</a:t>
            </a:r>
            <a:r>
              <a:rPr lang="en-US" sz="1600" dirty="0"/>
              <a:t>: </a:t>
            </a:r>
            <a:r>
              <a:rPr lang="en-US" sz="1600" i="1" dirty="0"/>
              <a:t>int.TryParse(s, out var n)</a:t>
            </a:r>
            <a:r>
              <a:rPr lang="en-US" sz="1600" dirty="0"/>
              <a:t> – safe, returns bool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Convert class</a:t>
            </a:r>
            <a:r>
              <a:rPr lang="en-US" sz="1600" dirty="0"/>
              <a:t>: </a:t>
            </a:r>
            <a:r>
              <a:rPr lang="en-US" sz="1600" i="1" dirty="0"/>
              <a:t>Convert.ToInt32, Convert.ToDouble</a:t>
            </a:r>
            <a:r>
              <a:rPr lang="en-US" sz="1600" dirty="0"/>
              <a:t> – handles null and base types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ToString</a:t>
            </a:r>
            <a:r>
              <a:rPr lang="en-US" sz="1600" dirty="0"/>
              <a:t>: every type can format itself as text, often with a format string – </a:t>
            </a:r>
            <a:r>
              <a:rPr lang="en-US" sz="1600" i="1" dirty="0"/>
              <a:t>price.ToString("C")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Boxing / unboxing</a:t>
            </a:r>
            <a:r>
              <a:rPr lang="en-US" sz="1600" dirty="0"/>
              <a:t>: wrapping a value type in </a:t>
            </a:r>
            <a:r>
              <a:rPr lang="en-US" sz="1600" i="1" dirty="0"/>
              <a:t>object</a:t>
            </a:r>
            <a:r>
              <a:rPr lang="en-US" sz="1600" dirty="0"/>
              <a:t> – has a performance cost, prefer generics</a:t>
            </a:r>
          </a:p>
        </p:txBody>
      </p:sp>
    </p:spTree>
    <p:extLst>
      <p:ext uri="{BB962C8B-B14F-4D97-AF65-F5344CB8AC3E}">
        <p14:creationId xmlns:p14="http://schemas.microsoft.com/office/powerpoint/2010/main" val="4392788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Complex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Arrays</a:t>
            </a:r>
            <a:r>
              <a:rPr lang="en-US" sz="1600" dirty="0"/>
              <a:t>: fixed-size, zero-indexed – </a:t>
            </a:r>
            <a:r>
              <a:rPr lang="en-US" sz="1600" i="1" dirty="0"/>
              <a:t>int[] nums = new[] {1, 2, 3};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List&lt;T&gt;</a:t>
            </a:r>
            <a:r>
              <a:rPr lang="en-US" sz="1600" dirty="0"/>
              <a:t>: dynamic, generic, ordered collection – Add, Remove, indexer access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Dictionary&lt;K,V&gt;</a:t>
            </a:r>
            <a:r>
              <a:rPr lang="en-US" sz="1600" dirty="0"/>
              <a:t>: key/value map with O(1) lookup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HashSet&lt;T&gt;, Queue&lt;T&gt;, Stack&lt;T&gt;</a:t>
            </a:r>
            <a:r>
              <a:rPr lang="en-US" sz="1600" dirty="0"/>
              <a:t>: specialised collections for unique items, FIFO, LIFO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Tuples</a:t>
            </a:r>
            <a:r>
              <a:rPr lang="en-US" sz="1600" dirty="0"/>
              <a:t>: lightweight grouping – </a:t>
            </a:r>
            <a:r>
              <a:rPr lang="en-US" sz="1600" i="1" dirty="0"/>
              <a:t>(string name, int age) p = ("Ada", 36);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Class</a:t>
            </a:r>
            <a:r>
              <a:rPr lang="en-US" sz="1600" dirty="0"/>
              <a:t>: reference type with fields, properties, methods, events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Struct</a:t>
            </a:r>
            <a:r>
              <a:rPr lang="en-US" sz="1600" dirty="0"/>
              <a:t>: small, immutable-by-convention value type (e.g. </a:t>
            </a:r>
            <a:r>
              <a:rPr lang="en-US" sz="1600" i="1" dirty="0"/>
              <a:t>Point</a:t>
            </a:r>
            <a:r>
              <a:rPr lang="en-US" sz="1600" dirty="0"/>
              <a:t>, </a:t>
            </a:r>
            <a:r>
              <a:rPr lang="en-US" sz="1600" i="1" dirty="0"/>
              <a:t>DateTime</a:t>
            </a:r>
            <a:r>
              <a:rPr lang="en-US" sz="1600" dirty="0"/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Enum</a:t>
            </a:r>
            <a:r>
              <a:rPr lang="en-US" sz="1600" dirty="0"/>
              <a:t>: named integer constants – </a:t>
            </a:r>
            <a:r>
              <a:rPr lang="en-US" sz="1600" i="1" dirty="0"/>
              <a:t>enum Status { Active, Closed }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Record</a:t>
            </a:r>
            <a:r>
              <a:rPr lang="en-US" sz="1600" dirty="0"/>
              <a:t> (C# 9+): immutable reference type with built-in value equality</a:t>
            </a:r>
          </a:p>
        </p:txBody>
      </p:sp>
    </p:spTree>
    <p:extLst>
      <p:ext uri="{BB962C8B-B14F-4D97-AF65-F5344CB8AC3E}">
        <p14:creationId xmlns:p14="http://schemas.microsoft.com/office/powerpoint/2010/main" val="8167462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Functions in C#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dirty="0"/>
              <a:t>Methods in C# are called </a:t>
            </a:r>
            <a:r>
              <a:rPr lang="en-US" sz="1600" b="1" dirty="0"/>
              <a:t>functions</a:t>
            </a:r>
            <a:r>
              <a:rPr lang="en-US" sz="1600" dirty="0"/>
              <a:t> – named, reusable blocks of code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Signature</a:t>
            </a:r>
            <a:r>
              <a:rPr lang="en-US" sz="1600" dirty="0"/>
              <a:t>: </a:t>
            </a:r>
            <a:r>
              <a:rPr lang="en-US" sz="1600" i="1" dirty="0"/>
              <a:t>[modifiers] returnType Name(parameters)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Parameters</a:t>
            </a:r>
            <a:r>
              <a:rPr lang="en-US" sz="1600" dirty="0"/>
              <a:t>: by value (default), </a:t>
            </a:r>
            <a:r>
              <a:rPr lang="en-US" sz="1600" i="1" dirty="0"/>
              <a:t>ref</a:t>
            </a:r>
            <a:r>
              <a:rPr lang="en-US" sz="1600" dirty="0"/>
              <a:t> (in/out), </a:t>
            </a:r>
            <a:r>
              <a:rPr lang="en-US" sz="1600" i="1" dirty="0"/>
              <a:t>out</a:t>
            </a:r>
            <a:r>
              <a:rPr lang="en-US" sz="1600" dirty="0"/>
              <a:t> (output), </a:t>
            </a:r>
            <a:r>
              <a:rPr lang="en-US" sz="1600" i="1" dirty="0"/>
              <a:t>in</a:t>
            </a:r>
            <a:r>
              <a:rPr lang="en-US" sz="1600" dirty="0"/>
              <a:t> (read-only), </a:t>
            </a:r>
            <a:r>
              <a:rPr lang="en-US" sz="1600" i="1" dirty="0"/>
              <a:t>params</a:t>
            </a:r>
            <a:r>
              <a:rPr lang="en-US" sz="1600" dirty="0"/>
              <a:t> (variable arity)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Optional &amp; named arguments</a:t>
            </a:r>
            <a:r>
              <a:rPr lang="en-US" sz="1600" dirty="0"/>
              <a:t>: defaults at the call site, e.g. </a:t>
            </a:r>
            <a:r>
              <a:rPr lang="en-US" sz="1600" i="1" dirty="0"/>
              <a:t>Greet(name: "Ada", times: 3);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Overloading</a:t>
            </a:r>
            <a:r>
              <a:rPr lang="en-US" sz="1600" dirty="0"/>
              <a:t>: multiple methods with the same name but different parameter lists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Expression-bodied methods</a:t>
            </a:r>
            <a:r>
              <a:rPr lang="en-US" sz="1600" dirty="0"/>
              <a:t>: </a:t>
            </a:r>
            <a:r>
              <a:rPr lang="en-US" sz="1600" i="1" dirty="0"/>
              <a:t>int Square(int x) =&gt; x * x;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Local functions</a:t>
            </a:r>
            <a:r>
              <a:rPr lang="en-US" sz="1600" dirty="0"/>
              <a:t>: declared inside a method for private helpers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Static vs instance</a:t>
            </a:r>
            <a:r>
              <a:rPr lang="en-US" sz="1600" dirty="0"/>
              <a:t>: static methods belong to the type; instance methods need an object</a:t>
            </a:r>
          </a:p>
        </p:txBody>
      </p:sp>
    </p:spTree>
    <p:extLst>
      <p:ext uri="{BB962C8B-B14F-4D97-AF65-F5344CB8AC3E}">
        <p14:creationId xmlns:p14="http://schemas.microsoft.com/office/powerpoint/2010/main" val="9678494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dirty="0"/>
              <a:t>Lab </a:t>
            </a:r>
            <a:r>
              <a:rPr lang="en-US"/>
              <a:t>6 - </a:t>
            </a:r>
            <a:r>
              <a:rPr lang="en-US" dirty="0"/>
              <a:t>Refactor with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Objective: </a:t>
            </a:r>
            <a:r>
              <a:rPr lang="en-US" sz="1600" dirty="0"/>
              <a:t>Refactor the calculator into reusable methods that take parameters and return values.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Steps:</a:t>
            </a:r>
          </a:p>
          <a:p>
            <a:pPr marL="571500" lvl="1" indent="-285750">
              <a:buFont typeface="Arial"/>
              <a:buChar char="•"/>
            </a:pPr>
            <a:r>
              <a:rPr lang="en-US" sz="1500" dirty="0"/>
              <a:t>Create static methods </a:t>
            </a:r>
            <a:r>
              <a:rPr lang="en-US" sz="1500" i="1" dirty="0"/>
              <a:t>Add, Subtract, Multiply, Divide</a:t>
            </a:r>
            <a:r>
              <a:rPr lang="en-US" sz="1500" dirty="0"/>
              <a:t> that take two </a:t>
            </a:r>
            <a:r>
              <a:rPr lang="en-US" sz="1500" i="1" dirty="0"/>
              <a:t>double</a:t>
            </a:r>
            <a:r>
              <a:rPr lang="en-US" sz="1500" dirty="0"/>
              <a:t> values and return a </a:t>
            </a:r>
            <a:r>
              <a:rPr lang="en-US" sz="1500" i="1" dirty="0"/>
              <a:t>double</a:t>
            </a:r>
          </a:p>
          <a:p>
            <a:pPr marL="571500" lvl="1" indent="-285750">
              <a:buFont typeface="Arial"/>
              <a:buChar char="•"/>
            </a:pPr>
            <a:r>
              <a:rPr lang="en-US" sz="1500" dirty="0"/>
              <a:t>Move the switch logic into a </a:t>
            </a:r>
            <a:r>
              <a:rPr lang="en-US" sz="1500" i="1" dirty="0"/>
              <a:t>Calculate(op, a, b)</a:t>
            </a:r>
            <a:r>
              <a:rPr lang="en-US" sz="1500" dirty="0"/>
              <a:t> method</a:t>
            </a:r>
          </a:p>
          <a:p>
            <a:pPr marL="571500" lvl="1" indent="-285750">
              <a:buFont typeface="Arial"/>
              <a:buChar char="•"/>
            </a:pPr>
            <a:r>
              <a:rPr lang="en-US" sz="1500" dirty="0"/>
              <a:t>Add input parsing in a </a:t>
            </a:r>
            <a:r>
              <a:rPr lang="en-US" sz="1500" i="1" dirty="0"/>
              <a:t>ReadNumber(prompt)</a:t>
            </a:r>
            <a:r>
              <a:rPr lang="en-US" sz="1500" dirty="0"/>
              <a:t> helper using </a:t>
            </a:r>
            <a:r>
              <a:rPr lang="en-US" sz="1500" i="1" dirty="0"/>
              <a:t>double.TryParse</a:t>
            </a:r>
          </a:p>
          <a:p>
            <a:pPr marL="571500" lvl="1" indent="-285750">
              <a:buFont typeface="Arial"/>
              <a:buChar char="•"/>
            </a:pPr>
            <a:r>
              <a:rPr lang="en-US" sz="1500" dirty="0"/>
              <a:t>Wrap the whole flow in a do-while loop so the user can run multiple calculations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Bonus: </a:t>
            </a:r>
            <a:r>
              <a:rPr lang="en-US" sz="1600" dirty="0"/>
              <a:t>Use method overloading — add an </a:t>
            </a:r>
            <a:r>
              <a:rPr lang="en-US" sz="1600" i="1" dirty="0"/>
              <a:t>Add(int, int)</a:t>
            </a:r>
            <a:r>
              <a:rPr lang="en-US" sz="1600" dirty="0"/>
              <a:t> alongside the double version.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Time: </a:t>
            </a:r>
            <a:r>
              <a:rPr lang="en-US" sz="1600" dirty="0"/>
              <a:t>15 min</a:t>
            </a:r>
          </a:p>
        </p:txBody>
      </p:sp>
    </p:spTree>
    <p:extLst>
      <p:ext uri="{BB962C8B-B14F-4D97-AF65-F5344CB8AC3E}">
        <p14:creationId xmlns:p14="http://schemas.microsoft.com/office/powerpoint/2010/main" val="15985274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750A3D1-9B9A-49F2-A6E1-B6AB4816EF0A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6cc1610-17d6-4251-b898-1ad37ceaeda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34</TotalTime>
  <Words>3510</Words>
  <Application>Microsoft Office PowerPoint</Application>
  <PresentationFormat>On-screen Show (4:3)</PresentationFormat>
  <Paragraphs>311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Consolas</vt:lpstr>
      <vt:lpstr>Tw Cen MT</vt:lpstr>
      <vt:lpstr>Tw Cen MT Condensed</vt:lpstr>
      <vt:lpstr>Wingdings 3</vt:lpstr>
      <vt:lpstr>Integral</vt:lpstr>
      <vt:lpstr>C# and .NET Fundamentals</vt:lpstr>
      <vt:lpstr>What is .NET?</vt:lpstr>
      <vt:lpstr>.NET Core / .NET Overview</vt:lpstr>
      <vt:lpstr>.NET Core Chronology</vt:lpstr>
      <vt:lpstr>.NET Core Architecture</vt:lpstr>
      <vt:lpstr>.NET Libraries</vt:lpstr>
      <vt:lpstr>.NET Runtime</vt:lpstr>
      <vt:lpstr>ASP.NET Core Runtime</vt:lpstr>
      <vt:lpstr>Just-In-Time (JIT) Compiler</vt:lpstr>
      <vt:lpstr>Common Type System (CTS)</vt:lpstr>
      <vt:lpstr>Common Language Specification (CLS)</vt:lpstr>
      <vt:lpstr>Lab 1 - Verify Your .NET Setup</vt:lpstr>
      <vt:lpstr>Benefits of .NET</vt:lpstr>
      <vt:lpstr>Assemblies</vt:lpstr>
      <vt:lpstr>MSIL / CIL</vt:lpstr>
      <vt:lpstr>Lab 2 - Inspect an Assembly</vt:lpstr>
      <vt:lpstr>Introduction to C#</vt:lpstr>
      <vt:lpstr>History of C#</vt:lpstr>
      <vt:lpstr>Features of C#</vt:lpstr>
      <vt:lpstr>Basic C# Syntax</vt:lpstr>
      <vt:lpstr>Console Application Structure</vt:lpstr>
      <vt:lpstr>Main Method</vt:lpstr>
      <vt:lpstr>Lab 3 - Your First Console App</vt:lpstr>
      <vt:lpstr>Namespaces and Using Directive</vt:lpstr>
      <vt:lpstr>Console Input and Output</vt:lpstr>
      <vt:lpstr>Lab 4 - Interactive Greeting App</vt:lpstr>
      <vt:lpstr>Variables and Data Types</vt:lpstr>
      <vt:lpstr>Value Types vs Reference Types</vt:lpstr>
      <vt:lpstr>Operators in C#</vt:lpstr>
      <vt:lpstr>Lab 5 - Simple Calculator</vt:lpstr>
      <vt:lpstr>Control Flow Statements</vt:lpstr>
      <vt:lpstr>Type Conversion</vt:lpstr>
      <vt:lpstr>Complex Types</vt:lpstr>
      <vt:lpstr>Functions in C#</vt:lpstr>
      <vt:lpstr>Lab 6 - Refactor with Functions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9</cp:revision>
  <dcterms:created xsi:type="dcterms:W3CDTF">2013-01-27T09:14:16Z</dcterms:created>
  <dcterms:modified xsi:type="dcterms:W3CDTF">2026-05-20T17:32:35Z</dcterms:modified>
  <cp:category/>
</cp:coreProperties>
</file>