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64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340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78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325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316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724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35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165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785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4554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687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0990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390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Module 9: Errors &amp; Exception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• Errors vs Exceptions</a:t>
            </a:r>
          </a:p>
          <a:p>
            <a:r>
              <a:t>• System.Exception</a:t>
            </a:r>
          </a:p>
          <a:p>
            <a:r>
              <a:t>• Try-Catch-Finally</a:t>
            </a:r>
          </a:p>
          <a:p>
            <a:r>
              <a:t>• Custom Exceptions</a:t>
            </a:r>
          </a:p>
          <a:p>
            <a:r>
              <a:t>• Hands-on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 sz="3700">
                <a:solidFill>
                  <a:srgbClr val="FFFFFF"/>
                </a:solidFill>
              </a:rPr>
              <a:t>Introduction to Errors &amp; Exceptions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Errors: Compile-time issues</a:t>
            </a:r>
          </a:p>
          <a:p>
            <a:r>
              <a:t>Exceptions: Runtime issues</a:t>
            </a:r>
          </a:p>
          <a:p>
            <a:r>
              <a:t>Examples: DivideByZero, NullReference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 sz="2800">
                <a:solidFill>
                  <a:srgbClr val="FFFFFF"/>
                </a:solidFill>
              </a:rPr>
              <a:t>System.Exception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Base class for all exceptions</a:t>
            </a:r>
          </a:p>
          <a:p>
            <a:r>
              <a:t>Common properties:</a:t>
            </a:r>
          </a:p>
          <a:p>
            <a:r>
              <a:t>• Message</a:t>
            </a:r>
          </a:p>
          <a:p>
            <a:r>
              <a:t>• StackTrace</a:t>
            </a:r>
          </a:p>
          <a:p>
            <a:r>
              <a:t>• InnerException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>
                <a:solidFill>
                  <a:srgbClr val="FFFFFF"/>
                </a:solidFill>
              </a:rPr>
              <a:t>Exception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Common exceptions:</a:t>
            </a:r>
          </a:p>
          <a:p>
            <a:r>
              <a:t>• NullReferenceException</a:t>
            </a:r>
          </a:p>
          <a:p>
            <a:r>
              <a:t>• IndexOutOfRangeException</a:t>
            </a:r>
          </a:p>
          <a:p>
            <a:r>
              <a:t>• DivideByZeroException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>
                <a:solidFill>
                  <a:srgbClr val="FFFFFF"/>
                </a:solidFill>
              </a:rPr>
              <a:t>Try-Catch-Finally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try { risky code }</a:t>
            </a:r>
          </a:p>
          <a:p>
            <a:r>
              <a:t>catch { handle }</a:t>
            </a:r>
          </a:p>
          <a:p>
            <a:r>
              <a:t>finally { cleanup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>
                <a:solidFill>
                  <a:srgbClr val="FFFFFF"/>
                </a:solidFill>
              </a:rPr>
              <a:t>Multiple Catch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catch(DivideByZeroException)</a:t>
            </a:r>
          </a:p>
          <a:p>
            <a:r>
              <a:t>catch(Exception)</a:t>
            </a:r>
          </a:p>
          <a:p>
            <a:r>
              <a:t>Order matters (specific → general)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>
                <a:solidFill>
                  <a:srgbClr val="FFFFFF"/>
                </a:solidFill>
              </a:rPr>
              <a:t>Throw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Used to throw exception manually</a:t>
            </a:r>
          </a:p>
          <a:p>
            <a:r>
              <a:t>Example:</a:t>
            </a:r>
          </a:p>
          <a:p>
            <a:r>
              <a:t>throw new Exception("Error occurred")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>
                <a:solidFill>
                  <a:srgbClr val="FFFFFF"/>
                </a:solidFill>
              </a:rPr>
              <a:t>User-Defined Exception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Create custom exception by inheriting Exception class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>
                <a:solidFill>
                  <a:srgbClr val="FFFFFF"/>
                </a:solidFill>
              </a:rPr>
              <a:t>Hands-On Lab (Module 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• Handle divide by zero</a:t>
            </a:r>
          </a:p>
          <a:p>
            <a:r>
              <a:t>• Implement custom exception</a:t>
            </a:r>
          </a:p>
          <a:p>
            <a:r>
              <a:t>• Use multiple catch blocks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>
                <a:solidFill>
                  <a:srgbClr val="FFFFFF"/>
                </a:solidFill>
              </a:rPr>
              <a:t>Module 10: Generics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• Introduction</a:t>
            </a:r>
          </a:p>
          <a:p>
            <a:r>
              <a:t>• Benefits</a:t>
            </a:r>
          </a:p>
          <a:p>
            <a:r>
              <a:t>• Generic Types</a:t>
            </a:r>
          </a:p>
          <a:p>
            <a:r>
              <a:t>• Constraints</a:t>
            </a:r>
          </a:p>
          <a:p>
            <a:r>
              <a:t>• Hands-on Lab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 sz="3700">
                <a:solidFill>
                  <a:srgbClr val="FFFFFF"/>
                </a:solidFill>
              </a:rPr>
              <a:t>Introduction to Generics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Allow type-safe data structures</a:t>
            </a:r>
          </a:p>
          <a:p>
            <a:r>
              <a:t>Example: List&lt;int&gt;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>
                <a:solidFill>
                  <a:srgbClr val="FFFFFF"/>
                </a:solidFill>
              </a:rPr>
              <a:t>Benefits of Generics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• Type safety</a:t>
            </a:r>
          </a:p>
          <a:p>
            <a:r>
              <a:t>• Performance</a:t>
            </a:r>
          </a:p>
          <a:p>
            <a:r>
              <a:t>• Code reusability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>
                <a:solidFill>
                  <a:srgbClr val="FFFFFF"/>
                </a:solidFill>
              </a:rPr>
              <a:t>Generic Type Parameter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Defined using &lt;T&gt;</a:t>
            </a:r>
          </a:p>
          <a:p>
            <a:r>
              <a:t>Example: class Box&lt;T&gt;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>
                <a:solidFill>
                  <a:srgbClr val="FFFFFF"/>
                </a:solidFill>
              </a:rPr>
              <a:t>Using Generics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List&lt;int&gt;, Dictionary&lt;string,int&gt;</a:t>
            </a:r>
          </a:p>
          <a:p>
            <a:r>
              <a:t>Avoid boxing/unboxing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>
                <a:solidFill>
                  <a:srgbClr val="FFFFFF"/>
                </a:solidFill>
              </a:rPr>
              <a:t>Nullable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Nullable&lt;T&gt; or int?</a:t>
            </a:r>
          </a:p>
          <a:p>
            <a:r>
              <a:t>Used for value types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>
                <a:solidFill>
                  <a:srgbClr val="FFFFFF"/>
                </a:solidFill>
              </a:rPr>
              <a:t>Generic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class Box&lt;T&gt; { public T Value; 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>
                <a:solidFill>
                  <a:srgbClr val="FFFFFF"/>
                </a:solidFill>
              </a:rPr>
              <a:t>Generic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interface IRepository&lt;T&gt;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>
                <a:solidFill>
                  <a:srgbClr val="FFFFFF"/>
                </a:solidFill>
              </a:rPr>
              <a:t>Generic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public T GetData&lt;T&gt;(T input)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>
                <a:solidFill>
                  <a:srgbClr val="FFFFFF"/>
                </a:solidFill>
              </a:rPr>
              <a:t>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where T : class</a:t>
            </a:r>
          </a:p>
          <a:p>
            <a:r>
              <a:t>where T : new()</a:t>
            </a:r>
          </a:p>
          <a:p>
            <a:r>
              <a:t>where T : struct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>
                <a:solidFill>
                  <a:srgbClr val="FFFFFF"/>
                </a:solidFill>
              </a:rPr>
              <a:t>Hands-On Lab (Module 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• Create generic class</a:t>
            </a:r>
          </a:p>
          <a:p>
            <a:r>
              <a:t>• Implement generic method</a:t>
            </a:r>
          </a:p>
          <a:p>
            <a:r>
              <a:t>• Apply constraints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>
                <a:solidFill>
                  <a:srgbClr val="FFFFFF"/>
                </a:solidFill>
              </a:rPr>
              <a:t>Module 11: Generic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• Collections Overview</a:t>
            </a:r>
          </a:p>
          <a:p>
            <a:r>
              <a:t>• Interfaces</a:t>
            </a:r>
          </a:p>
          <a:p>
            <a:r>
              <a:t>• Classes</a:t>
            </a:r>
          </a:p>
          <a:p>
            <a:r>
              <a:t>• Hands-on Lab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>
                <a:solidFill>
                  <a:srgbClr val="FFFFFF"/>
                </a:solidFill>
              </a:rPr>
              <a:t>Generic Collections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Part of System.Collections.Generic</a:t>
            </a:r>
          </a:p>
          <a:p>
            <a:r>
              <a:t>Type-safe collections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>
                <a:solidFill>
                  <a:srgbClr val="FFFFFF"/>
                </a:solidFill>
              </a:rPr>
              <a:t>Collection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• IEnumerable&lt;T&gt;</a:t>
            </a:r>
          </a:p>
          <a:p>
            <a:r>
              <a:t>• ICollection&lt;T&gt;</a:t>
            </a:r>
          </a:p>
          <a:p>
            <a:r>
              <a:t>• IEnumerator&lt;T&gt;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>
                <a:solidFill>
                  <a:srgbClr val="FFFFFF"/>
                </a:solidFill>
              </a:rPr>
              <a:t>List&lt;T&gt;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Dynamic array</a:t>
            </a:r>
          </a:p>
          <a:p>
            <a:r>
              <a:t>Fast access</a:t>
            </a:r>
          </a:p>
          <a:p>
            <a:r>
              <a:t>Example: List&lt;int&gt;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>
                <a:solidFill>
                  <a:srgbClr val="FFFFFF"/>
                </a:solidFill>
              </a:rPr>
              <a:t>Queue&lt;T&gt;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FIFO structure</a:t>
            </a:r>
          </a:p>
          <a:p>
            <a:r>
              <a:t>Enqueue / Dequeue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>
                <a:solidFill>
                  <a:srgbClr val="FFFFFF"/>
                </a:solidFill>
              </a:rPr>
              <a:t>Stack&lt;T&gt;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LIFO structure</a:t>
            </a:r>
          </a:p>
          <a:p>
            <a:r>
              <a:t>Push / Pop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 sz="2800">
                <a:solidFill>
                  <a:srgbClr val="FFFFFF"/>
                </a:solidFill>
              </a:rPr>
              <a:t>Dictionary&lt;TKey, TValue&gt;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Key-value pair collection</a:t>
            </a:r>
          </a:p>
          <a:p>
            <a:r>
              <a:t>Fast lookup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>
                <a:solidFill>
                  <a:srgbClr val="FFFFFF"/>
                </a:solidFill>
              </a:rPr>
              <a:t>SortedList &amp; SortedSet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SortedList: key-value sorted</a:t>
            </a:r>
          </a:p>
          <a:p>
            <a:r>
              <a:t>SortedSet: unique sorted values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 sz="3400">
                <a:solidFill>
                  <a:srgbClr val="FFFFFF"/>
                </a:solidFill>
              </a:rPr>
              <a:t>LinkedList&lt;T&gt;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Doubly linked list</a:t>
            </a:r>
          </a:p>
          <a:p>
            <a:r>
              <a:t>Efficient insert/delete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>
                <a:solidFill>
                  <a:srgbClr val="FFFFFF"/>
                </a:solidFill>
              </a:rPr>
              <a:t>Hands-On Lab (Module 11)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• Use List, Stack, Queue</a:t>
            </a:r>
          </a:p>
          <a:p>
            <a:r>
              <a:t>• Implement Dictionary</a:t>
            </a:r>
          </a:p>
          <a:p>
            <a:r>
              <a:t>• Iterate collections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7</TotalTime>
  <Words>422</Words>
  <Application>Microsoft Office PowerPoint</Application>
  <PresentationFormat>On-screen Show (4:3)</PresentationFormat>
  <Paragraphs>110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Tw Cen MT</vt:lpstr>
      <vt:lpstr>Tw Cen MT Condensed</vt:lpstr>
      <vt:lpstr>Wingdings 3</vt:lpstr>
      <vt:lpstr>Integral</vt:lpstr>
      <vt:lpstr>Module 9: Errors &amp; Exception Handling</vt:lpstr>
      <vt:lpstr>Introduction to Errors &amp; Exceptions</vt:lpstr>
      <vt:lpstr>System.Exception Class</vt:lpstr>
      <vt:lpstr>Exception Classes</vt:lpstr>
      <vt:lpstr>Try-Catch-Finally</vt:lpstr>
      <vt:lpstr>Multiple Catch Blocks</vt:lpstr>
      <vt:lpstr>Throw Statement</vt:lpstr>
      <vt:lpstr>User-Defined Exception</vt:lpstr>
      <vt:lpstr>Hands-On Lab (Module 9)</vt:lpstr>
      <vt:lpstr>Module 10: Generics</vt:lpstr>
      <vt:lpstr>Introduction to Generics</vt:lpstr>
      <vt:lpstr>Benefits of Generics</vt:lpstr>
      <vt:lpstr>Generic Type Parameter</vt:lpstr>
      <vt:lpstr>Using Generics</vt:lpstr>
      <vt:lpstr>Nullable Types</vt:lpstr>
      <vt:lpstr>Generic Classes</vt:lpstr>
      <vt:lpstr>Generic Interfaces</vt:lpstr>
      <vt:lpstr>Generic Methods</vt:lpstr>
      <vt:lpstr>Constraints</vt:lpstr>
      <vt:lpstr>Hands-On Lab (Module 10)</vt:lpstr>
      <vt:lpstr>Module 11: Generic Collections</vt:lpstr>
      <vt:lpstr>Generic Collections Overview</vt:lpstr>
      <vt:lpstr>Collection Interfaces</vt:lpstr>
      <vt:lpstr>List&lt;T&gt;</vt:lpstr>
      <vt:lpstr>Queue&lt;T&gt;</vt:lpstr>
      <vt:lpstr>Stack&lt;T&gt;</vt:lpstr>
      <vt:lpstr>Dictionary&lt;TKey, TValue&gt;</vt:lpstr>
      <vt:lpstr>SortedList &amp; SortedSet</vt:lpstr>
      <vt:lpstr>LinkedList&lt;T&gt;</vt:lpstr>
      <vt:lpstr>Hands-On Lab (Module 11)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2</cp:revision>
  <dcterms:created xsi:type="dcterms:W3CDTF">2013-01-27T09:14:16Z</dcterms:created>
  <dcterms:modified xsi:type="dcterms:W3CDTF">2026-03-17T03:41:25Z</dcterms:modified>
  <cp:category/>
</cp:coreProperties>
</file>