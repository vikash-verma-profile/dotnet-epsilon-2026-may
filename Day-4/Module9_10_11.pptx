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34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32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1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2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5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65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8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55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8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990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3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 sz="2400" b="1" dirty="0">
                <a:solidFill>
                  <a:srgbClr val="FFFFFF"/>
                </a:solidFill>
              </a:rPr>
              <a:t>Module 9: Errors &amp; 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Module Overview</a:t>
            </a:r>
          </a:p>
          <a:p>
            <a:endParaRPr lang="en-US" sz="1400" dirty="0"/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Understanding the difference between errors and exceptions -- two fundamentally different categories of problems in software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The System.Exception class hierarchy and how .NET organizes exception types into a logical inheritance tree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Structured exception handling with try-catch-finally blocks for robust, fault-tolerant code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Creating and throwing custom exceptions tailored to your application domain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Best practices for exception management -- when to catch, when to throw, and when to let exceptions propagate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Hands-on lab exercises to reinforce concepts with practical coding scenarios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Introduction to Errors &amp;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Errors (Compile-Time)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Errors are problems caught by the compiler before your code ever runs -- syntax errors, type mismatches, and missing references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Errors prevent compilation entirely; the program cannot be built until all errors are resolved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Exceptions (Runtime)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Exceptions are runtime anomalies that disrupt normal program flow -- they occur while the application is executing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Common examples: DivideByZeroException, NullReferenceException, FileNotFoundException, InvalidCastException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The CLR (Common Language Runtime) generates exception objects when it detects anomalies during execution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Without proper handling, unhandled exceptions cause immediate application termination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alibri"/>
              </a:rPr>
              <a:t>Think of it this way: errors are like a recipe with missing ingredients found before cooking; exceptions are like the oven catching fire mid-bake.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System.Exception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400" dirty="0">
                <a:solidFill>
                  <a:srgbClr val="E2E8F0"/>
                </a:solidFill>
                <a:latin typeface="Calibri"/>
              </a:rPr>
              <a:t>System.Exception is the base class for all exceptions in .NET. Every exception you encounter or create ultimately inherits from this class.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Key Properties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Message: Human-readable description of the error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StackTrace: The call stack at the point the exception was thrown -- invaluable for debugging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InnerException: Reference to the exception that caused this exception (enables exception chaining)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Source: Name of the application or object that caused the error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HResult: Numeric error code (HRESULT) assigned to the exception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Hierarchy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Exception -&gt; SystemException -&gt; specific exceptions (e.g., IOException, ArgumentException)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ApplicationException exists for user-defined exceptions but is rarely used in modern C# -- inherit from Exception directly instead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Exception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sz="1400" dirty="0">
                <a:solidFill>
                  <a:srgbClr val="E2E8F0"/>
                </a:solidFill>
                <a:latin typeface="Calibri"/>
              </a:rPr>
              <a:t>The .NET framework provides many built-in exception classes. Here are the most commonly encountered ones:</a:t>
            </a:r>
          </a:p>
          <a:p>
            <a:endParaRPr lang="en-US" sz="1400" dirty="0"/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NullReferenceException: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Accessing a member on a null object reference; the most common exception in C#</a:t>
            </a:r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IndexOutOfRangeException: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Array or collection index is outside the valid range of elements</a:t>
            </a:r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DivideByZeroException: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Integer division or modulo operation with a zero divisor</a:t>
            </a:r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InvalidOperationException: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Method call is invalid for the current state of the object</a:t>
            </a:r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ArgumentNullException: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Null was passed to a method that does not accept it as a valid argument</a:t>
            </a:r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FileNotFoundException: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Attempting to access a file that does not exist on disk</a:t>
            </a:r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StackOverflowException: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Too many nested method calls, often caused by infinite recursion -- cannot be caught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Try-Catch-Finally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 fontScale="85000" lnSpcReduction="20000"/>
          </a:bodyPr>
          <a:lstStyle/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try block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Contains code that might throw an exception -- the "risky" operations you want to protect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catch block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Handles the exception; executes only if a matching exception occurs in the try block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Multiple catch blocks can follow a single try block to handle different exception types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finally block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Always executes regardless of whether an exception was thrown or not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Ideal for releasing resources: file handles, database connections, network sockets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Execution Flow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try executes -&gt; if exception, matching catch runs -&gt; finally always runs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 try block must have at least one catch or finally block associated with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Multiple Catch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 lnSpcReduction="10000"/>
          </a:bodyPr>
          <a:lstStyle/>
          <a:p>
            <a:r>
              <a:rPr lang="en-US" sz="1400" dirty="0">
                <a:solidFill>
                  <a:srgbClr val="E2E8F0"/>
                </a:solidFill>
                <a:latin typeface="Calibri"/>
              </a:rPr>
              <a:t>Multiple catch blocks allow you to handle different exception types with separate, targeted logic.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Ordering Rules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Specific exception types must come before general ones (e.g., DivideByZeroException before Exception)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The compiler enforces this ordering; placing a base class catch before a derived class causes a compile error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 catch block without a type parameter acts as a catch-all for any exception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Best Practices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Catch only exceptions you can meaningfully handle -- do not swallow errors silently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Exception filters (when keyword) allow conditional catching without re-throwing: catch (Exception ex) when (ex.Message.Contains("timeout"))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Avoid catching System.Exception unless at the top level of your application (e.g., global error handler)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Throw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 lnSpcReduction="10000"/>
          </a:bodyPr>
          <a:lstStyle/>
          <a:p>
            <a:r>
              <a:rPr lang="en-US" sz="1400" dirty="0">
                <a:solidFill>
                  <a:srgbClr val="E2E8F0"/>
                </a:solidFill>
                <a:latin typeface="Calibri"/>
              </a:rPr>
              <a:t>The throw keyword raises an exception explicitly in your code, signaling that something has gone wrong.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throw vs throw ex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"throw" preserves the original stack trace -- essential for debugging the root cause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"throw ex" resets the stack trace to the current point, losing the original context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Always prefer "throw" when re-throwing in a catch block to maintain full debugging information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Common Validation Patterns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Use throw to enforce preconditions and validate method arguments at the start of methods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ArgumentException, ArgumentNullException, and InvalidOperationException are standard choices for validation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Throwing exceptions should be reserved for truly exceptional situations, not normal flow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User-Defined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1400" dirty="0">
                <a:solidFill>
                  <a:srgbClr val="E2E8F0"/>
                </a:solidFill>
                <a:latin typeface="Calibri"/>
              </a:rPr>
              <a:t>Custom exceptions extend System.Exception (or a more specific base) to represent domain-specific error conditions in your application.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When to Create Custom Exceptions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Domain-specific errors that no built-in exception adequately represents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Adding additional context or properties beyond the standard Message and StackTrace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Categorizing errors so calling code can distinguish between different failure modes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Recommended Implementation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Inherit from Exception directly (not ApplicationException -- that convention is outdated)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Name should always end with the "Exception" suffix (e.g., InsufficientFundsException)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Implement three constructors: default, message, and message + inner exception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Add custom properties to carry additional context about the error (e.g., Amount, Balance, UserId)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Hands-On Lab (Module 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Lab Exercises</a:t>
            </a:r>
          </a:p>
          <a:p>
            <a:endParaRPr lang="en-US" sz="1400" dirty="0"/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Exercise 1: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Implement try-catch-finally for a division operation with proper resource cleanup in the finally block</a:t>
            </a:r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Exercise 2: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Create a custom InsufficientFundsException with Amount and Balance properties, implementing all three standard constructors</a:t>
            </a:r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Exercise 3: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Build a method with multiple catch blocks ordered from specific to general exception types</a:t>
            </a:r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Exercise 4: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Implement exception filters using the when keyword to conditionally handle exceptions</a:t>
            </a:r>
          </a:p>
          <a:p>
            <a:pPr marL="228600" indent="-228600">
              <a:buChar char="●"/>
            </a:pPr>
            <a:r>
              <a:rPr lang="en-US" sz="1400" b="1" dirty="0">
                <a:solidFill>
                  <a:srgbClr val="06B6D4"/>
                </a:solidFill>
                <a:latin typeface="Calibri"/>
              </a:rPr>
              <a:t>Exercise 5: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Practice re-throwing exceptions while preserving the stack trace (throw vs throw ex)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Learning Goals</a:t>
            </a:r>
          </a:p>
          <a:p>
            <a:r>
              <a:rPr lang="en-US" sz="1400" dirty="0">
                <a:solidFill>
                  <a:srgbClr val="E2E8F0"/>
                </a:solidFill>
                <a:latin typeface="Calibri"/>
              </a:rPr>
              <a:t>Structured exception handling patterns and custom exception design for production-quality C# applications.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 sz="2400" dirty="0">
                <a:solidFill>
                  <a:srgbClr val="FFFFFF"/>
                </a:solidFill>
              </a:rPr>
              <a:t>Module 10: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Why generics matter in modern C# development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Generic type parameters and type safety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Building generic classes, interfaces, and methods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Applying constraints to limit type parameters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Understanding nullable types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Hands-on lab exercises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Introduction to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Generics allow writing type-safe, reusable code without committing to specific data types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Think of generics as templates: define the structure once, specify the type later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Before generics, developers used object-based collections with costly boxing/unboxing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Introduced in C# 2.0 to solve type safety and performance issues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Generics enable the compiler to enforce type checking at compile time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Real-world analogy: A shipping container (generic) that can be specialized for any cargo 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Benefits of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Type Safety: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Compiler catches type mismatches at compile time instead of runtime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Performance: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Eliminates boxing/unboxing for value types (significant in collections)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Code Reusability: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Write once, use with any type that meets constraints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IntelliSense Support: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IDE provides type-specific suggestions and auto-completion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Reduced Runtime Errors: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Many type-related bugs become compile-time errors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Cleaner Code: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No need for explicit casting when retrieving items from collections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Generic Type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Type parameters use angle brackets: ClassName&lt;T&gt;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 is a placeholder replaced by an actual type at usage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Naming conventions: T for single type, TKey/TValue for key-value pairs, TResult for return types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Multiple type parameters are separated by commas: Dictionary&lt;TKey, TValue&gt;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Type parameters can be used for fields, properties, method parameters, and return types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The compiler creates specialized versions for value types (no boxing overhead)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Using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List&lt;int&gt; replaces ArrayList with type-safe integer collection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Dictionary&lt;string, int&gt; provides type-safe key-value lookups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Boxing/unboxing eliminated: storing int in List&lt;int&gt; has no conversion overhead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Compared to ArrayList: no casting needed, compile-time type checking, better performance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Generic methods can infer type parameters from arguments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Generics work with both value types and reference types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Nullable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Value types (int, bool, double) cannot normally hold null values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Nullable&lt;T&gt; wraps a value type to allow null assignment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Shorthand syntax: int? is equivalent to Nullable&lt;int&gt;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Key properties: HasValue (checks if value exists), Value (gets the underlying value)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Null-coalescing operator (??) provides a default when nullable is null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Common use case: database columns that allow NULL values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Nullable reference types (C# 8.0+) extend this concept to reference types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Generic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 generic class defines a blueprint with one or more type parameters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Example: class Box&lt;T&gt; stores any type while maintaining type safety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The type parameter T is used throughout the class for fields, properties, and methods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Multiple type parameters: class Pair&lt;TFirst, TSecond&gt; holds two different types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Static members are specific to each closed generic type (Box&lt;int&gt; vs Box&lt;string&gt;)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Generic classes can inherit from other generic or non-generic classes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Generic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Generic interfaces define contracts with type parameters: IRepository&lt;T&gt;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Enable polymorphism while maintaining type safety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IComparable&lt;T&gt; allows type-safe comparisons without boxing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IEnumerable&lt;T&gt; is the foundation of LINQ and foreach loops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 class can implement multiple generic interfaces with different type arguments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Covariance (out T) and contravariance (in T) control type parameter flexibility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Generic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Methods can have their own type parameters independent of the class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Syntax: public T GetMax&lt;T&gt;(T a, T b) where T : IComparable&lt;T&gt;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Type inference: compiler deduces T from the arguments, so explicit specification is optional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Generic methods can exist in non-generic classes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Useful for utility and helper methods (Swap&lt;T&gt;, Compare&lt;T&gt;)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Method-level generics provide finer granularity than class-level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Constraints restrict which types can be used as type arguments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where T : class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- T must be a reference type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where T : struct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- T must be a value type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where T : new()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- T must have a parameterless constructor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where T : BaseClass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- T must derive from the specified base class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where T : IInterface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- T must implement the specified interface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Multiple constraints can be combined: where T : class, IDisposable, new()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Constraints enable calling methods on T that are otherwise unavailable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Hands-On Lab (Module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Exercise 1: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Create a generic Stack&lt;T&gt; class with Push, Pop, and Peek methods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Exercise 2: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Implement a generic IRepository&lt;T&gt; interface with CRUD operations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Exercise 3: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Build a generic comparison method with IComparable&lt;T&gt; constraint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Exercise 4: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Create a generic Pair&lt;TFirst, TSecond&gt; class with type-safe access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Exercise 5: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Implement a generic event handler using generic delegates</a:t>
            </a:r>
          </a:p>
          <a:p>
            <a:pPr marL="228600" indent="-228600">
              <a:buChar char="●"/>
            </a:pPr>
            <a:r>
              <a:rPr lang="en-US" sz="1600" b="1" dirty="0">
                <a:solidFill>
                  <a:srgbClr val="06B6D4"/>
                </a:solidFill>
                <a:latin typeface="Calibri"/>
              </a:rPr>
              <a:t>Learning goals: </a:t>
            </a:r>
            <a:r>
              <a:rPr lang="en-US" sz="1400" dirty="0">
                <a:solidFill>
                  <a:srgbClr val="E2E8F0"/>
                </a:solidFill>
                <a:latin typeface="Calibri"/>
              </a:rPr>
              <a:t>Practical generic type design with appropriate constraints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 sz="2400" dirty="0">
                <a:solidFill>
                  <a:srgbClr val="FFFFFF"/>
                </a:solidFill>
              </a:rPr>
              <a:t>Module 11: Generic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Module Overview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The System.Collections.Generic namespace and why it replaced older non-generic collections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Core collection interfaces and their hierarchy: IEnumerable&lt;T&gt;, ICollection&lt;T&gt;, IList&lt;T&gt;, IDictionary&lt;TKey, TValue&gt;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Working with List&lt;T&gt;, Queue&lt;T&gt;, and Stack&lt;T&gt; for sequential and ordered data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Key-value collections: Dictionary&lt;TKey, TValue&gt; and SortedList&lt;TKey, TValue&gt;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Choosing the right collection for your scenario based on access patterns and performance needs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Hands-on lab exercises to practice building real-world solutions with generic collections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Generic Collections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Located in the System.Collections.Generic namespace, included by default in most C# project templates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Replace older non-generic collections (ArrayList, Hashtable, Queue, Stack) from System.Collections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Type Safety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No casting required -- the compiler enforces type checking at compile time, catching errors early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Performance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No boxing/unboxing overhead for value types, resulting in significantly better performance with int, double, struct, etc.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Thread Safety and LINQ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Thread-safe variants available in System.Collections.Concurrent (e.g., ConcurrentDictionary, ConcurrentQueue)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All generic collections implement IEnumerable&lt;T&gt;, enabling full LINQ support for querying and transforming data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Choosing the right collection depends on your access patterns, ordering needs, and data structure requirements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Collection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IEnumerable&lt;T&gt;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Enables iteration with foreach; the foundation of all LINQ queries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ICollection&lt;T&gt;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Adds Count, Add, Remove, Contains, and Clear operations on top of enumeration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IList&lt;T&gt;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Adds index-based access (this[int index]) for ordered collections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IDictionary&lt;TKey, TValue&gt;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Key-value pair access with Add, Remove, ContainsKey, and indexer by key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IEnumerator&lt;T&gt;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Provides the iteration mechanism with MoveNext(), Current, and Reset()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Interface Hierarchy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IEnumerable&lt;T&gt; -&gt; ICollection&lt;T&gt; -&gt; IList&lt;T&gt; or IDictionary&lt;TKey, TValue&gt;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Coding to interfaces enables flexibility, loose coupling, and easier unit testing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List&lt;T&gt;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Dynamic array that grows automatically as elements are added -- think of it as a resizable array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Performance Characteristics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O(1) access by index, O(n) for insert/remove at arbitrary positions due to element shifting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List doubles its Capacity when full, making Add amortized O(1)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Key Methods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Add, AddRange, Insert, Remove, RemoveAt, Find, Sort, BinarySearch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Capacity vs Count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Capacity is the allocated internal array size; Count is the number of actual elements stored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Best for: ordered data with frequent random access and infrequent mid-list insertions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Use ToArray() or AsReadOnly() when you need to expose data without allowing modification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Queue&lt;T&gt;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First-In, First-Out (FIFO) data structure -- elements are processed in the order they arrive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Elements are added at the back (Enqueue) and removed from the front (Dequeue)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Key Methods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Enqueue (add), Dequeue (remove + return), Peek (view front without removing)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O(1) for Enqueue, Dequeue, and Peek operations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Common Use Cases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Task scheduling, message processing, breadth-first search algorithms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Real-world analogy: A line at a ticket counter -- the first person in line gets served first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ConcurrentQueue&lt;T&gt; is available in System.Collections.Concurrent for thread-safe scenarios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Stack&lt;T&gt;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Last-In, First-Out (LIFO) data structure -- the most recently added element is removed first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Elements are added and removed from the same end (the top of the stack)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Key Methods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Push (add to top), Pop (remove + return top), Peek (view top without removing)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O(1) for Push, Pop, and Peek operations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Common Use Cases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Undo operations, expression evaluation, backtracking algorithms, navigation history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Real-world analogy: A stack of plates -- you always take the top plate first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Used internally by the CLR for method call tracking (the call stack)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1600" b="1" dirty="0">
                <a:solidFill>
                  <a:srgbClr val="FFFFFF"/>
                </a:solidFill>
              </a:rPr>
              <a:t>Dictionary&lt;TKey, TValue&gt;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Stores key-value pairs with unique keys for fast lookup, backed by a hash table internally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O(1) average time for Add, Remove, ContainsKey, and indexer access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Key Requirements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Keys must implement GetHashCode() and Equals(), or you can provide a custom IEqualityComparer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Keys must be unique; attempting to add a duplicate key throws an ArgumentException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Key Methods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Add, TryGetValue, ContainsKey, Remove, Keys, Values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TryGetValue is preferred over the indexer to avoid KeyNotFoundException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Use cases: caching, lookups, configuration settings, frequency counting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SortedList &amp; SortedSet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SortedList&lt;TKey, TValue&gt;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Key-value pairs automatically sorted by key using an internal array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Uses less memory than SortedDictionary but slower for unsorted insertions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O(log n) for Add, Remove, and lookup via binary search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SortedSet&lt;T&gt;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Collection of unique elements maintained in sorted order using a red-black tree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Implements mathematical set operations: UnionWith, IntersectWith, ExceptWith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O(log n) for Add, Remove, and Contains operations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When to Choose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Choose SortedList when data is mostly pre-sorted; SortedDictionary when insertions are random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LinkedList&lt;T&gt;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Doubly linked list where each node holds references to both its previous and next nodes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Performance Characteristics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O(1) for insertion and removal at known positions (given a LinkedListNode reference)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O(n) for search and index-based access -- must traverse from head or tail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Key Methods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AddFirst, AddLast, AddBefore, AddAfter, Remove, Find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LinkedListNode&lt;T&gt; provides access to Value, Next, and Previous properties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When to Use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Best for frequent insertions/deletions at arbitrary positions when you hold node references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Rarely preferred over List&lt;T&gt; in practice due to poor CPU cache locality and higher memory overhead per element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Hands-On Lab (Module 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Exercise 1: Task Manager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Build a task manager using List&lt;T&gt; with Add, Remove, and Sort operations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Exercise 2: Print Queue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Implement a print queue simulation using Queue&lt;T&gt; to process jobs in order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Exercise 3: Undo/Redo System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Create an undo/redo system using two Stack&lt;T&gt; instances to track actions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Exercise 4: Word Frequency Counter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Build a word frequency counter using Dictionary&lt;string, int&gt; to analyze text input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Exercise 5: Performance Comparison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Compare performance of List&lt;T&gt;, LinkedList&lt;T&gt;, and SortedSet&lt;T&gt; for insert, search, and delete</a:t>
            </a:r>
          </a:p>
          <a:p>
            <a:r>
              <a:rPr lang="en-US" sz="1600" b="1" dirty="0">
                <a:solidFill>
                  <a:srgbClr val="06B6D4"/>
                </a:solidFill>
                <a:latin typeface="Calibri"/>
              </a:rPr>
              <a:t>Learning Goals</a:t>
            </a:r>
          </a:p>
          <a:p>
            <a:pPr marL="228600" indent="-228600"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/>
              </a:rPr>
              <a:t>Selecting and implementing the right collection type for real-world scenarios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25</TotalTime>
  <Words>3097</Words>
  <Application>Microsoft Office PowerPoint</Application>
  <PresentationFormat>On-screen Show (4:3)</PresentationFormat>
  <Paragraphs>296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Calibri</vt:lpstr>
      <vt:lpstr>Tw Cen MT</vt:lpstr>
      <vt:lpstr>Tw Cen MT Condensed</vt:lpstr>
      <vt:lpstr>Wingdings 3</vt:lpstr>
      <vt:lpstr>Integral</vt:lpstr>
      <vt:lpstr>Module 9: Errors &amp; Exception Handling</vt:lpstr>
      <vt:lpstr>Introduction to Errors &amp; Exceptions</vt:lpstr>
      <vt:lpstr>System.Exception Class</vt:lpstr>
      <vt:lpstr>Exception Classes</vt:lpstr>
      <vt:lpstr>Try-Catch-Finally</vt:lpstr>
      <vt:lpstr>Multiple Catch Blocks</vt:lpstr>
      <vt:lpstr>Throw Statement</vt:lpstr>
      <vt:lpstr>User-Defined Exception</vt:lpstr>
      <vt:lpstr>Hands-On Lab (Module 9)</vt:lpstr>
      <vt:lpstr>Module 10: Generics</vt:lpstr>
      <vt:lpstr>Introduction to Generics</vt:lpstr>
      <vt:lpstr>Benefits of Generics</vt:lpstr>
      <vt:lpstr>Generic Type Parameter</vt:lpstr>
      <vt:lpstr>Using Generics</vt:lpstr>
      <vt:lpstr>Nullable Types</vt:lpstr>
      <vt:lpstr>Generic Classes</vt:lpstr>
      <vt:lpstr>Generic Interfaces</vt:lpstr>
      <vt:lpstr>Generic Methods</vt:lpstr>
      <vt:lpstr>Constraints</vt:lpstr>
      <vt:lpstr>Hands-On Lab (Module 10)</vt:lpstr>
      <vt:lpstr>Module 11: Generic Collections</vt:lpstr>
      <vt:lpstr>Generic Collections Overview</vt:lpstr>
      <vt:lpstr>Collection Interfaces</vt:lpstr>
      <vt:lpstr>List&lt;T&gt;</vt:lpstr>
      <vt:lpstr>Queue&lt;T&gt;</vt:lpstr>
      <vt:lpstr>Stack&lt;T&gt;</vt:lpstr>
      <vt:lpstr>Dictionary&lt;TKey, TValue&gt;</vt:lpstr>
      <vt:lpstr>SortedList &amp; SortedSet</vt:lpstr>
      <vt:lpstr>LinkedList&lt;T&gt;</vt:lpstr>
      <vt:lpstr>Hands-On Lab (Module 11)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2026-05-20T13:21:31Z</dcterms:modified>
  <cp:category/>
</cp:coreProperties>
</file>