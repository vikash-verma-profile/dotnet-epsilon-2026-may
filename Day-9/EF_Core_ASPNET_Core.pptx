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75" r:id="rId2"/>
    <p:sldId id="276" r:id="rId3"/>
    <p:sldId id="277" r:id="rId4"/>
    <p:sldId id="278" r:id="rId5"/>
    <p:sldId id="279" r:id="rId6"/>
    <p:sldId id="280" r:id="rId7"/>
    <p:sldId id="292" r:id="rId8"/>
    <p:sldId id="281" r:id="rId9"/>
    <p:sldId id="282" r:id="rId10"/>
    <p:sldId id="293" r:id="rId11"/>
    <p:sldId id="283" r:id="rId12"/>
    <p:sldId id="284" r:id="rId13"/>
    <p:sldId id="294" r:id="rId14"/>
    <p:sldId id="285" r:id="rId15"/>
    <p:sldId id="286" r:id="rId16"/>
    <p:sldId id="295" r:id="rId17"/>
    <p:sldId id="287" r:id="rId18"/>
    <p:sldId id="288" r:id="rId19"/>
    <p:sldId id="296" r:id="rId20"/>
    <p:sldId id="289" r:id="rId21"/>
    <p:sldId id="290" r:id="rId22"/>
    <p:sldId id="29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5810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3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02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789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8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624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607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44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44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4514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A1929"/>
            </a:gs>
            <a:gs pos="100000">
              <a:srgbClr val="13293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01" name="AccentBar"/>
          <p:cNvSpPr/>
          <p:nvPr userDrawn="1"/>
        </p:nvSpPr>
        <p:spPr>
          <a:xfrm>
            <a:off x="0" y="0"/>
            <a:ext cx="76200" cy="6858000"/>
          </a:xfrm>
          <a:prstGeom prst="rect">
            <a:avLst/>
          </a:prstGeom>
          <a:gradFill>
            <a:gsLst>
              <a:gs pos="0">
                <a:srgbClr val="00E5FF"/>
              </a:gs>
              <a:gs pos="100000">
                <a:srgbClr val="7C4DFF"/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67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rgbClr val="00E5FF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rgbClr val="E8F4F8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rgbClr val="E8F4F8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rgbClr val="E8F4F8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Entity Framework 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Object-Relational Mapper (ORM) for .NET — maps C# classes to database tables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Eliminates hand-written SQL for most CRUD operations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Cross-platform: runs on Windows, Linux, macOS with .NET Core / .NET 6+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Provider model: SQL Server, PostgreSQL, MySQL, SQLite, Cosmos DB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LINQ support — write strongly-typed queries in C#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Open source, actively developed by Microsoft</a:t>
            </a:r>
          </a:p>
        </p:txBody>
      </p:sp>
    </p:spTree>
    <p:extLst>
      <p:ext uri="{BB962C8B-B14F-4D97-AF65-F5344CB8AC3E}">
        <p14:creationId xmlns:p14="http://schemas.microsoft.com/office/powerpoint/2010/main" val="3269088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EF Core?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Productivity — write data access code in minutes, not hours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Database abstraction — same code works against multiple providers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Type safety — compile-time checks prevent runtime SQL errors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Automatic change tracking — EF figures out what to INSERT/UPDATE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Migrations — evolve schema in code, version-controlled with Git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Async-first — built for scalable web apps from day one</a:t>
            </a:r>
          </a:p>
        </p:txBody>
      </p:sp>
    </p:spTree>
    <p:extLst>
      <p:ext uri="{BB962C8B-B14F-4D97-AF65-F5344CB8AC3E}">
        <p14:creationId xmlns:p14="http://schemas.microsoft.com/office/powerpoint/2010/main" val="1144339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 Core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2222500"/>
            <a:ext cx="4318000" cy="406400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DbContext — your gateway to the database (one per request)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DbSet&lt;TEntity&gt; — represents a table; query and modify via LINQ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Entity classes — plain C# POCOs mapped to rows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Change Tracker — watches entities for modifications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Query Pipeline — translates LINQ expressions into provider SQL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Database Provider — dialect-specific (SQL Server, PostgreSQL, etc.)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28670F-2BF3-42EB-8D5A-EE21950B75FD}"/>
              </a:ext>
            </a:extLst>
          </p:cNvPr>
          <p:cNvSpPr/>
          <p:nvPr/>
        </p:nvSpPr>
        <p:spPr>
          <a:xfrm>
            <a:off x="5207000" y="2286000"/>
            <a:ext cx="3429000" cy="698500"/>
          </a:xfrm>
          <a:prstGeom prst="roundRect">
            <a:avLst/>
          </a:prstGeom>
          <a:solidFill>
            <a:srgbClr val="00E5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0A1929"/>
                </a:solidFill>
                <a:latin typeface="Segoe UI"/>
                <a:cs typeface="Segoe UI"/>
              </a:rPr>
              <a:t>Your Application
Controllers • Services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4CBFE8-DA31-439A-BF01-D11A9603CA1A}"/>
              </a:ext>
            </a:extLst>
          </p:cNvPr>
          <p:cNvSpPr/>
          <p:nvPr/>
        </p:nvSpPr>
        <p:spPr>
          <a:xfrm>
            <a:off x="5207000" y="3175000"/>
            <a:ext cx="3429000" cy="698500"/>
          </a:xfrm>
          <a:prstGeom prst="roundRect">
            <a:avLst/>
          </a:prstGeom>
          <a:solidFill>
            <a:srgbClr val="64FFD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0A1929"/>
                </a:solidFill>
                <a:latin typeface="Segoe UI"/>
                <a:cs typeface="Segoe UI"/>
              </a:rPr>
              <a:t>EF Core API
DbContext • DbSet • LINQ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2D77E5-187B-4C54-8858-0F2F0AE9D558}"/>
              </a:ext>
            </a:extLst>
          </p:cNvPr>
          <p:cNvSpPr/>
          <p:nvPr/>
        </p:nvSpPr>
        <p:spPr>
          <a:xfrm>
            <a:off x="5207000" y="4064000"/>
            <a:ext cx="3429000" cy="698500"/>
          </a:xfrm>
          <a:prstGeom prst="roundRect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Segoe UI"/>
                <a:cs typeface="Segoe UI"/>
              </a:rPr>
              <a:t>Query Pipeline
Translator • Change Tracker</a:t>
            </a:r>
            <a:endParaRPr lang="en-IN" sz="13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3B3320-039A-4797-B1F1-47767C7DCC31}"/>
              </a:ext>
            </a:extLst>
          </p:cNvPr>
          <p:cNvSpPr/>
          <p:nvPr/>
        </p:nvSpPr>
        <p:spPr>
          <a:xfrm>
            <a:off x="5207000" y="4953000"/>
            <a:ext cx="3429000" cy="6985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300" b="1">
                <a:solidFill>
                  <a:srgbClr val="FFFFFF"/>
                </a:solidFill>
                <a:latin typeface="Segoe UI"/>
                <a:cs typeface="Segoe UI"/>
              </a:rPr>
              <a:t>Database Provider
SQL Server • Postgres • SQLite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20E146E-C13B-43FD-A367-F3C3ECE43124}"/>
              </a:ext>
            </a:extLst>
          </p:cNvPr>
          <p:cNvSpPr/>
          <p:nvPr/>
        </p:nvSpPr>
        <p:spPr>
          <a:xfrm>
            <a:off x="6731000" y="2984500"/>
            <a:ext cx="381000" cy="190500"/>
          </a:xfrm>
          <a:prstGeom prst="downArrow">
            <a:avLst/>
          </a:prstGeom>
          <a:solidFill>
            <a:srgbClr val="E8F4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26FE1DF-2138-4F23-8311-5C6CED194D72}"/>
              </a:ext>
            </a:extLst>
          </p:cNvPr>
          <p:cNvSpPr/>
          <p:nvPr/>
        </p:nvSpPr>
        <p:spPr>
          <a:xfrm>
            <a:off x="6731000" y="3873500"/>
            <a:ext cx="381000" cy="190500"/>
          </a:xfrm>
          <a:prstGeom prst="downArrow">
            <a:avLst/>
          </a:prstGeom>
          <a:solidFill>
            <a:srgbClr val="E8F4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8B830B06-3E9C-41F3-98C0-738BBF9ED3CF}"/>
              </a:ext>
            </a:extLst>
          </p:cNvPr>
          <p:cNvSpPr/>
          <p:nvPr/>
        </p:nvSpPr>
        <p:spPr>
          <a:xfrm>
            <a:off x="6731000" y="4762500"/>
            <a:ext cx="381000" cy="190500"/>
          </a:xfrm>
          <a:prstGeom prst="downArrow">
            <a:avLst/>
          </a:prstGeom>
          <a:solidFill>
            <a:srgbClr val="E8F4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0EB1B2-6B46-4C13-A988-9AA0EE53A25F}"/>
              </a:ext>
            </a:extLst>
          </p:cNvPr>
          <p:cNvSpPr txBox="1"/>
          <p:nvPr/>
        </p:nvSpPr>
        <p:spPr>
          <a:xfrm>
            <a:off x="5207000" y="5816600"/>
            <a:ext cx="34290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00" i="1">
                <a:solidFill>
                  <a:srgbClr val="A0C4D8"/>
                </a:solidFill>
              </a:rPr>
              <a:t>⟱  Data flows down
⟰  Results flow up</a:t>
            </a:r>
            <a:endParaRPr lang="en-IN" sz="1100" i="1">
              <a:solidFill>
                <a:srgbClr val="A0C4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504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EF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64FFDA"/>
                </a:solidFill>
              </a:rPr>
              <a:t>Required NuGet packages</a:t>
            </a:r>
          </a:p>
          <a:p>
            <a:pPr marL="285750" indent="-285750">
              <a:buFont typeface="Courier New"/>
              <a:buChar char="$"/>
            </a:pPr>
            <a:r>
              <a:rPr lang="en-US" sz="1500" dirty="0">
                <a:latin typeface="Consolas"/>
              </a:rPr>
              <a:t>dotnet add package Microsoft.EntityFrameworkCore</a:t>
            </a:r>
          </a:p>
          <a:p>
            <a:pPr marL="285750" indent="-285750">
              <a:buFont typeface="Courier New"/>
              <a:buChar char="$"/>
            </a:pPr>
            <a:r>
              <a:rPr lang="en-US" sz="1500" dirty="0">
                <a:latin typeface="Consolas"/>
              </a:rPr>
              <a:t>dotnet add package Microsoft.EntityFrameworkCore.SqlServer</a:t>
            </a:r>
          </a:p>
          <a:p>
            <a:pPr marL="285750" indent="-285750">
              <a:buFont typeface="Courier New"/>
              <a:buChar char="$"/>
            </a:pPr>
            <a:r>
              <a:rPr lang="en-US" sz="1500" dirty="0">
                <a:latin typeface="Consolas"/>
              </a:rPr>
              <a:t>dotnet add package Microsoft.EntityFrameworkCore.Tools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800" b="1" dirty="0">
                <a:solidFill>
                  <a:srgbClr val="64FFDA"/>
                </a:solidFill>
              </a:rPr>
              <a:t>Swap providers as needed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PostgreSQL: </a:t>
            </a:r>
            <a:r>
              <a:rPr lang="en-US" sz="1600" dirty="0">
                <a:latin typeface="Consolas"/>
              </a:rPr>
              <a:t>Npgsql.EntityFrameworkCore.PostgreSQL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SQLite: </a:t>
            </a:r>
            <a:r>
              <a:rPr lang="en-US" sz="1600" dirty="0">
                <a:latin typeface="Consolas"/>
              </a:rPr>
              <a:t>Microsoft.EntityFrameworkCore.Sqlite</a:t>
            </a:r>
          </a:p>
        </p:txBody>
      </p:sp>
    </p:spTree>
    <p:extLst>
      <p:ext uri="{BB962C8B-B14F-4D97-AF65-F5344CB8AC3E}">
        <p14:creationId xmlns:p14="http://schemas.microsoft.com/office/powerpoint/2010/main" val="2362682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Represents a session with the database — a unit of work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Inherits from Microsoft.EntityFrameworkCore.DbContext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Exposes DbSet&lt;T&gt; properties — one per entity type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Configured via OnConfiguring() or constructor injection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Scoped lifetime in ASP.NET Core — one instance per HTTP request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Implements IDisposable — always wrap in 'using' or rely on DI</a:t>
            </a:r>
          </a:p>
        </p:txBody>
      </p:sp>
    </p:spTree>
    <p:extLst>
      <p:ext uri="{BB962C8B-B14F-4D97-AF65-F5344CB8AC3E}">
        <p14:creationId xmlns:p14="http://schemas.microsoft.com/office/powerpoint/2010/main" val="318914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POCO — Plain Old CLR Object, no special base class required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Each entity class maps to one database table by convention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Public properties become columns (name + type matched)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Conventions: 'Id' or 'ClassNameId' becomes the primary key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Data annotations: [Required], [MaxLength], [Column], [Key]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Fluent API in OnModelCreating() for advanced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630551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BB8F65-4ED5-43E4-9F55-232714DFD2F6}"/>
              </a:ext>
            </a:extLst>
          </p:cNvPr>
          <p:cNvSpPr/>
          <p:nvPr/>
        </p:nvSpPr>
        <p:spPr>
          <a:xfrm>
            <a:off x="508000" y="381000"/>
            <a:ext cx="1651000" cy="4572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  <a:latin typeface="Segoe UI"/>
                <a:cs typeface="Segoe UI"/>
              </a:rPr>
              <a:t>🧪 LAB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2BCAD-02F1-4DCB-8286-E5C1F9CB1135}"/>
              </a:ext>
            </a:extLst>
          </p:cNvPr>
          <p:cNvSpPr txBox="1"/>
          <p:nvPr/>
        </p:nvSpPr>
        <p:spPr>
          <a:xfrm>
            <a:off x="2349500" y="381000"/>
            <a:ext cx="628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00E5FF"/>
                </a:solidFill>
                <a:latin typeface="Segoe UI"/>
                <a:cs typeface="Segoe UI"/>
              </a:rPr>
              <a:t>Build Your First Model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577ECE-5B88-4C81-B189-07BA6C9FD6ED}"/>
              </a:ext>
            </a:extLst>
          </p:cNvPr>
          <p:cNvSpPr txBox="1"/>
          <p:nvPr/>
        </p:nvSpPr>
        <p:spPr>
          <a:xfrm>
            <a:off x="508000" y="1143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73C16-4A37-48B8-B57C-01AB07B38F6F}"/>
              </a:ext>
            </a:extLst>
          </p:cNvPr>
          <p:cNvSpPr txBox="1"/>
          <p:nvPr/>
        </p:nvSpPr>
        <p:spPr>
          <a:xfrm>
            <a:off x="508000" y="1397000"/>
            <a:ext cx="81280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E8F4F8"/>
                </a:solidFill>
                <a:latin typeface="Segoe UI"/>
                <a:cs typeface="Segoe UI"/>
              </a:rPr>
              <a:t>Define a Product entity and a StoreContext with one DbSet&lt;Product&gt;. Wire it to a SQL Server connection string.</a:t>
            </a:r>
            <a:endParaRPr lang="en-IN" sz="16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F23BC1-628A-40DF-A671-DE15C47AD589}"/>
              </a:ext>
            </a:extLst>
          </p:cNvPr>
          <p:cNvSpPr txBox="1"/>
          <p:nvPr/>
        </p:nvSpPr>
        <p:spPr>
          <a:xfrm>
            <a:off x="508000" y="2286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YOUR TASKS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C740B4E-F6C4-468E-83ED-8B4129E1E380}"/>
              </a:ext>
            </a:extLst>
          </p:cNvPr>
          <p:cNvSpPr/>
          <p:nvPr/>
        </p:nvSpPr>
        <p:spPr>
          <a:xfrm>
            <a:off x="571500" y="26035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A482D-4DBC-4A9A-ADAE-93B281E4906A}"/>
              </a:ext>
            </a:extLst>
          </p:cNvPr>
          <p:cNvSpPr txBox="1"/>
          <p:nvPr/>
        </p:nvSpPr>
        <p:spPr>
          <a:xfrm>
            <a:off x="1079500" y="26035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Create Product.cs with Id, Name, Price (decimal), Stock (int)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F21B8E-1D4C-4665-95D9-9BE60D55D605}"/>
              </a:ext>
            </a:extLst>
          </p:cNvPr>
          <p:cNvSpPr/>
          <p:nvPr/>
        </p:nvSpPr>
        <p:spPr>
          <a:xfrm>
            <a:off x="571500" y="31369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B1096B-552E-49F8-A85C-3E5ECC0F9D62}"/>
              </a:ext>
            </a:extLst>
          </p:cNvPr>
          <p:cNvSpPr txBox="1"/>
          <p:nvPr/>
        </p:nvSpPr>
        <p:spPr>
          <a:xfrm>
            <a:off x="1079500" y="31369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Define StoreContext : DbContext exposing DbSet&lt;Product&gt; Products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52A523C-20F0-4AB0-BB6F-671D55EC59F8}"/>
              </a:ext>
            </a:extLst>
          </p:cNvPr>
          <p:cNvSpPr/>
          <p:nvPr/>
        </p:nvSpPr>
        <p:spPr>
          <a:xfrm>
            <a:off x="571500" y="36703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8D9BBE-B733-4B8D-A9D3-0AEF5DF4F0EB}"/>
              </a:ext>
            </a:extLst>
          </p:cNvPr>
          <p:cNvSpPr txBox="1"/>
          <p:nvPr/>
        </p:nvSpPr>
        <p:spPr>
          <a:xfrm>
            <a:off x="1079500" y="36703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>
                <a:solidFill>
                  <a:srgbClr val="E8F4F8"/>
                </a:solidFill>
                <a:latin typeface="Segoe UI"/>
                <a:cs typeface="Segoe UI"/>
              </a:rPr>
              <a:t>Override OnConfiguring with UseSqlServer("...")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3472253-751F-452E-99F1-67E1162614E1}"/>
              </a:ext>
            </a:extLst>
          </p:cNvPr>
          <p:cNvSpPr/>
          <p:nvPr/>
        </p:nvSpPr>
        <p:spPr>
          <a:xfrm>
            <a:off x="571500" y="42037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4FA31B-8B8C-4B17-A8F2-9C5E2B226171}"/>
              </a:ext>
            </a:extLst>
          </p:cNvPr>
          <p:cNvSpPr txBox="1"/>
          <p:nvPr/>
        </p:nvSpPr>
        <p:spPr>
          <a:xfrm>
            <a:off x="1079500" y="42037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Print context.Model.GetEntityTypes() to verify mapping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D3322FB-8234-4876-8776-C37ABF3701B5}"/>
              </a:ext>
            </a:extLst>
          </p:cNvPr>
          <p:cNvSpPr/>
          <p:nvPr/>
        </p:nvSpPr>
        <p:spPr>
          <a:xfrm>
            <a:off x="508000" y="5842000"/>
            <a:ext cx="8128000" cy="736600"/>
          </a:xfrm>
          <a:prstGeom prst="roundRect">
            <a:avLst/>
          </a:prstGeom>
          <a:solidFill>
            <a:srgbClr val="1A3A52"/>
          </a:solidFill>
          <a:ln w="19050" cap="flat" cmpd="sng" algn="ctr">
            <a:solidFill>
              <a:srgbClr val="64FF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E8F4F8"/>
                </a:solidFill>
                <a:latin typeface="Segoe UI"/>
                <a:cs typeface="Segoe UI"/>
              </a:rPr>
              <a:t>💡 HINT  Add [Column(TypeName="decimal(18,2)")] on Price to control precision.</a:t>
            </a:r>
            <a:endParaRPr lang="en-IN" sz="1300">
              <a:solidFill>
                <a:srgbClr val="E8F4F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4223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DbSet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DbSet&lt;TEntity&gt; — a queryable collection mapped to a table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Declared as a property on your DbContext class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Supports LINQ: Where, Select, OrderBy, Include, FirstOrDefault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CRUD methods: Add, AddRange, Remove, Update, Find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Implements IQueryable — query is built up, sent on enumeration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AsNoTracking() for read-only scenarios — faster, less memory</a:t>
            </a:r>
          </a:p>
        </p:txBody>
      </p:sp>
    </p:spTree>
    <p:extLst>
      <p:ext uri="{BB962C8B-B14F-4D97-AF65-F5344CB8AC3E}">
        <p14:creationId xmlns:p14="http://schemas.microsoft.com/office/powerpoint/2010/main" val="878243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ASP.NET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2540000"/>
          </a:xfrm>
        </p:spPr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Register DbContext as a service in Program.cs via AddDbContext()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Store connection strings in appsettings.json — not in code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Use IConfiguration to read connection string by key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DbContext is injected into controllers/services via constructor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Scoped lifetime — automatically disposed at end of request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Use IDbContextFactory for background services or Blazor Server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DC7D29-D462-4C94-B431-64FBB7D18FF3}"/>
              </a:ext>
            </a:extLst>
          </p:cNvPr>
          <p:cNvSpPr/>
          <p:nvPr/>
        </p:nvSpPr>
        <p:spPr>
          <a:xfrm>
            <a:off x="635000" y="5143500"/>
            <a:ext cx="1524000" cy="762000"/>
          </a:xfrm>
          <a:prstGeom prst="roundRect">
            <a:avLst/>
          </a:prstGeom>
          <a:solidFill>
            <a:srgbClr val="00E5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0A1929"/>
                </a:solidFill>
                <a:latin typeface="Segoe UI"/>
                <a:cs typeface="Segoe UI"/>
              </a:rPr>
              <a:t>HTTP
Request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676AD0-A705-4B48-B94B-6A42C395747A}"/>
              </a:ext>
            </a:extLst>
          </p:cNvPr>
          <p:cNvSpPr/>
          <p:nvPr/>
        </p:nvSpPr>
        <p:spPr>
          <a:xfrm>
            <a:off x="2476500" y="5143500"/>
            <a:ext cx="1524000" cy="762000"/>
          </a:xfrm>
          <a:prstGeom prst="roundRect">
            <a:avLst/>
          </a:prstGeom>
          <a:solidFill>
            <a:srgbClr val="64FFD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0A1929"/>
                </a:solidFill>
                <a:latin typeface="Segoe UI"/>
                <a:cs typeface="Segoe UI"/>
              </a:rPr>
              <a:t>Controller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C3EB677-1A25-41A3-BE95-669A9D258214}"/>
              </a:ext>
            </a:extLst>
          </p:cNvPr>
          <p:cNvSpPr/>
          <p:nvPr/>
        </p:nvSpPr>
        <p:spPr>
          <a:xfrm>
            <a:off x="4318000" y="5143500"/>
            <a:ext cx="1524000" cy="762000"/>
          </a:xfrm>
          <a:prstGeom prst="roundRect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Segoe UI"/>
                <a:cs typeface="Segoe UI"/>
              </a:rPr>
              <a:t>DbContext
(scoped)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ACFE3E-0F97-4043-8C11-7F74044037F6}"/>
              </a:ext>
            </a:extLst>
          </p:cNvPr>
          <p:cNvSpPr/>
          <p:nvPr/>
        </p:nvSpPr>
        <p:spPr>
          <a:xfrm>
            <a:off x="6159500" y="5143500"/>
            <a:ext cx="1524000" cy="7620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Segoe UI"/>
                <a:cs typeface="Segoe UI"/>
              </a:rPr>
              <a:t>Database
Provider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A88CC84-68C6-4877-A89B-74A28DCCFB89}"/>
              </a:ext>
            </a:extLst>
          </p:cNvPr>
          <p:cNvSpPr/>
          <p:nvPr/>
        </p:nvSpPr>
        <p:spPr>
          <a:xfrm>
            <a:off x="2159000" y="5359400"/>
            <a:ext cx="317500" cy="317500"/>
          </a:xfrm>
          <a:prstGeom prst="rightArrow">
            <a:avLst/>
          </a:prstGeom>
          <a:solidFill>
            <a:srgbClr val="00E5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30729DF-51BB-4DEA-90FB-D76DD44A4583}"/>
              </a:ext>
            </a:extLst>
          </p:cNvPr>
          <p:cNvSpPr/>
          <p:nvPr/>
        </p:nvSpPr>
        <p:spPr>
          <a:xfrm>
            <a:off x="4000500" y="5359400"/>
            <a:ext cx="317500" cy="317500"/>
          </a:xfrm>
          <a:prstGeom prst="rightArrow">
            <a:avLst/>
          </a:prstGeom>
          <a:solidFill>
            <a:srgbClr val="00E5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6409D59B-FF75-4016-9FD2-28502D741CE1}"/>
              </a:ext>
            </a:extLst>
          </p:cNvPr>
          <p:cNvSpPr/>
          <p:nvPr/>
        </p:nvSpPr>
        <p:spPr>
          <a:xfrm>
            <a:off x="5842000" y="5359400"/>
            <a:ext cx="317500" cy="317500"/>
          </a:xfrm>
          <a:prstGeom prst="rightArrow">
            <a:avLst/>
          </a:prstGeom>
          <a:solidFill>
            <a:srgbClr val="00E5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93319-7922-499E-85A1-3F783841D29F}"/>
              </a:ext>
            </a:extLst>
          </p:cNvPr>
          <p:cNvSpPr txBox="1"/>
          <p:nvPr/>
        </p:nvSpPr>
        <p:spPr>
          <a:xfrm>
            <a:off x="635000" y="6070600"/>
            <a:ext cx="7683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00" i="1">
                <a:solidFill>
                  <a:srgbClr val="A0C4D8"/>
                </a:solidFill>
              </a:rPr>
              <a:t>DI container creates a fresh DbContext for every request — disposed automatically</a:t>
            </a:r>
            <a:endParaRPr lang="en-IN" sz="1100" i="1">
              <a:solidFill>
                <a:srgbClr val="A0C4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1909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2240A0A-4A05-471A-A7BA-650183F763F4}"/>
              </a:ext>
            </a:extLst>
          </p:cNvPr>
          <p:cNvSpPr/>
          <p:nvPr/>
        </p:nvSpPr>
        <p:spPr>
          <a:xfrm>
            <a:off x="508000" y="381000"/>
            <a:ext cx="1651000" cy="4572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  <a:latin typeface="Segoe UI"/>
                <a:cs typeface="Segoe UI"/>
              </a:rPr>
              <a:t>🧪 LAB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34E66-8C7B-452D-9030-7F186E68D985}"/>
              </a:ext>
            </a:extLst>
          </p:cNvPr>
          <p:cNvSpPr txBox="1"/>
          <p:nvPr/>
        </p:nvSpPr>
        <p:spPr>
          <a:xfrm>
            <a:off x="2349500" y="381000"/>
            <a:ext cx="628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800" b="1">
                <a:solidFill>
                  <a:srgbClr val="00E5FF"/>
                </a:solidFill>
                <a:latin typeface="Segoe UI"/>
                <a:cs typeface="Segoe UI"/>
              </a:rPr>
              <a:t>Wire EF Into a Web API</a:t>
            </a:r>
            <a:endParaRPr lang="en-IN" sz="2800" b="1">
              <a:solidFill>
                <a:srgbClr val="00E5FF"/>
              </a:solidFill>
              <a:latin typeface="Segoe UI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B62BD-7AFF-4356-9F36-30C109EC56B4}"/>
              </a:ext>
            </a:extLst>
          </p:cNvPr>
          <p:cNvSpPr txBox="1"/>
          <p:nvPr/>
        </p:nvSpPr>
        <p:spPr>
          <a:xfrm>
            <a:off x="508000" y="1143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84356-0A67-48C3-8F4B-69DD100515FB}"/>
              </a:ext>
            </a:extLst>
          </p:cNvPr>
          <p:cNvSpPr txBox="1"/>
          <p:nvPr/>
        </p:nvSpPr>
        <p:spPr>
          <a:xfrm>
            <a:off x="508000" y="1397000"/>
            <a:ext cx="81280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E8F4F8"/>
                </a:solidFill>
                <a:latin typeface="Segoe UI"/>
                <a:cs typeface="Segoe UI"/>
              </a:rPr>
              <a:t>Add a DbContext to a minimal ASP.NET Core API using dependency injection. Verify the request-scoped lifetime.</a:t>
            </a:r>
            <a:endParaRPr lang="en-IN" sz="16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29EEC8-071A-457C-A6B6-E78D50BC4BFA}"/>
              </a:ext>
            </a:extLst>
          </p:cNvPr>
          <p:cNvSpPr txBox="1"/>
          <p:nvPr/>
        </p:nvSpPr>
        <p:spPr>
          <a:xfrm>
            <a:off x="508000" y="2286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YOUR TASKS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753D43-EB88-43B4-AEC7-D78B9B3A503C}"/>
              </a:ext>
            </a:extLst>
          </p:cNvPr>
          <p:cNvSpPr/>
          <p:nvPr/>
        </p:nvSpPr>
        <p:spPr>
          <a:xfrm>
            <a:off x="571500" y="26035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E2456-F8FD-46C7-AB43-2C68740F0FA1}"/>
              </a:ext>
            </a:extLst>
          </p:cNvPr>
          <p:cNvSpPr txBox="1"/>
          <p:nvPr/>
        </p:nvSpPr>
        <p:spPr>
          <a:xfrm>
            <a:off x="1079500" y="26035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>
                <a:solidFill>
                  <a:srgbClr val="E8F4F8"/>
                </a:solidFill>
                <a:latin typeface="Segoe UI"/>
                <a:cs typeface="Segoe UI"/>
              </a:rPr>
              <a:t>AddDbContext&lt;StoreContext&gt;(opt =&gt; opt.UseSqlServer(cfg.GetConnectionString("Db")))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8A75EC-08A4-4729-9925-95B8489877B7}"/>
              </a:ext>
            </a:extLst>
          </p:cNvPr>
          <p:cNvSpPr/>
          <p:nvPr/>
        </p:nvSpPr>
        <p:spPr>
          <a:xfrm>
            <a:off x="571500" y="31369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96946B-7CC4-4A69-A4D9-7E187CC565B6}"/>
              </a:ext>
            </a:extLst>
          </p:cNvPr>
          <p:cNvSpPr txBox="1"/>
          <p:nvPr/>
        </p:nvSpPr>
        <p:spPr>
          <a:xfrm>
            <a:off x="1079500" y="31369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Inject StoreContext into a /products endpoint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D09102-B146-4828-A132-7CEEC98F033E}"/>
              </a:ext>
            </a:extLst>
          </p:cNvPr>
          <p:cNvSpPr/>
          <p:nvPr/>
        </p:nvSpPr>
        <p:spPr>
          <a:xfrm>
            <a:off x="571500" y="36703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3F85A-4C7D-4E55-AE27-E50F74DC1B32}"/>
              </a:ext>
            </a:extLst>
          </p:cNvPr>
          <p:cNvSpPr txBox="1"/>
          <p:nvPr/>
        </p:nvSpPr>
        <p:spPr>
          <a:xfrm>
            <a:off x="1079500" y="36703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Add appsettings.json with the connection string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E45A2E-D5EC-445F-87D1-E554E5AEEBD4}"/>
              </a:ext>
            </a:extLst>
          </p:cNvPr>
          <p:cNvSpPr/>
          <p:nvPr/>
        </p:nvSpPr>
        <p:spPr>
          <a:xfrm>
            <a:off x="571500" y="42037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4DEF7-899E-4FA8-85DF-32288FF73F93}"/>
              </a:ext>
            </a:extLst>
          </p:cNvPr>
          <p:cNvSpPr txBox="1"/>
          <p:nvPr/>
        </p:nvSpPr>
        <p:spPr>
          <a:xfrm>
            <a:off x="1079500" y="42037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Hit the endpoint twice — verify a new context per request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AC1B17-FEB3-456E-8302-E8311654FA51}"/>
              </a:ext>
            </a:extLst>
          </p:cNvPr>
          <p:cNvSpPr/>
          <p:nvPr/>
        </p:nvSpPr>
        <p:spPr>
          <a:xfrm>
            <a:off x="508000" y="5842000"/>
            <a:ext cx="8128000" cy="736600"/>
          </a:xfrm>
          <a:prstGeom prst="roundRect">
            <a:avLst/>
          </a:prstGeom>
          <a:solidFill>
            <a:srgbClr val="1A3A52"/>
          </a:solidFill>
          <a:ln w="19050" cap="flat" cmpd="sng" algn="ctr">
            <a:solidFill>
              <a:srgbClr val="64FF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E8F4F8"/>
                </a:solidFill>
                <a:latin typeface="Segoe UI"/>
                <a:cs typeface="Segoe UI"/>
              </a:rPr>
              <a:t>💡 HINT  Log context.ContextId in the endpoint — it changes per request.</a:t>
            </a:r>
            <a:endParaRPr lang="en-IN" sz="1300">
              <a:solidFill>
                <a:srgbClr val="E8F4F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633753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Configure DbContext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64FFDA"/>
                </a:solidFill>
              </a:rPr>
              <a:t>Program.cs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var connStr = builder.Configuration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.GetConnectionString("Default");</a:t>
            </a:r>
          </a:p>
          <a:p>
            <a:pPr>
              <a:buNone/>
            </a:pPr>
            <a:endParaRPr lang="en-US" sz="800"/>
          </a:p>
          <a:p>
            <a:pPr>
              <a:buNone/>
            </a:pPr>
            <a:r>
              <a:rPr lang="en-US" sz="1400" dirty="0">
                <a:latin typeface="Consolas"/>
              </a:rPr>
              <a:t>builder.Services.AddDbContext&lt;AppDbContext&gt;(</a:t>
            </a:r>
          </a:p>
          <a:p>
            <a:pPr>
              <a:buNone/>
            </a:pPr>
            <a:r>
              <a:rPr lang="en-US" sz="1400" dirty="0">
                <a:latin typeface="Consolas"/>
              </a:rPr>
              <a:t>    options =&gt; options.UseSqlServer(connStr));</a:t>
            </a:r>
          </a:p>
          <a:p>
            <a:pPr>
              <a:buNone/>
            </a:pPr>
            <a:endParaRPr lang="en-US" sz="800"/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UseSqlServer / UseNpgsql / UseSqlite — pick your provider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/>
              <a:t>EnableSensitiveDataLogging() — only in Development</a:t>
            </a:r>
          </a:p>
        </p:txBody>
      </p:sp>
    </p:spTree>
    <p:extLst>
      <p:ext uri="{BB962C8B-B14F-4D97-AF65-F5344CB8AC3E}">
        <p14:creationId xmlns:p14="http://schemas.microsoft.com/office/powerpoint/2010/main" val="3124795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Create — context.Products.Add(item); await context.SaveChangesAsync();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Read — await context.Products.FindAsync(id) for primary key lookups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Update — modify a tracked entity, then call SaveChangesAsync()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Delete — context.Products.Remove(item); SaveChangesAsync();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SaveChanges() runs all pending changes in a single transaction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Always prefer Async variants in web apps for scalability</a:t>
            </a:r>
          </a:p>
        </p:txBody>
      </p:sp>
    </p:spTree>
    <p:extLst>
      <p:ext uri="{BB962C8B-B14F-4D97-AF65-F5344CB8AC3E}">
        <p14:creationId xmlns:p14="http://schemas.microsoft.com/office/powerpoint/2010/main" val="878917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79CB1F-59AE-4CB5-AC4A-501F3F43CFE7}"/>
              </a:ext>
            </a:extLst>
          </p:cNvPr>
          <p:cNvSpPr/>
          <p:nvPr/>
        </p:nvSpPr>
        <p:spPr>
          <a:xfrm>
            <a:off x="508000" y="381000"/>
            <a:ext cx="1651000" cy="4572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  <a:latin typeface="Segoe UI"/>
                <a:cs typeface="Segoe UI"/>
              </a:rPr>
              <a:t>🧪 LAB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7DBAEA-CD1C-474E-A83E-F9A1649AACB1}"/>
              </a:ext>
            </a:extLst>
          </p:cNvPr>
          <p:cNvSpPr txBox="1"/>
          <p:nvPr/>
        </p:nvSpPr>
        <p:spPr>
          <a:xfrm>
            <a:off x="2349500" y="381000"/>
            <a:ext cx="628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00E5FF"/>
                </a:solidFill>
                <a:latin typeface="Segoe UI"/>
                <a:cs typeface="Segoe UI"/>
              </a:rPr>
              <a:t>Build CRUD Endpoints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1D95E-2694-480B-8AFE-6AADBAF6A532}"/>
              </a:ext>
            </a:extLst>
          </p:cNvPr>
          <p:cNvSpPr txBox="1"/>
          <p:nvPr/>
        </p:nvSpPr>
        <p:spPr>
          <a:xfrm>
            <a:off x="508000" y="1143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CAA479-88F2-4945-86D3-05111933A9D9}"/>
              </a:ext>
            </a:extLst>
          </p:cNvPr>
          <p:cNvSpPr txBox="1"/>
          <p:nvPr/>
        </p:nvSpPr>
        <p:spPr>
          <a:xfrm>
            <a:off x="508000" y="1397000"/>
            <a:ext cx="81280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E8F4F8"/>
                </a:solidFill>
                <a:latin typeface="Segoe UI"/>
                <a:cs typeface="Segoe UI"/>
              </a:rPr>
              <a:t>Expose Create, Read, Update, Delete for Product through controllers or minimal APIs. Use async methods throughout.</a:t>
            </a:r>
            <a:endParaRPr lang="en-IN" sz="16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53F73-DEA1-4604-BB81-A9DE958F0318}"/>
              </a:ext>
            </a:extLst>
          </p:cNvPr>
          <p:cNvSpPr txBox="1"/>
          <p:nvPr/>
        </p:nvSpPr>
        <p:spPr>
          <a:xfrm>
            <a:off x="508000" y="2286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YOUR TASKS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050943-461D-4FEB-B473-1CCD08DC0671}"/>
              </a:ext>
            </a:extLst>
          </p:cNvPr>
          <p:cNvSpPr/>
          <p:nvPr/>
        </p:nvSpPr>
        <p:spPr>
          <a:xfrm>
            <a:off x="571500" y="26035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62A33-6919-4B6F-9834-77A1BAD4B4B1}"/>
              </a:ext>
            </a:extLst>
          </p:cNvPr>
          <p:cNvSpPr txBox="1"/>
          <p:nvPr/>
        </p:nvSpPr>
        <p:spPr>
          <a:xfrm>
            <a:off x="1079500" y="26035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>
                <a:solidFill>
                  <a:srgbClr val="E8F4F8"/>
                </a:solidFill>
                <a:latin typeface="Segoe UI"/>
                <a:cs typeface="Segoe UI"/>
              </a:rPr>
              <a:t>POST /products → ctx.Products.Add(p); await ctx.SaveChangesAsync();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3FBD421-622C-4CAA-88C0-7DBD507D3BC6}"/>
              </a:ext>
            </a:extLst>
          </p:cNvPr>
          <p:cNvSpPr/>
          <p:nvPr/>
        </p:nvSpPr>
        <p:spPr>
          <a:xfrm>
            <a:off x="571500" y="31369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4E68B0-2963-4C6D-B8BC-1F359B4557AB}"/>
              </a:ext>
            </a:extLst>
          </p:cNvPr>
          <p:cNvSpPr txBox="1"/>
          <p:nvPr/>
        </p:nvSpPr>
        <p:spPr>
          <a:xfrm>
            <a:off x="1079500" y="31369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>
                <a:solidFill>
                  <a:srgbClr val="E8F4F8"/>
                </a:solidFill>
                <a:latin typeface="Segoe UI"/>
                <a:cs typeface="Segoe UI"/>
              </a:rPr>
              <a:t>GET /products/{id} → ctx.Products.FindAsync(id)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E04B9E-DAEE-487B-9EC5-7D20C45A3B49}"/>
              </a:ext>
            </a:extLst>
          </p:cNvPr>
          <p:cNvSpPr/>
          <p:nvPr/>
        </p:nvSpPr>
        <p:spPr>
          <a:xfrm>
            <a:off x="571500" y="36703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DDB80C-310B-4573-BA31-9490106A1D93}"/>
              </a:ext>
            </a:extLst>
          </p:cNvPr>
          <p:cNvSpPr txBox="1"/>
          <p:nvPr/>
        </p:nvSpPr>
        <p:spPr>
          <a:xfrm>
            <a:off x="1079500" y="36703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PUT /products/{id} → fetch, update fields, save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39CA02-02DF-4095-86A7-DA32659BA55B}"/>
              </a:ext>
            </a:extLst>
          </p:cNvPr>
          <p:cNvSpPr/>
          <p:nvPr/>
        </p:nvSpPr>
        <p:spPr>
          <a:xfrm>
            <a:off x="571500" y="42037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C99BC0-6AC6-4885-B071-ABA806168269}"/>
              </a:ext>
            </a:extLst>
          </p:cNvPr>
          <p:cNvSpPr txBox="1"/>
          <p:nvPr/>
        </p:nvSpPr>
        <p:spPr>
          <a:xfrm>
            <a:off x="1079500" y="42037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>
                <a:solidFill>
                  <a:srgbClr val="E8F4F8"/>
                </a:solidFill>
                <a:latin typeface="Segoe UI"/>
                <a:cs typeface="Segoe UI"/>
              </a:rPr>
              <a:t>DELETE /products/{id} → Remove + save; handle 404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1B6E7B7-92D8-454A-BD65-88F05F672283}"/>
              </a:ext>
            </a:extLst>
          </p:cNvPr>
          <p:cNvSpPr/>
          <p:nvPr/>
        </p:nvSpPr>
        <p:spPr>
          <a:xfrm>
            <a:off x="508000" y="5842000"/>
            <a:ext cx="8128000" cy="736600"/>
          </a:xfrm>
          <a:prstGeom prst="roundRect">
            <a:avLst/>
          </a:prstGeom>
          <a:solidFill>
            <a:srgbClr val="1A3A52"/>
          </a:solidFill>
          <a:ln w="19050" cap="flat" cmpd="sng" algn="ctr">
            <a:solidFill>
              <a:srgbClr val="64FF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E8F4F8"/>
                </a:solidFill>
                <a:latin typeface="Segoe UI"/>
                <a:cs typeface="Segoe UI"/>
              </a:rPr>
              <a:t>💡 HINT  Return Results.NotFound() when FindAsync returns null.</a:t>
            </a:r>
            <a:endParaRPr lang="en-IN" sz="1300">
              <a:solidFill>
                <a:srgbClr val="E8F4F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00459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LINQ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LINQ queries are translated to SQL by the provider at execution time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Filtering: .Where(p =&gt; p.Price &gt; 100)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Projection: .Select(p =&gt; new { p.Name, p.Price })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Eager loading: .Include(o =&gt; o.Customer).ThenInclude(c =&gt; c.Address)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Aggregations: .Count(), .Sum(), .Average(), .GroupBy()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Use ToListAsync() / FirstOrDefaultAsync() — always async in web apps</a:t>
            </a:r>
          </a:p>
        </p:txBody>
      </p:sp>
    </p:spTree>
    <p:extLst>
      <p:ext uri="{BB962C8B-B14F-4D97-AF65-F5344CB8AC3E}">
        <p14:creationId xmlns:p14="http://schemas.microsoft.com/office/powerpoint/2010/main" val="378773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Migrations evolve the database schema in version-controlled code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dotnet ef migrations add InitialCreate — generate the migration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dotnet ef database update — apply pending migrations to the DB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dotnet ef migrations remove — undo the last unapplied migration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Each migration creates Up() and Down() methods — forward &amp; rollback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Never edit applied migrations — add a new one for further changes</a:t>
            </a:r>
          </a:p>
        </p:txBody>
      </p:sp>
    </p:spTree>
    <p:extLst>
      <p:ext uri="{BB962C8B-B14F-4D97-AF65-F5344CB8AC3E}">
        <p14:creationId xmlns:p14="http://schemas.microsoft.com/office/powerpoint/2010/main" val="540449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529826A-02ED-46C2-B4E6-1BFCBF4387FF}"/>
              </a:ext>
            </a:extLst>
          </p:cNvPr>
          <p:cNvSpPr/>
          <p:nvPr/>
        </p:nvSpPr>
        <p:spPr>
          <a:xfrm>
            <a:off x="508000" y="381000"/>
            <a:ext cx="1651000" cy="4572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  <a:latin typeface="Segoe UI"/>
                <a:cs typeface="Segoe UI"/>
              </a:rPr>
              <a:t>🧪 LAB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BB350-274B-450F-B72C-B74219FB76C8}"/>
              </a:ext>
            </a:extLst>
          </p:cNvPr>
          <p:cNvSpPr txBox="1"/>
          <p:nvPr/>
        </p:nvSpPr>
        <p:spPr>
          <a:xfrm>
            <a:off x="2349500" y="381000"/>
            <a:ext cx="628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00E5FF"/>
                </a:solidFill>
                <a:latin typeface="Segoe UI"/>
                <a:cs typeface="Segoe UI"/>
              </a:rPr>
              <a:t>Your First Migration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1071C4-5380-4896-84C2-10BB43220DD9}"/>
              </a:ext>
            </a:extLst>
          </p:cNvPr>
          <p:cNvSpPr txBox="1"/>
          <p:nvPr/>
        </p:nvSpPr>
        <p:spPr>
          <a:xfrm>
            <a:off x="508000" y="1143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7AF618-4CCE-4B4F-9A11-17504AEF9193}"/>
              </a:ext>
            </a:extLst>
          </p:cNvPr>
          <p:cNvSpPr txBox="1"/>
          <p:nvPr/>
        </p:nvSpPr>
        <p:spPr>
          <a:xfrm>
            <a:off x="508000" y="1397000"/>
            <a:ext cx="81280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E8F4F8"/>
                </a:solidFill>
                <a:latin typeface="Segoe UI"/>
                <a:cs typeface="Segoe UI"/>
              </a:rPr>
              <a:t>Create the initial migration, inspect the generated code, and apply it to a real database.</a:t>
            </a:r>
            <a:endParaRPr lang="en-IN" sz="16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234438-82A6-4091-940A-90A9CBB64AEA}"/>
              </a:ext>
            </a:extLst>
          </p:cNvPr>
          <p:cNvSpPr txBox="1"/>
          <p:nvPr/>
        </p:nvSpPr>
        <p:spPr>
          <a:xfrm>
            <a:off x="508000" y="2286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YOUR TASKS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7FE32-2B1E-43D2-9E0D-0205C89044F5}"/>
              </a:ext>
            </a:extLst>
          </p:cNvPr>
          <p:cNvSpPr/>
          <p:nvPr/>
        </p:nvSpPr>
        <p:spPr>
          <a:xfrm>
            <a:off x="571500" y="26035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15530C-0232-4D4B-93DE-AB8FEDB1E6B6}"/>
              </a:ext>
            </a:extLst>
          </p:cNvPr>
          <p:cNvSpPr txBox="1"/>
          <p:nvPr/>
        </p:nvSpPr>
        <p:spPr>
          <a:xfrm>
            <a:off x="1079500" y="26035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dotnet ef migrations add InitialCreate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36472A0-1547-493F-AB69-ED4663F66BB2}"/>
              </a:ext>
            </a:extLst>
          </p:cNvPr>
          <p:cNvSpPr/>
          <p:nvPr/>
        </p:nvSpPr>
        <p:spPr>
          <a:xfrm>
            <a:off x="571500" y="31369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3B0B31-CD1C-4D06-8EFA-56487825A309}"/>
              </a:ext>
            </a:extLst>
          </p:cNvPr>
          <p:cNvSpPr txBox="1"/>
          <p:nvPr/>
        </p:nvSpPr>
        <p:spPr>
          <a:xfrm>
            <a:off x="1079500" y="31369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Open Migrations/*_InitialCreate.cs — read Up() and Down()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FE2437-0FEE-4F07-9577-0DABCD854998}"/>
              </a:ext>
            </a:extLst>
          </p:cNvPr>
          <p:cNvSpPr/>
          <p:nvPr/>
        </p:nvSpPr>
        <p:spPr>
          <a:xfrm>
            <a:off x="571500" y="36703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42BA4D-2D2E-4284-A388-1F85FFDAA749}"/>
              </a:ext>
            </a:extLst>
          </p:cNvPr>
          <p:cNvSpPr txBox="1"/>
          <p:nvPr/>
        </p:nvSpPr>
        <p:spPr>
          <a:xfrm>
            <a:off x="1079500" y="36703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IN" sz="1500">
                <a:solidFill>
                  <a:srgbClr val="E8F4F8"/>
                </a:solidFill>
                <a:latin typeface="Segoe UI"/>
                <a:cs typeface="Segoe UI"/>
              </a:rPr>
              <a:t>dotnet ef database update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C4676E-4D85-4D1B-A254-411479C78411}"/>
              </a:ext>
            </a:extLst>
          </p:cNvPr>
          <p:cNvSpPr/>
          <p:nvPr/>
        </p:nvSpPr>
        <p:spPr>
          <a:xfrm>
            <a:off x="571500" y="42037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712FF-A0EF-42EF-BD9F-A3754F6B57E0}"/>
              </a:ext>
            </a:extLst>
          </p:cNvPr>
          <p:cNvSpPr txBox="1"/>
          <p:nvPr/>
        </p:nvSpPr>
        <p:spPr>
          <a:xfrm>
            <a:off x="1079500" y="42037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Add a Description column to Product and migrate again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81A8A85-C15A-4329-91AC-4ABFCA5894D8}"/>
              </a:ext>
            </a:extLst>
          </p:cNvPr>
          <p:cNvSpPr/>
          <p:nvPr/>
        </p:nvSpPr>
        <p:spPr>
          <a:xfrm>
            <a:off x="508000" y="5842000"/>
            <a:ext cx="8128000" cy="736600"/>
          </a:xfrm>
          <a:prstGeom prst="roundRect">
            <a:avLst/>
          </a:prstGeom>
          <a:solidFill>
            <a:srgbClr val="1A3A52"/>
          </a:solidFill>
          <a:ln w="19050" cap="flat" cmpd="sng" algn="ctr">
            <a:solidFill>
              <a:srgbClr val="64FF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E8F4F8"/>
                </a:solidFill>
                <a:latin typeface="Segoe UI"/>
                <a:cs typeface="Segoe UI"/>
              </a:rPr>
              <a:t>💡 HINT  Use dotnet ef migrations script to see the raw SQL EF will run.</a:t>
            </a:r>
            <a:endParaRPr lang="en-IN" sz="1300">
              <a:solidFill>
                <a:srgbClr val="E8F4F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142117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286000"/>
            <a:ext cx="7290055" cy="2540000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One-to-One — User ↔ Profile, shared primary key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One-to-Many — Customer → Orders, foreign key on the 'many' side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Many-to-Many — Student ↔ Course, EF Core 5+ auto-creates join table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Navigation properties express relationships in C# (e.g. order.Customer)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[ForeignKey] attribute or Fluent API to override conventions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Cascade delete: configure via OnDelete(DeleteBehavior.Cascade/Restrict)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DC8D9B-31D4-4A0A-902A-6C7AD1CBA125}"/>
              </a:ext>
            </a:extLst>
          </p:cNvPr>
          <p:cNvSpPr/>
          <p:nvPr/>
        </p:nvSpPr>
        <p:spPr>
          <a:xfrm>
            <a:off x="762000" y="5207000"/>
            <a:ext cx="1651000" cy="889000"/>
          </a:xfrm>
          <a:prstGeom prst="rect">
            <a:avLst/>
          </a:prstGeom>
          <a:solidFill>
            <a:srgbClr val="00E5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0A1929"/>
                </a:solidFill>
                <a:latin typeface="Segoe UI"/>
                <a:cs typeface="Segoe UI"/>
              </a:rPr>
              <a:t>Blog
Id,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A04AC-153B-4448-9AE6-2BC0499170CC}"/>
              </a:ext>
            </a:extLst>
          </p:cNvPr>
          <p:cNvSpPr/>
          <p:nvPr/>
        </p:nvSpPr>
        <p:spPr>
          <a:xfrm>
            <a:off x="3746500" y="5207000"/>
            <a:ext cx="1651000" cy="889000"/>
          </a:xfrm>
          <a:prstGeom prst="rect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Segoe UI"/>
                <a:cs typeface="Segoe UI"/>
              </a:rPr>
              <a:t>Post
Id, BlogId, Body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D02C9-78B8-4E66-8696-EF7A10679CB1}"/>
              </a:ext>
            </a:extLst>
          </p:cNvPr>
          <p:cNvSpPr/>
          <p:nvPr/>
        </p:nvSpPr>
        <p:spPr>
          <a:xfrm>
            <a:off x="6731000" y="5207000"/>
            <a:ext cx="1651000" cy="889000"/>
          </a:xfrm>
          <a:prstGeom prst="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200" b="1">
                <a:solidFill>
                  <a:srgbClr val="FFFFFF"/>
                </a:solidFill>
                <a:latin typeface="Segoe UI"/>
                <a:cs typeface="Segoe UI"/>
              </a:rPr>
              <a:t>Tag
Id,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62EEAB-DA3E-417E-B535-A7CCF8E27B8D}"/>
              </a:ext>
            </a:extLst>
          </p:cNvPr>
          <p:cNvSpPr txBox="1"/>
          <p:nvPr/>
        </p:nvSpPr>
        <p:spPr>
          <a:xfrm>
            <a:off x="2476500" y="5334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</a:rPr>
              <a:t>1 ── 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0BEB7-9D44-4262-8455-0480AAD68B73}"/>
              </a:ext>
            </a:extLst>
          </p:cNvPr>
          <p:cNvSpPr txBox="1"/>
          <p:nvPr/>
        </p:nvSpPr>
        <p:spPr>
          <a:xfrm>
            <a:off x="5461000" y="5334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</a:rPr>
              <a:t>* ── 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693DF-0579-485E-BAEF-4FCCD5B2CF55}"/>
              </a:ext>
            </a:extLst>
          </p:cNvPr>
          <p:cNvSpPr txBox="1"/>
          <p:nvPr/>
        </p:nvSpPr>
        <p:spPr>
          <a:xfrm>
            <a:off x="635000" y="6286500"/>
            <a:ext cx="76835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100" i="1">
                <a:solidFill>
                  <a:srgbClr val="A0C4D8"/>
                </a:solidFill>
              </a:rPr>
              <a:t>One-to-many: Blog has many Posts   •   Many-to-many: Post has many Tags</a:t>
            </a:r>
            <a:endParaRPr lang="en-IN" sz="1100" i="1">
              <a:solidFill>
                <a:srgbClr val="A0C4D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F65299-76CD-4CA2-9A4A-ACFC1FAAEE07}"/>
              </a:ext>
            </a:extLst>
          </p:cNvPr>
          <p:cNvSpPr/>
          <p:nvPr/>
        </p:nvSpPr>
        <p:spPr>
          <a:xfrm>
            <a:off x="2413000" y="5638800"/>
            <a:ext cx="1333500" cy="25400"/>
          </a:xfrm>
          <a:prstGeom prst="rect">
            <a:avLst/>
          </a:prstGeom>
          <a:solidFill>
            <a:srgbClr val="E8F4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E8C046-1404-4476-8295-335F7AEB22BD}"/>
              </a:ext>
            </a:extLst>
          </p:cNvPr>
          <p:cNvSpPr/>
          <p:nvPr/>
        </p:nvSpPr>
        <p:spPr>
          <a:xfrm>
            <a:off x="5397500" y="5638800"/>
            <a:ext cx="1333500" cy="25400"/>
          </a:xfrm>
          <a:prstGeom prst="rect">
            <a:avLst/>
          </a:prstGeom>
          <a:solidFill>
            <a:srgbClr val="E8F4F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8199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EF Core auto-tracks entities returned from queries (default behavior)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Entity states: Added, Modified, Deleted, Unchanged, Detached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SaveChanges() generates INSERT/UPDATE/DELETE only for changed entities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context.ChangeTracker.Entries() — inspect tracked entities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AsNoTracking() — skip tracking for read-only queries (faster)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Detach entity: context.Entry(entity).State = EntityState.Detached</a:t>
            </a:r>
          </a:p>
        </p:txBody>
      </p:sp>
    </p:spTree>
    <p:extLst>
      <p:ext uri="{BB962C8B-B14F-4D97-AF65-F5344CB8AC3E}">
        <p14:creationId xmlns:p14="http://schemas.microsoft.com/office/powerpoint/2010/main" val="24954814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F78CBF-DF5A-433C-8B21-7C9423087414}"/>
              </a:ext>
            </a:extLst>
          </p:cNvPr>
          <p:cNvSpPr/>
          <p:nvPr/>
        </p:nvSpPr>
        <p:spPr>
          <a:xfrm>
            <a:off x="508000" y="381000"/>
            <a:ext cx="1651000" cy="457200"/>
          </a:xfrm>
          <a:prstGeom prst="roundRect">
            <a:avLst/>
          </a:prstGeom>
          <a:solidFill>
            <a:srgbClr val="FF6E40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IN" sz="1600" b="1">
                <a:solidFill>
                  <a:srgbClr val="FFFFFF"/>
                </a:solidFill>
                <a:latin typeface="Segoe UI"/>
                <a:cs typeface="Segoe UI"/>
              </a:rPr>
              <a:t>🧪 LAB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8CA2CB-7E48-4DE0-9CCE-A4CE31B7DA96}"/>
              </a:ext>
            </a:extLst>
          </p:cNvPr>
          <p:cNvSpPr txBox="1"/>
          <p:nvPr/>
        </p:nvSpPr>
        <p:spPr>
          <a:xfrm>
            <a:off x="2349500" y="381000"/>
            <a:ext cx="62865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IN" sz="2800" b="1">
                <a:solidFill>
                  <a:srgbClr val="00E5FF"/>
                </a:solidFill>
                <a:latin typeface="Segoe UI"/>
                <a:cs typeface="Segoe UI"/>
              </a:rPr>
              <a:t>Diagnose Change Tracking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347156-2F20-4FD0-A093-D978CF56E92E}"/>
              </a:ext>
            </a:extLst>
          </p:cNvPr>
          <p:cNvSpPr txBox="1"/>
          <p:nvPr/>
        </p:nvSpPr>
        <p:spPr>
          <a:xfrm>
            <a:off x="508000" y="1143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90B56-D86A-4599-9327-A0A0BF52E974}"/>
              </a:ext>
            </a:extLst>
          </p:cNvPr>
          <p:cNvSpPr txBox="1"/>
          <p:nvPr/>
        </p:nvSpPr>
        <p:spPr>
          <a:xfrm>
            <a:off x="508000" y="1397000"/>
            <a:ext cx="8128000" cy="762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US" sz="1600">
                <a:solidFill>
                  <a:srgbClr val="E8F4F8"/>
                </a:solidFill>
                <a:latin typeface="Segoe UI"/>
                <a:cs typeface="Segoe UI"/>
              </a:rPr>
              <a:t>Compare tracked vs no-tracking queries and observe what SaveChanges actually persists.</a:t>
            </a:r>
            <a:endParaRPr lang="en-IN" sz="16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780FA-989A-419A-B1A6-B93DB53526D7}"/>
              </a:ext>
            </a:extLst>
          </p:cNvPr>
          <p:cNvSpPr txBox="1"/>
          <p:nvPr/>
        </p:nvSpPr>
        <p:spPr>
          <a:xfrm>
            <a:off x="508000" y="2286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spAutoFit/>
          </a:bodyPr>
          <a:lstStyle/>
          <a:p>
            <a:pPr algn="l"/>
            <a:r>
              <a:rPr lang="en-IN" sz="1100" b="1">
                <a:solidFill>
                  <a:srgbClr val="64FFDA"/>
                </a:solidFill>
                <a:latin typeface="Segoe UI"/>
                <a:cs typeface="Segoe UI"/>
              </a:rPr>
              <a:t>YOUR TASKS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E21080-3C32-4EBC-91B9-78B9405F3C48}"/>
              </a:ext>
            </a:extLst>
          </p:cNvPr>
          <p:cNvSpPr/>
          <p:nvPr/>
        </p:nvSpPr>
        <p:spPr>
          <a:xfrm>
            <a:off x="571500" y="26035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98C63C-99C7-4757-AD17-E0A9B65B04CA}"/>
              </a:ext>
            </a:extLst>
          </p:cNvPr>
          <p:cNvSpPr txBox="1"/>
          <p:nvPr/>
        </p:nvSpPr>
        <p:spPr>
          <a:xfrm>
            <a:off x="1079500" y="26035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Load a product with Find — inspect ChangeTracker.Entries()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C22AFF-3071-4F50-BC50-C6C504987EB8}"/>
              </a:ext>
            </a:extLst>
          </p:cNvPr>
          <p:cNvSpPr/>
          <p:nvPr/>
        </p:nvSpPr>
        <p:spPr>
          <a:xfrm>
            <a:off x="571500" y="31369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003451-6308-4B3B-8C93-AECF6FA5A0A5}"/>
              </a:ext>
            </a:extLst>
          </p:cNvPr>
          <p:cNvSpPr txBox="1"/>
          <p:nvPr/>
        </p:nvSpPr>
        <p:spPr>
          <a:xfrm>
            <a:off x="1079500" y="31369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Modify a property — note state changes Unchanged → Modified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52C0ED6-5BD5-4F09-9ABE-BA5164F69574}"/>
              </a:ext>
            </a:extLst>
          </p:cNvPr>
          <p:cNvSpPr/>
          <p:nvPr/>
        </p:nvSpPr>
        <p:spPr>
          <a:xfrm>
            <a:off x="571500" y="36703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26E4F1-0AD0-4F61-83E2-D7C4904A7AB4}"/>
              </a:ext>
            </a:extLst>
          </p:cNvPr>
          <p:cNvSpPr txBox="1"/>
          <p:nvPr/>
        </p:nvSpPr>
        <p:spPr>
          <a:xfrm>
            <a:off x="1079500" y="36703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Repeat with AsNoTracking() — verify nothing is tracked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EE81C4-FE2D-4E73-AC22-B9D17C4DE033}"/>
              </a:ext>
            </a:extLst>
          </p:cNvPr>
          <p:cNvSpPr/>
          <p:nvPr/>
        </p:nvSpPr>
        <p:spPr>
          <a:xfrm>
            <a:off x="571500" y="4203700"/>
            <a:ext cx="355600" cy="355600"/>
          </a:xfrm>
          <a:prstGeom prst="ellipse">
            <a:avLst/>
          </a:prstGeom>
          <a:solidFill>
            <a:srgbClr val="7C4DFF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IN" sz="14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1DAFB2-0573-48CA-9955-969DDDCBC414}"/>
              </a:ext>
            </a:extLst>
          </p:cNvPr>
          <p:cNvSpPr txBox="1"/>
          <p:nvPr/>
        </p:nvSpPr>
        <p:spPr>
          <a:xfrm>
            <a:off x="1079500" y="4203700"/>
            <a:ext cx="75565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E8F4F8"/>
                </a:solidFill>
                <a:latin typeface="Segoe UI"/>
                <a:cs typeface="Segoe UI"/>
              </a:rPr>
              <a:t>Call ChangeTracker.DebugView.LongView before SaveChanges</a:t>
            </a:r>
            <a:endParaRPr lang="en-IN" sz="1500">
              <a:solidFill>
                <a:srgbClr val="E8F4F8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91E83B-6F1F-4797-AB2B-0E6EEE492741}"/>
              </a:ext>
            </a:extLst>
          </p:cNvPr>
          <p:cNvSpPr/>
          <p:nvPr/>
        </p:nvSpPr>
        <p:spPr>
          <a:xfrm>
            <a:off x="508000" y="5842000"/>
            <a:ext cx="8128000" cy="736600"/>
          </a:xfrm>
          <a:prstGeom prst="roundRect">
            <a:avLst/>
          </a:prstGeom>
          <a:solidFill>
            <a:srgbClr val="1A3A52"/>
          </a:solidFill>
          <a:ln w="19050" cap="flat" cmpd="sng" algn="ctr">
            <a:solidFill>
              <a:srgbClr val="64FFD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>
                <a:solidFill>
                  <a:srgbClr val="E8F4F8"/>
                </a:solidFill>
                <a:latin typeface="Segoe UI"/>
                <a:cs typeface="Segoe UI"/>
              </a:rPr>
              <a:t>💡 HINT  Tracking adds overhead — prefer AsNoTracking for read-only list endpoints.</a:t>
            </a:r>
            <a:endParaRPr lang="en-IN" sz="1300">
              <a:solidFill>
                <a:srgbClr val="E8F4F8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31566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 Core Logging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EF Core integrates with the standard ILogger&lt;T&gt; infrastructure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Logs generated SQL, parameter values, change-tracker activity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Configure log levels in appsettings.json under 'Logging' section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EnableSensitiveDataLogging() — shows parameter values (Dev only!)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LogTo(Console.WriteLine) — quick logging for prototyping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Use to spot N+1 queries, missing indexes, accidental client evaluation</a:t>
            </a:r>
          </a:p>
        </p:txBody>
      </p:sp>
    </p:spTree>
    <p:extLst>
      <p:ext uri="{BB962C8B-B14F-4D97-AF65-F5344CB8AC3E}">
        <p14:creationId xmlns:p14="http://schemas.microsoft.com/office/powerpoint/2010/main" val="10047118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Always use Async methods — ToListAsync, SaveChangesAsync, etc.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AsNoTracking() for read-only queries — measurable performance win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Use .Select() projections — don't fetch columns you won't use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Avoid N+1 — use .Include() or explicit loading carefully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Paginate large result sets with .Skip() and .Take()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Keep DbContext scoped to a single unit of work — never a singleton</a:t>
            </a:r>
          </a:p>
        </p:txBody>
      </p:sp>
    </p:spTree>
    <p:extLst>
      <p:ext uri="{BB962C8B-B14F-4D97-AF65-F5344CB8AC3E}">
        <p14:creationId xmlns:p14="http://schemas.microsoft.com/office/powerpoint/2010/main" val="7554713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sz="1800" dirty="0"/>
              <a:t>EF Core is the modern, recommended ORM for .NET applications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DbContext + DbSet + Entity classes give you a typed data layer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Seamless integration with ASP.NET Core via dependency injection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Migrations let your schema evolve in source-controlled code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LINQ + Async + Change Tracking — productivity without sacrificing power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Next step: build a real CRUD API and explore advanced patterns</a:t>
            </a:r>
          </a:p>
        </p:txBody>
      </p:sp>
    </p:spTree>
    <p:extLst>
      <p:ext uri="{BB962C8B-B14F-4D97-AF65-F5344CB8AC3E}">
        <p14:creationId xmlns:p14="http://schemas.microsoft.com/office/powerpoint/2010/main" val="19559908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 [1779649332364]">
  <a:themeElements>
    <a:clrScheme name="Integral">
      <a:dk1>
        <a:srgbClr val="E8F4F8"/>
      </a:dk1>
      <a:lt1>
        <a:srgbClr val="0A1929"/>
      </a:lt1>
      <a:dk2>
        <a:srgbClr val="B8D4E3"/>
      </a:dk2>
      <a:lt2>
        <a:srgbClr val="13293D"/>
      </a:lt2>
      <a:accent1>
        <a:srgbClr val="00E5FF"/>
      </a:accent1>
      <a:accent2>
        <a:srgbClr val="00B8D4"/>
      </a:accent2>
      <a:accent3>
        <a:srgbClr val="64FFDA"/>
      </a:accent3>
      <a:accent4>
        <a:srgbClr val="7C4DFF"/>
      </a:accent4>
      <a:accent5>
        <a:srgbClr val="FF6E40"/>
      </a:accent5>
      <a:accent6>
        <a:srgbClr val="FFD740"/>
      </a:accent6>
      <a:hlink>
        <a:srgbClr val="6B9F25"/>
      </a:hlink>
      <a:folHlink>
        <a:srgbClr val="B26B02"/>
      </a:folHlink>
    </a:clrScheme>
    <a:fontScheme name="Integral">
      <a:majorFont>
        <a:latin typeface="Segoe UI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B1FDE86-0AEB-47E0-9369-21CCE65B403D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0e5abd2-84a7-46a9-b10c-72528034673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19</TotalTime>
  <Words>1692</Words>
  <Application>Microsoft Office PowerPoint</Application>
  <PresentationFormat>On-screen Show (4:3)</PresentationFormat>
  <Paragraphs>210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Consolas</vt:lpstr>
      <vt:lpstr>Courier New</vt:lpstr>
      <vt:lpstr>Segoe UI</vt:lpstr>
      <vt:lpstr>Tw Cen MT</vt:lpstr>
      <vt:lpstr>Wingdings 3</vt:lpstr>
      <vt:lpstr>Integral [1779649332364]</vt:lpstr>
      <vt:lpstr>What is Entity Framework Core?</vt:lpstr>
      <vt:lpstr>Why EF Core?</vt:lpstr>
      <vt:lpstr>EF Core Architecture</vt:lpstr>
      <vt:lpstr>Install EF Core</vt:lpstr>
      <vt:lpstr>DbContext</vt:lpstr>
      <vt:lpstr>Entity Class</vt:lpstr>
      <vt:lpstr>PowerPoint Presentation</vt:lpstr>
      <vt:lpstr>DbSet</vt:lpstr>
      <vt:lpstr>Integration with ASP.NET Core</vt:lpstr>
      <vt:lpstr>PowerPoint Presentation</vt:lpstr>
      <vt:lpstr>Configure DbContext</vt:lpstr>
      <vt:lpstr>CRUD Operations</vt:lpstr>
      <vt:lpstr>PowerPoint Presentation</vt:lpstr>
      <vt:lpstr>LINQ Queries</vt:lpstr>
      <vt:lpstr>Migrations</vt:lpstr>
      <vt:lpstr>PowerPoint Presentation</vt:lpstr>
      <vt:lpstr>Relationships</vt:lpstr>
      <vt:lpstr>Change Tracking</vt:lpstr>
      <vt:lpstr>PowerPoint Presentation</vt:lpstr>
      <vt:lpstr>EF Core Logging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5</cp:revision>
  <dcterms:created xsi:type="dcterms:W3CDTF">2013-01-27T09:14:16Z</dcterms:created>
  <dcterms:modified xsi:type="dcterms:W3CDTF">2026-05-24T19:18:17Z</dcterms:modified>
  <cp:category/>
</cp:coreProperties>
</file>